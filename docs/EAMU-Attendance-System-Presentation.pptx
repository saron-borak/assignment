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[0:00-0:25] Opening.
Good morning. My project is a Student Attendance Management System for East Asia Management University.
In one line: it records attendance at the moment a class happens, and makes each student's percentage visible while there is still time to act on it.
I'll spend about seven minutes on the problem and the design, three minutes demonstrating it live, and the rest on testing and what I learned.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[0:25-1:25] The problem. 60 seconds.
The university already records attendance on paper, and already enforces a 75% rule. So the problem isn't that attendance is unmeasured. It's that the measurement is useless by the time anyone sees it.
Four failures. First and most important: totals are added up at the end of term, so a student failing the requirement finds out when they're barred from the exam, not while they can still fix it.
Second, roll-call costs minutes out of every session, all semester.
Third, a sheet passed around a room is trivially signed by a friend, and a lost sheet loses the session outright.
Fourth, three parties hold three versions, with no way to reconcile them.
So the rule is real, but the data behind it is late and not trusted.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[1:25-2:05] Objectives. 40 seconds.
Everything here serves one rule, on the left: 75% attendance in every class, and falling below it can bar you from the exam.
From that, six objectives. Model the university properly. Separate the three roles. Make marking fast enough that a lecturer will actually use it. Remove roll-call altogether with self check-in - and make that resistant to cheating, which was the hardest part. Calculate continuously rather than at the end. And prove it works with tests.
All six were delivered. I'll come back to the two that were genuinely difficult: the check-in, and the arithmetic.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[2:05-2:45] The three portals. 40 seconds.
One application, three portals, and the separation is strict.
The administrator is the registry: academic structure, accounts, rosters, every report.
The lecturer sees only their own classes. They generate a term of sessions from the timetable in one action, mark the register, project the QR code, close the session.
The student sees only their own record - their percentage, a warning below 75%, and their history.
The line at the bottom matters. Access is checked twice. Middleware asks "is this the right kind of user for this area". A policy asks "is this the right individual for this record". Without the second check, one lecturer could edit another's register just by changing the number in the URL.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[2:45-3:20] Technology. 35 seconds.
Laravel 13 on PHP 8.5, with MariaDB through XAMPP. I leaned on the framework for the security primitives specifically - hashing, CSRF, parameter binding - because hand-rolling those is where student projects get vulnerabilities.
Two things on the right. There's no build step: Bootstrap loads from a CDN, so no Node, no npm, no compile. It runs anywhere after composer install and a migration.
And below it - this machine has neither PHP image extension, which rules out generating the QR as a PNG. So I chose a library that emits SVG in pure PHP, and vector is actually sharper on a projector. The constraint improved the result.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[3:20-4:05] Database design. 45 seconds.
Twelve tables in third normal form. The shape to notice: users, in navy, is the single authentication table. Students and lecturers are profile tables hanging off it. Administrators have no profile row, because they have no academic attributes.
Bottom left is the most important constraint in the schema: unique on session plus student. One outcome per student per session, enforced by the database rather than by application code. That's what makes check-in safe - scan twice and the second insert simply cannot happen.
Bottom right is a decision I'll defend: I don't cache the percentage anywhere. It would make reporting trivial, but it would drift the moment any write path forgot to update it. So it's always derived.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[4:05-4:50] Architecture. 45 seconds.
This is the design decision I'm most confident about.
Attendance can be written three ways: a lecturer marking a register, a student scanning a code, or a student typing one. Three entry points, one destination. All three go through a single service. No controller contains an attendance rule.
The reason is on the right. Three copies of the logic would eventually disagree - about what counts as late, or who may be marked - and you'd get contradictory records with no way to tell which is right.
And it wasn't theoretical. Mid-project the closing rule changed: closing a register should also retire the check-in code. One service meant one edit, and all three paths inherited it. With three copies I'd have missed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[4:50-5:35] The check-in flow. 45 seconds.
Here's the whole flow - I'll demonstrate it shortly.
The lecturer opens the session. The system issues two credentials: a long random token inside the QR code, and a six-character code a human can read. That gets projected. Students scan it with the phone camera - no app to install, it's just a URL.
Step four is where the real work is. Four conditions must all hold: the token is current, the session is open, the student is actually enrolled, and they haven't already checked in. Any one fails and it's refused with a message written for the student.
Step five decides present or late. Closing the register marks everyone else absent.
Note the typed-code fallback - that's how I'll demo this without passing my phone around.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[5:35-6:25] Anti-proxy. 50 seconds. Slow down here.
This is the part I found most interesting, because the obvious implementation is worse than useless.
Issue one QR code per session - what most tutorials show - and the first student in photographs it and sends it to the group chat. The whole class is marked present and the record looks legitimate. You haven't just failed to stop cheating; you've made it easier and given it an audit trail.
So the code has to expire. Tokens live sixty seconds, and the projected page replaces them every forty-five. The strip along the bottom shows it: only the gold one works now.
One trade-off, which I'll name rather than hide: a scan landing exactly on a rotation is rejected. Accepting the old token would weaken the guarantee permanently to save two seconds. So: scan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[6:25-7:10] The percentage rule. 45 seconds.
This is the calculation the whole system exists to produce.
Attended is present plus late, because a late student was still in the room. That's configurable if the university disagrees.
Countable is the interesting half: closed sessions minus excused absences.
Three decisions there. First, only closed sessions count - a session open right now, or scheduled for next week, is excluded. That's what lets a lecturer open a register without everyone briefly showing as absent.
Second, an excused absence leaves the denominator entirely. It's not a forgiven miss; it's a session that never counted.
Third, the 75% is configuration, not code.
And the edge case at the bottom: a class that hasn't met returns zero and is explicitly not at risk - otherwise everyone would look like they were failing on day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[7:10-7:45] Reporting performance. 35 seconds.
One more design point, then the demo.
The natural way to build this report is to loop the students and calculate each one. Thirty students, thirty queries. University-wide, hundreds. It grows with enrollment - so it works in a demo with five students and falls over with a real cohort.
Instead every report is a single grouped query using conditional sums. SQL produces all the counters in one pass; PHP only does the final division. Thirty students and three hundred cost the same.
And there's a test that counts the queries and fails if it's more than one. So this can't quietly regress - reintroduce a loop and the build breaks.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[7:45-10:45] LIVE DEMONSTRATION. Three minutes. Keep moving.
BEFORE YOU START - have all of this ready:
  - Server already running: php artisan serve
  - Two browsers (or one normal + one private window), so you can be lecturer and student at once
  - Browser 1 signed in as admin@eamu.edu / password
  - Browser 2 sitting on the login page
  - If the data has been clicked around: php artisan migrate:fresh --seed
RUNNING ORDER:
1. ADMIN (35s). Dashboard - 60 students, 10 sections, 91.1% overall. Then the at-risk report: seven students below 75%, worst first. Say: this is the number the paper system could not produce until it was too late.
2. LECTURER (40s). Sign in as c.nou@eamu.edu. Point out only two classes - the scoping is real. Open today's session. The projection screen appears: QR code, six-character code, countdown, zero of thirty checked in.
3. STUDENT (35s). Second browser, sign in as kosal.tep@student.eamu.edu. Note the green banner that detected the open session. Type the six-character code. Confirmation: checked in as present.
4. BACK TO LECTURER (35s). Refresh the projection - the counter has moved. Open the marking register: thirty students, and the one who checked in carries a "Code self check-in" badge.
5. CLOSE IT (20s). Twenty-nine marked absent automatically; the self check-in preserved as present.
6. ACCESS CONTROL (15s). As the student, paste an /admin URL. Access denied page.
IF THE DEMO FAILS: do not debug on stage. Say "I have screenshots of this in the report", move to the testing slide, and recover afterwards.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[10:45-11:25] Testing. 40 seconds.
Seventy-three tests, two hundred and forty-nine assertions, and the suite runs in under three seconds - which matters, because a slow suite is one you stop running.
The important choice is on the right: tests go through the actual routes, not straight to method calls. So one assertion exercises routing, middleware, the ownership policies, validation, the service layer and the schema together.
The other setting worth mentioning is lazy loading, which I have disabled in tests. If the code forgets to eager-load a relationship it throws instead of quietly firing an extra query per row - so an N+1 performance bug fails the build rather than shipping silently.
The report documents fifty test cases individually, each traced to a numbered requirement.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[11:25-12:20] Defects. 55 seconds. This slide earns credibility - don't rush it.
I want to show you three defects rather than claim there were none, because how I found them is the point. All three were silent. Not one raised an error.
First: calling select after withCount threw away the counting subquery, so several screens showed blank cells. The page returned 200, the layout was perfect, one number was missing. No test that checks the page loads could catch that.
Second: a 500 from an ambiguous column name once a join was added. That screen had no test. It does now - and so does every other screen.
Third is my favourite. A check-in at half ten for an eight o'clock class was recorded present, not late - the app ran in UTC while the timetable stores local time. My tests could not have found this: they build times relative to now, so they stay self-consistent in any timezone and pass regardless.
The lesson: all three were found by using the system, not testing it. You need both.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[12:20-12:55] Challenges. 35 seconds. Move briskly.
Four genuine challenges, and a pattern across them.
No image extension, which pushed me to SVG - and SVG beat the PNG I originally wanted.
The static QR problem, which drove the rotation design and forced me to be explicit about the trade-off rather than pretend there wasn't one.
A migration that failed on an index name being too long, which taught me to test against the real database rather than assume a schema that reads correctly will apply.
And three write paths, which produced the service layer.
The pattern is the point: in every case the constraint made the design better than the version I had in mind before I hit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[12:55-13:25] Future scope. 30 seconds - keep it short.
Briefly, what comes next, ordered by value against effort.
The left column is nearly free, because the hard part already exists. Notification is the clearest example: the system already knows exactly who is at risk. It just doesn't tell them yet. That's the highest-value thing I'd add, because it closes the loop on the original problem - the point was to act early, and right now someone still has to remember to read the report.
The middle column is real but well-defined work. The right column needs hardware or a much bigger scope.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[13:25-14:00] Close. 35 seconds, then stop talking.
To close where I started. The university had a real rule and no usable data to enforce it. The system fixes both halves - the percentage is current from the moment a register closes, and the record is much harder to falsify than a sheet of paper.
Three things I take away. Constraints improved the design rather than limiting it. One shared service beat three copies of the same rules. And the defects that mattered were silent, which is why I verified by using the system and not only by testing it.
Thank you - I'm happy to take questions.
--------------------------------------------------
LIKELY QUESTIONS AND SHORT ANSWERS
Q: Can a student still cheat by sending the live code to a friend?
A: Yes, within the 45-second window, and I wouldn't claim otherwise. That's exactly the gap location-verified check-in closes - requiring the request to come from the campus network. It's on the future scope slide for that reason.
Q: Why no framework starter kit for authentication?
A: I wanted every step explicit and defensible. I still used the framework for hashing, CSRF and parameter binding, because hand-rolling those is where vulnerabilities come from.
Q: What if the internet drops - Bootstrap is on a CDN?
A: The page still works, it just loses styling. The alternative was a build step, which I traded away deliberately so it runs anywhere without setup.
Q: Why derive the percentage instead of caching it?
A: A cached value drifts the moment any write path forgets to update it, and a wrong percentage here can bar a student from an exam. Deriving it costs one query, which I measured and test for.
Q: How would this scale to a whole university?
A: Reporting is already flat - one query regardless of roster size. The next bottleneck would be the kiosk polling, which I'd move to a push connection rather than a 45-second poll.
Q: What was the hardest part?
A: Realising the obvious QR implementation was worse than useless - it makes cheating easier and gives it an audit trail. Getting from there to rotating tokens, and being honest about the trade-off, was the most interesting problem in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233F"/>
        </a:solidFill>
      </p:bgPr>
    </p:bg>
    <p:spTree>
      <p:nvGrpSpPr>
        <p:cNvPr id="1" name=""/>
        <p:cNvGrpSpPr/>
        <p:nvPr/>
      </p:nvGrpSpPr>
      <p:grpSpPr>
        <a:xfrm>
          <a:off x="0" y="0"/>
          <a:ext cx="0" cy="0"/>
          <a:chOff x="0" y="0"/>
          <a:chExt cx="0" cy="0"/>
        </a:xfrm>
      </p:grpSpPr>
      <p:sp>
        <p:nvSpPr>
          <p:cNvPr id="2" name="Text 0"/>
          <p:cNvSpPr txBox="1"/>
          <p:nvPr/>
        </p:nvSpPr>
        <p:spPr>
          <a:xfrm>
            <a:off x="640080" y="1325880"/>
            <a:ext cx="10911535" cy="292608"/>
          </a:xfrm>
          <a:prstGeom prst="rect">
            <a:avLst/>
          </a:prstGeom>
          <a:noFill/>
          <a:ln/>
        </p:spPr>
        <p:txBody>
          <a:bodyPr wrap="square" lIns="0" tIns="0" rIns="0" bIns="0" rtlCol="0" anchor="ctr"/>
          <a:lstStyle/>
          <a:p>
            <a:pPr indent="0" marL="0">
              <a:buNone/>
            </a:pPr>
            <a:r>
              <a:rPr lang="en-US" sz="1300" b="1" spc="240" kern="0" dirty="0">
                <a:solidFill>
                  <a:srgbClr val="C9A227"/>
                </a:solidFill>
                <a:latin typeface="Calibri" pitchFamily="34" charset="0"/>
                <a:ea typeface="Calibri" pitchFamily="34" charset="-122"/>
                <a:cs typeface="Calibri" pitchFamily="34" charset="-120"/>
              </a:rPr>
              <a:t>EAST ASIA MANAGEMENT UNIVERSITY</a:t>
            </a:r>
            <a:endParaRPr lang="en-US" sz="1300" dirty="0"/>
          </a:p>
        </p:txBody>
      </p:sp>
      <p:sp>
        <p:nvSpPr>
          <p:cNvPr id="3" name="Text 1"/>
          <p:cNvSpPr txBox="1"/>
          <p:nvPr/>
        </p:nvSpPr>
        <p:spPr>
          <a:xfrm>
            <a:off x="640080" y="1755648"/>
            <a:ext cx="7680960" cy="786384"/>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Student Attendance</a:t>
            </a:r>
            <a:endParaRPr lang="en-US" sz="5000" dirty="0"/>
          </a:p>
        </p:txBody>
      </p:sp>
      <p:sp>
        <p:nvSpPr>
          <p:cNvPr id="4" name="Text 2"/>
          <p:cNvSpPr txBox="1"/>
          <p:nvPr/>
        </p:nvSpPr>
        <p:spPr>
          <a:xfrm>
            <a:off x="640080" y="2487168"/>
            <a:ext cx="7680960" cy="786384"/>
          </a:xfrm>
          <a:prstGeom prst="rect">
            <a:avLst/>
          </a:prstGeom>
          <a:noFill/>
          <a:ln/>
        </p:spPr>
        <p:txBody>
          <a:bodyPr wrap="square" lIns="0" tIns="0" rIns="0" bIns="0" rtlCol="0" anchor="ctr"/>
          <a:lstStyle/>
          <a:p>
            <a:pPr indent="0" marL="0">
              <a:buNone/>
            </a:pPr>
            <a:r>
              <a:rPr lang="en-US" sz="5000" b="1" dirty="0">
                <a:solidFill>
                  <a:srgbClr val="FFFFFF"/>
                </a:solidFill>
                <a:latin typeface="Cambria" pitchFamily="34" charset="0"/>
                <a:ea typeface="Cambria" pitchFamily="34" charset="-122"/>
                <a:cs typeface="Cambria" pitchFamily="34" charset="-120"/>
              </a:rPr>
              <a:t>Management System</a:t>
            </a:r>
            <a:endParaRPr lang="en-US" sz="5000" dirty="0"/>
          </a:p>
        </p:txBody>
      </p:sp>
      <p:sp>
        <p:nvSpPr>
          <p:cNvPr id="5" name="Text 3"/>
          <p:cNvSpPr txBox="1"/>
          <p:nvPr/>
        </p:nvSpPr>
        <p:spPr>
          <a:xfrm>
            <a:off x="640080" y="3419856"/>
            <a:ext cx="7223760" cy="603504"/>
          </a:xfrm>
          <a:prstGeom prst="rect">
            <a:avLst/>
          </a:prstGeom>
          <a:noFill/>
          <a:ln/>
        </p:spPr>
        <p:txBody>
          <a:bodyPr wrap="square" lIns="0" tIns="0" rIns="0" bIns="0" rtlCol="0" anchor="ctr"/>
          <a:lstStyle/>
          <a:p>
            <a:pPr indent="0" marL="0">
              <a:lnSpc>
                <a:spcPct val="115000"/>
              </a:lnSpc>
              <a:buNone/>
            </a:pPr>
            <a:r>
              <a:rPr lang="en-US" sz="1500" dirty="0">
                <a:solidFill>
                  <a:srgbClr val="B9C6DB"/>
                </a:solidFill>
                <a:latin typeface="Calibri" pitchFamily="34" charset="0"/>
                <a:ea typeface="Calibri" pitchFamily="34" charset="-122"/>
                <a:cs typeface="Calibri" pitchFamily="34" charset="-120"/>
              </a:rPr>
              <a:t>A web platform that records attendance as the class happens, and makes the percentage visible while it still matters.</a:t>
            </a:r>
            <a:endParaRPr lang="en-US" sz="1500" dirty="0"/>
          </a:p>
        </p:txBody>
      </p:sp>
      <p:sp>
        <p:nvSpPr>
          <p:cNvPr id="6" name="Shape 4"/>
          <p:cNvSpPr/>
          <p:nvPr/>
        </p:nvSpPr>
        <p:spPr>
          <a:xfrm>
            <a:off x="640080" y="4224528"/>
            <a:ext cx="155448" cy="155448"/>
          </a:xfrm>
          <a:prstGeom prst="ellipse">
            <a:avLst/>
          </a:prstGeom>
          <a:solidFill>
            <a:srgbClr val="2E7D52"/>
          </a:solidFill>
          <a:ln w="12700">
            <a:solidFill>
              <a:srgbClr val="12233F"/>
            </a:solidFill>
            <a:prstDash val="solid"/>
          </a:ln>
        </p:spPr>
      </p:sp>
      <p:sp>
        <p:nvSpPr>
          <p:cNvPr id="7" name="Shape 5"/>
          <p:cNvSpPr/>
          <p:nvPr/>
        </p:nvSpPr>
        <p:spPr>
          <a:xfrm>
            <a:off x="912114" y="4224528"/>
            <a:ext cx="155448" cy="155448"/>
          </a:xfrm>
          <a:prstGeom prst="ellipse">
            <a:avLst/>
          </a:prstGeom>
          <a:solidFill>
            <a:srgbClr val="C9820A"/>
          </a:solidFill>
          <a:ln w="12700">
            <a:solidFill>
              <a:srgbClr val="12233F"/>
            </a:solidFill>
            <a:prstDash val="solid"/>
          </a:ln>
        </p:spPr>
      </p:sp>
      <p:sp>
        <p:nvSpPr>
          <p:cNvPr id="8" name="Shape 6"/>
          <p:cNvSpPr/>
          <p:nvPr/>
        </p:nvSpPr>
        <p:spPr>
          <a:xfrm>
            <a:off x="1184148" y="4224528"/>
            <a:ext cx="155448" cy="155448"/>
          </a:xfrm>
          <a:prstGeom prst="ellipse">
            <a:avLst/>
          </a:prstGeom>
          <a:solidFill>
            <a:srgbClr val="C0392B"/>
          </a:solidFill>
          <a:ln w="12700">
            <a:solidFill>
              <a:srgbClr val="12233F"/>
            </a:solidFill>
            <a:prstDash val="solid"/>
          </a:ln>
        </p:spPr>
      </p:sp>
      <p:sp>
        <p:nvSpPr>
          <p:cNvPr id="9" name="Shape 7"/>
          <p:cNvSpPr/>
          <p:nvPr/>
        </p:nvSpPr>
        <p:spPr>
          <a:xfrm>
            <a:off x="1456182" y="4224528"/>
            <a:ext cx="155448" cy="155448"/>
          </a:xfrm>
          <a:prstGeom prst="ellipse">
            <a:avLst/>
          </a:prstGeom>
          <a:solidFill>
            <a:srgbClr val="8C96A5"/>
          </a:solidFill>
          <a:ln w="12700">
            <a:solidFill>
              <a:srgbClr val="12233F"/>
            </a:solidFill>
            <a:prstDash val="solid"/>
          </a:ln>
        </p:spPr>
      </p:sp>
      <p:sp>
        <p:nvSpPr>
          <p:cNvPr id="10" name="Text 8"/>
          <p:cNvSpPr txBox="1"/>
          <p:nvPr/>
        </p:nvSpPr>
        <p:spPr>
          <a:xfrm>
            <a:off x="1847088" y="4169664"/>
            <a:ext cx="4572000" cy="274320"/>
          </a:xfrm>
          <a:prstGeom prst="rect">
            <a:avLst/>
          </a:prstGeom>
          <a:noFill/>
          <a:ln/>
        </p:spPr>
        <p:txBody>
          <a:bodyPr wrap="square" lIns="0" tIns="0" rIns="0" bIns="0" rtlCol="0" anchor="ctr"/>
          <a:lstStyle/>
          <a:p>
            <a:pPr indent="0" marL="0">
              <a:buNone/>
            </a:pPr>
            <a:r>
              <a:rPr lang="en-US" sz="1100" dirty="0">
                <a:solidFill>
                  <a:srgbClr val="7D8DA8"/>
                </a:solidFill>
                <a:latin typeface="Calibri" pitchFamily="34" charset="0"/>
                <a:ea typeface="Calibri" pitchFamily="34" charset="-122"/>
                <a:cs typeface="Calibri" pitchFamily="34" charset="-120"/>
              </a:rPr>
              <a:t>Present   .   Late   .   Absent   .   Excused</a:t>
            </a:r>
            <a:endParaRPr lang="en-US" sz="1100" dirty="0"/>
          </a:p>
        </p:txBody>
      </p:sp>
      <p:sp>
        <p:nvSpPr>
          <p:cNvPr id="11" name="Text 9"/>
          <p:cNvSpPr txBox="1"/>
          <p:nvPr/>
        </p:nvSpPr>
        <p:spPr>
          <a:xfrm>
            <a:off x="640080" y="4919472"/>
            <a:ext cx="5486400" cy="1005840"/>
          </a:xfrm>
          <a:prstGeom prst="rect">
            <a:avLst/>
          </a:prstGeom>
          <a:noFill/>
          <a:ln/>
        </p:spPr>
        <p:txBody>
          <a:bodyPr wrap="square" lIns="0" tIns="0" rIns="0" bIns="0" rtlCol="0" anchor="ctr"/>
          <a:lstStyle/>
          <a:p>
            <a:pPr indent="0" marL="0">
              <a:lnSpc>
                <a:spcPct val="125000"/>
              </a:lnSpc>
              <a:buNone/>
            </a:pPr>
            <a:r>
              <a:rPr lang="en-US" sz="1250" b="1" dirty="0">
                <a:solidFill>
                  <a:srgbClr val="9DAAC2"/>
                </a:solidFill>
                <a:latin typeface="Calibri" pitchFamily="34" charset="0"/>
                <a:ea typeface="Calibri" pitchFamily="34" charset="-122"/>
                <a:cs typeface="Calibri" pitchFamily="34" charset="-120"/>
              </a:rPr>
              <a:t>Final Project Presentation</a:t>
            </a:r>
            <a:endParaRPr lang="en-US" sz="1250" dirty="0"/>
          </a:p>
          <a:p>
            <a:pPr indent="0" marL="0">
              <a:lnSpc>
                <a:spcPct val="125000"/>
              </a:lnSpc>
              <a:buNone/>
            </a:pPr>
            <a:r>
              <a:rPr lang="en-US" sz="1250" dirty="0">
                <a:solidFill>
                  <a:srgbClr val="9DAAC2"/>
                </a:solidFill>
                <a:latin typeface="Calibri" pitchFamily="34" charset="0"/>
                <a:ea typeface="Calibri" pitchFamily="34" charset="-122"/>
                <a:cs typeface="Calibri" pitchFamily="34" charset="-120"/>
              </a:rPr>
              <a:t>[ Your Name ]   .   [ Student ID ]</a:t>
            </a:r>
            <a:endParaRPr lang="en-US" sz="1250" dirty="0"/>
          </a:p>
          <a:p>
            <a:pPr indent="0" marL="0">
              <a:lnSpc>
                <a:spcPct val="125000"/>
              </a:lnSpc>
              <a:buNone/>
            </a:pPr>
            <a:r>
              <a:rPr lang="en-US" sz="1250" dirty="0">
                <a:solidFill>
                  <a:srgbClr val="9DAAC2"/>
                </a:solidFill>
                <a:latin typeface="Calibri" pitchFamily="34" charset="0"/>
                <a:ea typeface="Calibri" pitchFamily="34" charset="-122"/>
                <a:cs typeface="Calibri" pitchFamily="34" charset="-120"/>
              </a:rPr>
              <a:t>[ Course Code ]   .   [ Date ]</a:t>
            </a:r>
            <a:endParaRPr lang="en-US" sz="1250" dirty="0"/>
          </a:p>
        </p:txBody>
      </p:sp>
      <p:sp>
        <p:nvSpPr>
          <p:cNvPr id="12" name="Shape 10"/>
          <p:cNvSpPr/>
          <p:nvPr/>
        </p:nvSpPr>
        <p:spPr>
          <a:xfrm>
            <a:off x="8275320" y="1755648"/>
            <a:ext cx="3273552" cy="3310128"/>
          </a:xfrm>
          <a:prstGeom prst="roundRect">
            <a:avLst>
              <a:gd name="adj" fmla="val 1676"/>
            </a:avLst>
          </a:prstGeom>
          <a:solidFill>
            <a:srgbClr val="1B3157"/>
          </a:solidFill>
          <a:ln w="12700">
            <a:solidFill>
              <a:srgbClr val="2C4574"/>
            </a:solidFill>
            <a:prstDash val="solid"/>
          </a:ln>
        </p:spPr>
      </p:sp>
      <p:sp>
        <p:nvSpPr>
          <p:cNvPr id="13" name="Text 11"/>
          <p:cNvSpPr txBox="1"/>
          <p:nvPr/>
        </p:nvSpPr>
        <p:spPr>
          <a:xfrm>
            <a:off x="8567928" y="1993392"/>
            <a:ext cx="2688336" cy="237744"/>
          </a:xfrm>
          <a:prstGeom prst="rect">
            <a:avLst/>
          </a:prstGeom>
          <a:noFill/>
          <a:ln/>
        </p:spPr>
        <p:txBody>
          <a:bodyPr wrap="square" lIns="0" tIns="0" rIns="0" bIns="0" rtlCol="0" anchor="ctr"/>
          <a:lstStyle/>
          <a:p>
            <a:pPr indent="0" marL="0">
              <a:buNone/>
            </a:pPr>
            <a:r>
              <a:rPr lang="en-US" sz="950" b="1" spc="160" kern="0" dirty="0">
                <a:solidFill>
                  <a:srgbClr val="C9A227"/>
                </a:solidFill>
                <a:latin typeface="Calibri" pitchFamily="34" charset="0"/>
                <a:ea typeface="Calibri" pitchFamily="34" charset="-122"/>
                <a:cs typeface="Calibri" pitchFamily="34" charset="-120"/>
              </a:rPr>
              <a:t>THE SYSTEM TODAY</a:t>
            </a:r>
            <a:endParaRPr lang="en-US" sz="950" dirty="0"/>
          </a:p>
        </p:txBody>
      </p:sp>
      <p:sp>
        <p:nvSpPr>
          <p:cNvPr id="14" name="Text 12"/>
          <p:cNvSpPr txBox="1"/>
          <p:nvPr/>
        </p:nvSpPr>
        <p:spPr>
          <a:xfrm>
            <a:off x="8567928" y="2359152"/>
            <a:ext cx="11430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92</a:t>
            </a:r>
            <a:endParaRPr lang="en-US" sz="2400" dirty="0"/>
          </a:p>
        </p:txBody>
      </p:sp>
      <p:sp>
        <p:nvSpPr>
          <p:cNvPr id="15" name="Text 13"/>
          <p:cNvSpPr txBox="1"/>
          <p:nvPr/>
        </p:nvSpPr>
        <p:spPr>
          <a:xfrm>
            <a:off x="9756648" y="2450592"/>
            <a:ext cx="1499616" cy="365760"/>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routes</a:t>
            </a:r>
            <a:endParaRPr lang="en-US" sz="1100" dirty="0"/>
          </a:p>
        </p:txBody>
      </p:sp>
      <p:sp>
        <p:nvSpPr>
          <p:cNvPr id="16" name="Text 14"/>
          <p:cNvSpPr txBox="1"/>
          <p:nvPr/>
        </p:nvSpPr>
        <p:spPr>
          <a:xfrm>
            <a:off x="8567928" y="3008376"/>
            <a:ext cx="11430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14</a:t>
            </a:r>
            <a:endParaRPr lang="en-US" sz="2400" dirty="0"/>
          </a:p>
        </p:txBody>
      </p:sp>
      <p:sp>
        <p:nvSpPr>
          <p:cNvPr id="17" name="Text 15"/>
          <p:cNvSpPr txBox="1"/>
          <p:nvPr/>
        </p:nvSpPr>
        <p:spPr>
          <a:xfrm>
            <a:off x="9756648" y="3099816"/>
            <a:ext cx="1499616" cy="365760"/>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database tables</a:t>
            </a:r>
            <a:endParaRPr lang="en-US" sz="1100" dirty="0"/>
          </a:p>
        </p:txBody>
      </p:sp>
      <p:sp>
        <p:nvSpPr>
          <p:cNvPr id="18" name="Text 16"/>
          <p:cNvSpPr txBox="1"/>
          <p:nvPr/>
        </p:nvSpPr>
        <p:spPr>
          <a:xfrm>
            <a:off x="8567928" y="3657600"/>
            <a:ext cx="11430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73</a:t>
            </a:r>
            <a:endParaRPr lang="en-US" sz="2400" dirty="0"/>
          </a:p>
        </p:txBody>
      </p:sp>
      <p:sp>
        <p:nvSpPr>
          <p:cNvPr id="19" name="Text 17"/>
          <p:cNvSpPr txBox="1"/>
          <p:nvPr/>
        </p:nvSpPr>
        <p:spPr>
          <a:xfrm>
            <a:off x="9756648" y="3749040"/>
            <a:ext cx="1499616" cy="365760"/>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automated tests</a:t>
            </a:r>
            <a:endParaRPr lang="en-US" sz="1100" dirty="0"/>
          </a:p>
        </p:txBody>
      </p:sp>
      <p:sp>
        <p:nvSpPr>
          <p:cNvPr id="20" name="Text 18"/>
          <p:cNvSpPr txBox="1"/>
          <p:nvPr/>
        </p:nvSpPr>
        <p:spPr>
          <a:xfrm>
            <a:off x="8567928" y="4306824"/>
            <a:ext cx="1143000" cy="384048"/>
          </a:xfrm>
          <a:prstGeom prst="rect">
            <a:avLst/>
          </a:prstGeom>
          <a:noFill/>
          <a:ln/>
        </p:spPr>
        <p:txBody>
          <a:bodyPr wrap="square" lIns="0" tIns="0" rIns="0" bIns="0" rtlCol="0" anchor="ctr"/>
          <a:lstStyle/>
          <a:p>
            <a:pPr indent="0" marL="0">
              <a:buNone/>
            </a:pPr>
            <a:r>
              <a:rPr lang="en-US" sz="2400" b="1" dirty="0">
                <a:solidFill>
                  <a:srgbClr val="FFFFFF"/>
                </a:solidFill>
                <a:latin typeface="Cambria" pitchFamily="34" charset="0"/>
                <a:ea typeface="Cambria" pitchFamily="34" charset="-122"/>
                <a:cs typeface="Cambria" pitchFamily="34" charset="-120"/>
              </a:rPr>
              <a:t>6,145</a:t>
            </a:r>
            <a:endParaRPr lang="en-US" sz="2400" dirty="0"/>
          </a:p>
        </p:txBody>
      </p:sp>
      <p:sp>
        <p:nvSpPr>
          <p:cNvPr id="21" name="Text 19"/>
          <p:cNvSpPr txBox="1"/>
          <p:nvPr/>
        </p:nvSpPr>
        <p:spPr>
          <a:xfrm>
            <a:off x="9756648" y="4398264"/>
            <a:ext cx="1499616" cy="365760"/>
          </a:xfrm>
          <a:prstGeom prst="rect">
            <a:avLst/>
          </a:prstGeom>
          <a:noFill/>
          <a:ln/>
        </p:spPr>
        <p:txBody>
          <a:bodyPr wrap="square" lIns="0" tIns="0" rIns="0" bIns="0" rtlCol="0" anchor="ctr"/>
          <a:lstStyle/>
          <a:p>
            <a:pPr indent="0" marL="0">
              <a:buNone/>
            </a:pPr>
            <a:r>
              <a:rPr lang="en-US" sz="1100" dirty="0">
                <a:solidFill>
                  <a:srgbClr val="9DAAC2"/>
                </a:solidFill>
                <a:latin typeface="Calibri" pitchFamily="34" charset="0"/>
                <a:ea typeface="Calibri" pitchFamily="34" charset="-122"/>
                <a:cs typeface="Calibri" pitchFamily="34" charset="-120"/>
              </a:rPr>
              <a:t>attendance records seeded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2</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The problem with a paper register</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Four failures, all consequences of one thing: the data is captured on paper and totalled far too late.</a:t>
            </a:r>
            <a:endParaRPr lang="en-US" sz="1400" dirty="0"/>
          </a:p>
        </p:txBody>
      </p:sp>
      <p:sp>
        <p:nvSpPr>
          <p:cNvPr id="5" name="Shape 3"/>
          <p:cNvSpPr/>
          <p:nvPr/>
        </p:nvSpPr>
        <p:spPr>
          <a:xfrm>
            <a:off x="640080" y="1645920"/>
            <a:ext cx="5272888" cy="1828800"/>
          </a:xfrm>
          <a:prstGeom prst="roundRect">
            <a:avLst>
              <a:gd name="adj" fmla="val 2500"/>
            </a:avLst>
          </a:prstGeom>
          <a:solidFill>
            <a:srgbClr val="F4F6FA"/>
          </a:solidFill>
          <a:ln w="12700">
            <a:solidFill>
              <a:srgbClr val="D8DEE8"/>
            </a:solidFill>
            <a:prstDash val="solid"/>
          </a:ln>
        </p:spPr>
      </p:sp>
      <p:sp>
        <p:nvSpPr>
          <p:cNvPr id="6" name="Shape 4"/>
          <p:cNvSpPr/>
          <p:nvPr/>
        </p:nvSpPr>
        <p:spPr>
          <a:xfrm>
            <a:off x="896112" y="1865376"/>
            <a:ext cx="384048" cy="384048"/>
          </a:xfrm>
          <a:prstGeom prst="ellipse">
            <a:avLst/>
          </a:prstGeom>
          <a:solidFill>
            <a:srgbClr val="C0392B"/>
          </a:solidFill>
          <a:ln/>
        </p:spPr>
      </p:sp>
      <p:sp>
        <p:nvSpPr>
          <p:cNvPr id="7" name="Text 5"/>
          <p:cNvSpPr txBox="1"/>
          <p:nvPr/>
        </p:nvSpPr>
        <p:spPr>
          <a:xfrm>
            <a:off x="896112" y="190652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1426464" y="1920240"/>
            <a:ext cx="4230472" cy="310896"/>
          </a:xfrm>
          <a:prstGeom prst="rect">
            <a:avLst/>
          </a:prstGeom>
          <a:noFill/>
          <a:ln/>
        </p:spPr>
        <p:txBody>
          <a:bodyPr wrap="square" lIns="0" tIns="0" rIns="0" bIns="0" rtlCol="0" anchor="ctr"/>
          <a:lstStyle/>
          <a:p>
            <a:pPr indent="0" marL="0">
              <a:buNone/>
            </a:pPr>
            <a:r>
              <a:rPr lang="en-US" sz="1650" b="1" dirty="0">
                <a:solidFill>
                  <a:srgbClr val="12233F"/>
                </a:solidFill>
                <a:latin typeface="Cambria" pitchFamily="34" charset="0"/>
                <a:ea typeface="Cambria" pitchFamily="34" charset="-122"/>
                <a:cs typeface="Cambria" pitchFamily="34" charset="-120"/>
              </a:rPr>
              <a:t>Percentages arrive too late</a:t>
            </a:r>
            <a:endParaRPr lang="en-US" sz="1650" dirty="0"/>
          </a:p>
        </p:txBody>
      </p:sp>
      <p:sp>
        <p:nvSpPr>
          <p:cNvPr id="9" name="Text 7"/>
          <p:cNvSpPr txBox="1"/>
          <p:nvPr/>
        </p:nvSpPr>
        <p:spPr>
          <a:xfrm>
            <a:off x="896112" y="2432304"/>
            <a:ext cx="4760824" cy="859536"/>
          </a:xfrm>
          <a:prstGeom prst="rect">
            <a:avLst/>
          </a:prstGeom>
          <a:noFill/>
          <a:ln/>
        </p:spPr>
        <p:txBody>
          <a:bodyPr wrap="square" lIns="0" tIns="0" rIns="0" bIns="0" rtlCol="0" anchor="t"/>
          <a:lstStyle/>
          <a:p>
            <a:pPr indent="0" marL="0">
              <a:lnSpc>
                <a:spcPct val="110000"/>
              </a:lnSpc>
              <a:buNone/>
            </a:pPr>
            <a:r>
              <a:rPr lang="en-US" sz="1250" dirty="0">
                <a:solidFill>
                  <a:srgbClr val="1A2333"/>
                </a:solidFill>
                <a:latin typeface="Calibri" pitchFamily="34" charset="0"/>
                <a:ea typeface="Calibri" pitchFamily="34" charset="-122"/>
                <a:cs typeface="Calibri" pitchFamily="34" charset="-120"/>
              </a:rPr>
              <a:t>Totals are added up at the end of the semester. Nobody discovers a student has crossed the line until the moment it is enforced.</a:t>
            </a:r>
            <a:endParaRPr lang="en-US" sz="1250" dirty="0"/>
          </a:p>
        </p:txBody>
      </p:sp>
      <p:sp>
        <p:nvSpPr>
          <p:cNvPr id="10" name="Shape 8"/>
          <p:cNvSpPr/>
          <p:nvPr/>
        </p:nvSpPr>
        <p:spPr>
          <a:xfrm>
            <a:off x="6278728" y="1645920"/>
            <a:ext cx="5272888" cy="1828800"/>
          </a:xfrm>
          <a:prstGeom prst="roundRect">
            <a:avLst>
              <a:gd name="adj" fmla="val 2500"/>
            </a:avLst>
          </a:prstGeom>
          <a:solidFill>
            <a:srgbClr val="F4F6FA"/>
          </a:solidFill>
          <a:ln w="12700">
            <a:solidFill>
              <a:srgbClr val="D8DEE8"/>
            </a:solidFill>
            <a:prstDash val="solid"/>
          </a:ln>
        </p:spPr>
      </p:sp>
      <p:sp>
        <p:nvSpPr>
          <p:cNvPr id="11" name="Shape 9"/>
          <p:cNvSpPr/>
          <p:nvPr/>
        </p:nvSpPr>
        <p:spPr>
          <a:xfrm>
            <a:off x="6534760" y="1865376"/>
            <a:ext cx="384048" cy="384048"/>
          </a:xfrm>
          <a:prstGeom prst="ellipse">
            <a:avLst/>
          </a:prstGeom>
          <a:solidFill>
            <a:srgbClr val="C9820A"/>
          </a:solidFill>
          <a:ln/>
        </p:spPr>
      </p:sp>
      <p:sp>
        <p:nvSpPr>
          <p:cNvPr id="12" name="Text 10"/>
          <p:cNvSpPr txBox="1"/>
          <p:nvPr/>
        </p:nvSpPr>
        <p:spPr>
          <a:xfrm>
            <a:off x="6534760" y="190652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7065112" y="1920240"/>
            <a:ext cx="4230472" cy="310896"/>
          </a:xfrm>
          <a:prstGeom prst="rect">
            <a:avLst/>
          </a:prstGeom>
          <a:noFill/>
          <a:ln/>
        </p:spPr>
        <p:txBody>
          <a:bodyPr wrap="square" lIns="0" tIns="0" rIns="0" bIns="0" rtlCol="0" anchor="ctr"/>
          <a:lstStyle/>
          <a:p>
            <a:pPr indent="0" marL="0">
              <a:buNone/>
            </a:pPr>
            <a:r>
              <a:rPr lang="en-US" sz="1650" b="1" dirty="0">
                <a:solidFill>
                  <a:srgbClr val="12233F"/>
                </a:solidFill>
                <a:latin typeface="Cambria" pitchFamily="34" charset="0"/>
                <a:ea typeface="Cambria" pitchFamily="34" charset="-122"/>
                <a:cs typeface="Cambria" pitchFamily="34" charset="-120"/>
              </a:rPr>
              <a:t>Roll-call costs teaching time</a:t>
            </a:r>
            <a:endParaRPr lang="en-US" sz="1650" dirty="0"/>
          </a:p>
        </p:txBody>
      </p:sp>
      <p:sp>
        <p:nvSpPr>
          <p:cNvPr id="14" name="Text 12"/>
          <p:cNvSpPr txBox="1"/>
          <p:nvPr/>
        </p:nvSpPr>
        <p:spPr>
          <a:xfrm>
            <a:off x="6534760" y="2432304"/>
            <a:ext cx="4760824" cy="859536"/>
          </a:xfrm>
          <a:prstGeom prst="rect">
            <a:avLst/>
          </a:prstGeom>
          <a:noFill/>
          <a:ln/>
        </p:spPr>
        <p:txBody>
          <a:bodyPr wrap="square" lIns="0" tIns="0" rIns="0" bIns="0" rtlCol="0" anchor="t"/>
          <a:lstStyle/>
          <a:p>
            <a:pPr indent="0" marL="0">
              <a:lnSpc>
                <a:spcPct val="110000"/>
              </a:lnSpc>
              <a:buNone/>
            </a:pPr>
            <a:r>
              <a:rPr lang="en-US" sz="1250" dirty="0">
                <a:solidFill>
                  <a:srgbClr val="1A2333"/>
                </a:solidFill>
                <a:latin typeface="Calibri" pitchFamily="34" charset="0"/>
                <a:ea typeface="Calibri" pitchFamily="34" charset="-122"/>
                <a:cs typeface="Calibri" pitchFamily="34" charset="-120"/>
              </a:rPr>
              <a:t>Calling thirty names takes several minutes out of every single session, across every class, all term.</a:t>
            </a:r>
            <a:endParaRPr lang="en-US" sz="1250" dirty="0"/>
          </a:p>
        </p:txBody>
      </p:sp>
      <p:sp>
        <p:nvSpPr>
          <p:cNvPr id="15" name="Shape 13"/>
          <p:cNvSpPr/>
          <p:nvPr/>
        </p:nvSpPr>
        <p:spPr>
          <a:xfrm>
            <a:off x="640080" y="3749040"/>
            <a:ext cx="5272888" cy="1828800"/>
          </a:xfrm>
          <a:prstGeom prst="roundRect">
            <a:avLst>
              <a:gd name="adj" fmla="val 2500"/>
            </a:avLst>
          </a:prstGeom>
          <a:solidFill>
            <a:srgbClr val="F4F6FA"/>
          </a:solidFill>
          <a:ln w="12700">
            <a:solidFill>
              <a:srgbClr val="D8DEE8"/>
            </a:solidFill>
            <a:prstDash val="solid"/>
          </a:ln>
        </p:spPr>
      </p:sp>
      <p:sp>
        <p:nvSpPr>
          <p:cNvPr id="16" name="Shape 14"/>
          <p:cNvSpPr/>
          <p:nvPr/>
        </p:nvSpPr>
        <p:spPr>
          <a:xfrm>
            <a:off x="896112" y="3968496"/>
            <a:ext cx="384048" cy="384048"/>
          </a:xfrm>
          <a:prstGeom prst="ellipse">
            <a:avLst/>
          </a:prstGeom>
          <a:solidFill>
            <a:srgbClr val="C0392B"/>
          </a:solidFill>
          <a:ln/>
        </p:spPr>
      </p:sp>
      <p:sp>
        <p:nvSpPr>
          <p:cNvPr id="17" name="Text 15"/>
          <p:cNvSpPr txBox="1"/>
          <p:nvPr/>
        </p:nvSpPr>
        <p:spPr>
          <a:xfrm>
            <a:off x="896112" y="400964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1426464" y="4023360"/>
            <a:ext cx="4230472" cy="310896"/>
          </a:xfrm>
          <a:prstGeom prst="rect">
            <a:avLst/>
          </a:prstGeom>
          <a:noFill/>
          <a:ln/>
        </p:spPr>
        <p:txBody>
          <a:bodyPr wrap="square" lIns="0" tIns="0" rIns="0" bIns="0" rtlCol="0" anchor="ctr"/>
          <a:lstStyle/>
          <a:p>
            <a:pPr indent="0" marL="0">
              <a:buNone/>
            </a:pPr>
            <a:r>
              <a:rPr lang="en-US" sz="1650" b="1" dirty="0">
                <a:solidFill>
                  <a:srgbClr val="12233F"/>
                </a:solidFill>
                <a:latin typeface="Cambria" pitchFamily="34" charset="0"/>
                <a:ea typeface="Cambria" pitchFamily="34" charset="-122"/>
                <a:cs typeface="Cambria" pitchFamily="34" charset="-120"/>
              </a:rPr>
              <a:t>Sheets are lost and signed for</a:t>
            </a:r>
            <a:endParaRPr lang="en-US" sz="1650" dirty="0"/>
          </a:p>
        </p:txBody>
      </p:sp>
      <p:sp>
        <p:nvSpPr>
          <p:cNvPr id="19" name="Text 17"/>
          <p:cNvSpPr txBox="1"/>
          <p:nvPr/>
        </p:nvSpPr>
        <p:spPr>
          <a:xfrm>
            <a:off x="896112" y="4535424"/>
            <a:ext cx="4760824" cy="859536"/>
          </a:xfrm>
          <a:prstGeom prst="rect">
            <a:avLst/>
          </a:prstGeom>
          <a:noFill/>
          <a:ln/>
        </p:spPr>
        <p:txBody>
          <a:bodyPr wrap="square" lIns="0" tIns="0" rIns="0" bIns="0" rtlCol="0" anchor="t"/>
          <a:lstStyle/>
          <a:p>
            <a:pPr indent="0" marL="0">
              <a:lnSpc>
                <a:spcPct val="110000"/>
              </a:lnSpc>
              <a:buNone/>
            </a:pPr>
            <a:r>
              <a:rPr lang="en-US" sz="1250" dirty="0">
                <a:solidFill>
                  <a:srgbClr val="1A2333"/>
                </a:solidFill>
                <a:latin typeface="Calibri" pitchFamily="34" charset="0"/>
                <a:ea typeface="Calibri" pitchFamily="34" charset="-122"/>
                <a:cs typeface="Calibri" pitchFamily="34" charset="-120"/>
              </a:rPr>
              <a:t>A sheet passed around the room can be signed by a friend. A mislaid sheet destroys the record entirely.</a:t>
            </a:r>
            <a:endParaRPr lang="en-US" sz="1250" dirty="0"/>
          </a:p>
        </p:txBody>
      </p:sp>
      <p:sp>
        <p:nvSpPr>
          <p:cNvPr id="20" name="Shape 18"/>
          <p:cNvSpPr/>
          <p:nvPr/>
        </p:nvSpPr>
        <p:spPr>
          <a:xfrm>
            <a:off x="6278728" y="3749040"/>
            <a:ext cx="5272888" cy="1828800"/>
          </a:xfrm>
          <a:prstGeom prst="roundRect">
            <a:avLst>
              <a:gd name="adj" fmla="val 2500"/>
            </a:avLst>
          </a:prstGeom>
          <a:solidFill>
            <a:srgbClr val="F4F6FA"/>
          </a:solidFill>
          <a:ln w="12700">
            <a:solidFill>
              <a:srgbClr val="D8DEE8"/>
            </a:solidFill>
            <a:prstDash val="solid"/>
          </a:ln>
        </p:spPr>
      </p:sp>
      <p:sp>
        <p:nvSpPr>
          <p:cNvPr id="21" name="Shape 19"/>
          <p:cNvSpPr/>
          <p:nvPr/>
        </p:nvSpPr>
        <p:spPr>
          <a:xfrm>
            <a:off x="6534760" y="3968496"/>
            <a:ext cx="384048" cy="384048"/>
          </a:xfrm>
          <a:prstGeom prst="ellipse">
            <a:avLst/>
          </a:prstGeom>
          <a:solidFill>
            <a:srgbClr val="8C96A5"/>
          </a:solidFill>
          <a:ln/>
        </p:spPr>
      </p:sp>
      <p:sp>
        <p:nvSpPr>
          <p:cNvPr id="22" name="Text 20"/>
          <p:cNvSpPr txBox="1"/>
          <p:nvPr/>
        </p:nvSpPr>
        <p:spPr>
          <a:xfrm>
            <a:off x="6534760" y="400964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7065112" y="4023360"/>
            <a:ext cx="4230472" cy="310896"/>
          </a:xfrm>
          <a:prstGeom prst="rect">
            <a:avLst/>
          </a:prstGeom>
          <a:noFill/>
          <a:ln/>
        </p:spPr>
        <p:txBody>
          <a:bodyPr wrap="square" lIns="0" tIns="0" rIns="0" bIns="0" rtlCol="0" anchor="ctr"/>
          <a:lstStyle/>
          <a:p>
            <a:pPr indent="0" marL="0">
              <a:buNone/>
            </a:pPr>
            <a:r>
              <a:rPr lang="en-US" sz="1650" b="1" dirty="0">
                <a:solidFill>
                  <a:srgbClr val="12233F"/>
                </a:solidFill>
                <a:latin typeface="Cambria" pitchFamily="34" charset="0"/>
                <a:ea typeface="Cambria" pitchFamily="34" charset="-122"/>
                <a:cs typeface="Cambria" pitchFamily="34" charset="-120"/>
              </a:rPr>
              <a:t>No single source of truth</a:t>
            </a:r>
            <a:endParaRPr lang="en-US" sz="1650" dirty="0"/>
          </a:p>
        </p:txBody>
      </p:sp>
      <p:sp>
        <p:nvSpPr>
          <p:cNvPr id="24" name="Text 22"/>
          <p:cNvSpPr txBox="1"/>
          <p:nvPr/>
        </p:nvSpPr>
        <p:spPr>
          <a:xfrm>
            <a:off x="6534760" y="4535424"/>
            <a:ext cx="4760824" cy="859536"/>
          </a:xfrm>
          <a:prstGeom prst="rect">
            <a:avLst/>
          </a:prstGeom>
          <a:noFill/>
          <a:ln/>
        </p:spPr>
        <p:txBody>
          <a:bodyPr wrap="square" lIns="0" tIns="0" rIns="0" bIns="0" rtlCol="0" anchor="t"/>
          <a:lstStyle/>
          <a:p>
            <a:pPr indent="0" marL="0">
              <a:lnSpc>
                <a:spcPct val="110000"/>
              </a:lnSpc>
              <a:buNone/>
            </a:pPr>
            <a:r>
              <a:rPr lang="en-US" sz="1250" dirty="0">
                <a:solidFill>
                  <a:srgbClr val="1A2333"/>
                </a:solidFill>
                <a:latin typeface="Calibri" pitchFamily="34" charset="0"/>
                <a:ea typeface="Calibri" pitchFamily="34" charset="-122"/>
                <a:cs typeface="Calibri" pitchFamily="34" charset="-120"/>
              </a:rPr>
              <a:t>The registry, the lecturer and the student can each hold a different version of the same record.</a:t>
            </a:r>
            <a:endParaRPr lang="en-US" sz="1250" dirty="0"/>
          </a:p>
        </p:txBody>
      </p:sp>
      <p:sp>
        <p:nvSpPr>
          <p:cNvPr id="25" name="Text 23"/>
          <p:cNvSpPr txBox="1"/>
          <p:nvPr/>
        </p:nvSpPr>
        <p:spPr>
          <a:xfrm>
            <a:off x="640080" y="5760720"/>
            <a:ext cx="10911535" cy="402336"/>
          </a:xfrm>
          <a:prstGeom prst="rect">
            <a:avLst/>
          </a:prstGeom>
          <a:noFill/>
          <a:ln/>
        </p:spPr>
        <p:txBody>
          <a:bodyPr wrap="square" lIns="0" tIns="0" rIns="0" bIns="0" rtlCol="0" anchor="ctr"/>
          <a:lstStyle/>
          <a:p>
            <a:pPr indent="0" marL="0">
              <a:buNone/>
            </a:pPr>
            <a:r>
              <a:rPr lang="en-US" sz="1400" b="1" i="1" dirty="0">
                <a:solidFill>
                  <a:srgbClr val="12233F"/>
                </a:solidFill>
                <a:latin typeface="Calibri" pitchFamily="34" charset="0"/>
                <a:ea typeface="Calibri" pitchFamily="34" charset="-122"/>
                <a:cs typeface="Calibri" pitchFamily="34" charset="-120"/>
              </a:rPr>
              <a:t>The university enforces a 75% rule using data that arrives after the decision has already been made.</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3</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What the system had to do</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Six objectives, fixed at the start of the project. All six were delivered.</a:t>
            </a:r>
            <a:endParaRPr lang="en-US" sz="1400" dirty="0"/>
          </a:p>
        </p:txBody>
      </p:sp>
      <p:sp>
        <p:nvSpPr>
          <p:cNvPr id="5" name="Shape 3"/>
          <p:cNvSpPr/>
          <p:nvPr/>
        </p:nvSpPr>
        <p:spPr>
          <a:xfrm>
            <a:off x="640080" y="1700784"/>
            <a:ext cx="3200400" cy="3602736"/>
          </a:xfrm>
          <a:prstGeom prst="roundRect">
            <a:avLst>
              <a:gd name="adj" fmla="val 1714"/>
            </a:avLst>
          </a:prstGeom>
          <a:solidFill>
            <a:srgbClr val="12233F"/>
          </a:solidFill>
          <a:ln w="12700">
            <a:solidFill>
              <a:srgbClr val="12233F"/>
            </a:solidFill>
            <a:prstDash val="solid"/>
          </a:ln>
        </p:spPr>
      </p:sp>
      <p:sp>
        <p:nvSpPr>
          <p:cNvPr id="6" name="Text 4"/>
          <p:cNvSpPr txBox="1"/>
          <p:nvPr/>
        </p:nvSpPr>
        <p:spPr>
          <a:xfrm>
            <a:off x="950976" y="1956816"/>
            <a:ext cx="2578608" cy="237744"/>
          </a:xfrm>
          <a:prstGeom prst="rect">
            <a:avLst/>
          </a:prstGeom>
          <a:noFill/>
          <a:ln/>
        </p:spPr>
        <p:txBody>
          <a:bodyPr wrap="square" lIns="0" tIns="0" rIns="0" bIns="0" rtlCol="0" anchor="ctr"/>
          <a:lstStyle/>
          <a:p>
            <a:pPr indent="0" marL="0">
              <a:buNone/>
            </a:pPr>
            <a:r>
              <a:rPr lang="en-US" sz="1000" b="1" spc="180" kern="0" dirty="0">
                <a:solidFill>
                  <a:srgbClr val="C9A227"/>
                </a:solidFill>
                <a:latin typeface="Calibri" pitchFamily="34" charset="0"/>
                <a:ea typeface="Calibri" pitchFamily="34" charset="-122"/>
                <a:cs typeface="Calibri" pitchFamily="34" charset="-120"/>
              </a:rPr>
              <a:t>THE RULE</a:t>
            </a:r>
            <a:endParaRPr lang="en-US" sz="1000" dirty="0"/>
          </a:p>
        </p:txBody>
      </p:sp>
      <p:sp>
        <p:nvSpPr>
          <p:cNvPr id="7" name="Text 5"/>
          <p:cNvSpPr txBox="1"/>
          <p:nvPr/>
        </p:nvSpPr>
        <p:spPr>
          <a:xfrm>
            <a:off x="950976" y="2286000"/>
            <a:ext cx="2578608" cy="1152144"/>
          </a:xfrm>
          <a:prstGeom prst="rect">
            <a:avLst/>
          </a:prstGeom>
          <a:noFill/>
          <a:ln/>
        </p:spPr>
        <p:txBody>
          <a:bodyPr wrap="square" lIns="0" tIns="0" rIns="0" bIns="0" rtlCol="0" anchor="ctr"/>
          <a:lstStyle/>
          <a:p>
            <a:pPr indent="0" marL="0">
              <a:buNone/>
            </a:pPr>
            <a:r>
              <a:rPr lang="en-US" sz="7200" b="1" dirty="0">
                <a:solidFill>
                  <a:srgbClr val="FFFFFF"/>
                </a:solidFill>
                <a:latin typeface="Cambria" pitchFamily="34" charset="0"/>
                <a:ea typeface="Cambria" pitchFamily="34" charset="-122"/>
                <a:cs typeface="Cambria" pitchFamily="34" charset="-120"/>
              </a:rPr>
              <a:t>75%</a:t>
            </a:r>
            <a:endParaRPr lang="en-US" sz="7200" dirty="0"/>
          </a:p>
        </p:txBody>
      </p:sp>
      <p:sp>
        <p:nvSpPr>
          <p:cNvPr id="8" name="Text 6"/>
          <p:cNvSpPr txBox="1"/>
          <p:nvPr/>
        </p:nvSpPr>
        <p:spPr>
          <a:xfrm>
            <a:off x="950976" y="3511296"/>
            <a:ext cx="2578608" cy="694944"/>
          </a:xfrm>
          <a:prstGeom prst="rect">
            <a:avLst/>
          </a:prstGeom>
          <a:noFill/>
          <a:ln/>
        </p:spPr>
        <p:txBody>
          <a:bodyPr wrap="square" lIns="0" tIns="0" rIns="0" bIns="0" rtlCol="0" anchor="ctr"/>
          <a:lstStyle/>
          <a:p>
            <a:pPr indent="0" marL="0">
              <a:lnSpc>
                <a:spcPct val="115000"/>
              </a:lnSpc>
              <a:buNone/>
            </a:pPr>
            <a:r>
              <a:rPr lang="en-US" sz="1300" dirty="0">
                <a:solidFill>
                  <a:srgbClr val="B9C6DB"/>
                </a:solidFill>
                <a:latin typeface="Calibri" pitchFamily="34" charset="0"/>
                <a:ea typeface="Calibri" pitchFamily="34" charset="-122"/>
                <a:cs typeface="Calibri" pitchFamily="34" charset="-120"/>
              </a:rPr>
              <a:t>minimum attendance in every class a student is enrolled in.</a:t>
            </a:r>
            <a:endParaRPr lang="en-US" sz="1300" dirty="0"/>
          </a:p>
        </p:txBody>
      </p:sp>
      <p:sp>
        <p:nvSpPr>
          <p:cNvPr id="9" name="Text 7"/>
          <p:cNvSpPr txBox="1"/>
          <p:nvPr/>
        </p:nvSpPr>
        <p:spPr>
          <a:xfrm>
            <a:off x="950976" y="4279392"/>
            <a:ext cx="2578608" cy="749808"/>
          </a:xfrm>
          <a:prstGeom prst="rect">
            <a:avLst/>
          </a:prstGeom>
          <a:noFill/>
          <a:ln/>
        </p:spPr>
        <p:txBody>
          <a:bodyPr wrap="square" lIns="0" tIns="0" rIns="0" bIns="0" rtlCol="0" anchor="ctr"/>
          <a:lstStyle/>
          <a:p>
            <a:pPr indent="0" marL="0">
              <a:lnSpc>
                <a:spcPct val="115000"/>
              </a:lnSpc>
              <a:buNone/>
            </a:pPr>
            <a:r>
              <a:rPr lang="en-US" sz="1150" i="1" dirty="0">
                <a:solidFill>
                  <a:srgbClr val="8E9EB8"/>
                </a:solidFill>
                <a:latin typeface="Calibri" pitchFamily="34" charset="0"/>
                <a:ea typeface="Calibri" pitchFamily="34" charset="-122"/>
                <a:cs typeface="Calibri" pitchFamily="34" charset="-120"/>
              </a:rPr>
              <a:t>Fall below it and you may be barred from the final examination.</a:t>
            </a:r>
            <a:endParaRPr lang="en-US" sz="1150" dirty="0"/>
          </a:p>
        </p:txBody>
      </p:sp>
      <p:sp>
        <p:nvSpPr>
          <p:cNvPr id="10" name="Shape 8"/>
          <p:cNvSpPr/>
          <p:nvPr/>
        </p:nvSpPr>
        <p:spPr>
          <a:xfrm>
            <a:off x="4242816" y="1746504"/>
            <a:ext cx="310896" cy="310896"/>
          </a:xfrm>
          <a:prstGeom prst="ellipse">
            <a:avLst/>
          </a:prstGeom>
          <a:solidFill>
            <a:srgbClr val="F4F6FA"/>
          </a:solidFill>
          <a:ln w="12700">
            <a:solidFill>
              <a:srgbClr val="D8DEE8"/>
            </a:solidFill>
            <a:prstDash val="solid"/>
          </a:ln>
        </p:spPr>
      </p:sp>
      <p:sp>
        <p:nvSpPr>
          <p:cNvPr id="11" name="Text 9"/>
          <p:cNvSpPr txBox="1"/>
          <p:nvPr/>
        </p:nvSpPr>
        <p:spPr>
          <a:xfrm>
            <a:off x="4242816" y="1778508"/>
            <a:ext cx="310896" cy="256032"/>
          </a:xfrm>
          <a:prstGeom prst="rect">
            <a:avLst/>
          </a:prstGeom>
          <a:noFill/>
          <a:ln/>
        </p:spPr>
        <p:txBody>
          <a:bodyPr wrap="square" lIns="0" tIns="0" rIns="0" bIns="0" rtlCol="0" anchor="ctr"/>
          <a:lstStyle/>
          <a:p>
            <a:pPr algn="ctr" indent="0" marL="0">
              <a:buNone/>
            </a:pPr>
            <a:r>
              <a:rPr lang="en-US" sz="1200" b="1" dirty="0">
                <a:solidFill>
                  <a:srgbClr val="12233F"/>
                </a:solidFill>
                <a:latin typeface="Cambria" pitchFamily="34" charset="0"/>
                <a:ea typeface="Cambria" pitchFamily="34" charset="-122"/>
                <a:cs typeface="Cambria" pitchFamily="34" charset="-120"/>
              </a:rPr>
              <a:t>1</a:t>
            </a:r>
            <a:endParaRPr lang="en-US" sz="1200" dirty="0"/>
          </a:p>
        </p:txBody>
      </p:sp>
      <p:sp>
        <p:nvSpPr>
          <p:cNvPr id="12" name="Text 10"/>
          <p:cNvSpPr txBox="1"/>
          <p:nvPr/>
        </p:nvSpPr>
        <p:spPr>
          <a:xfrm>
            <a:off x="4700016" y="1719072"/>
            <a:ext cx="6851599" cy="256032"/>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Model the university</a:t>
            </a:r>
            <a:endParaRPr lang="en-US" sz="1450" dirty="0"/>
          </a:p>
        </p:txBody>
      </p:sp>
      <p:sp>
        <p:nvSpPr>
          <p:cNvPr id="13" name="Text 11"/>
          <p:cNvSpPr txBox="1"/>
          <p:nvPr/>
        </p:nvSpPr>
        <p:spPr>
          <a:xfrm>
            <a:off x="4700016" y="1965960"/>
            <a:ext cx="6851599" cy="347472"/>
          </a:xfrm>
          <a:prstGeom prst="rect">
            <a:avLst/>
          </a:prstGeom>
          <a:noFill/>
          <a:ln/>
        </p:spPr>
        <p:txBody>
          <a:bodyPr wrap="square" lIns="0" tIns="0" rIns="0" bIns="0" rtlCol="0" anchor="ctr"/>
          <a:lstStyle/>
          <a:p>
            <a:pPr indent="0" marL="0">
              <a:lnSpc>
                <a:spcPct val="100000"/>
              </a:lnSpc>
              <a:buNone/>
            </a:pPr>
            <a:r>
              <a:rPr lang="en-US" sz="1150" dirty="0">
                <a:solidFill>
                  <a:srgbClr val="6B7891"/>
                </a:solidFill>
                <a:latin typeface="Calibri" pitchFamily="34" charset="0"/>
                <a:ea typeface="Calibri" pitchFamily="34" charset="-122"/>
                <a:cs typeface="Calibri" pitchFamily="34" charset="-120"/>
              </a:rPr>
              <a:t>A normalised schema for faculties, courses, semesters, rosters and every attendance event.</a:t>
            </a:r>
            <a:endParaRPr lang="en-US" sz="1150" dirty="0"/>
          </a:p>
        </p:txBody>
      </p:sp>
      <p:sp>
        <p:nvSpPr>
          <p:cNvPr id="14" name="Shape 12"/>
          <p:cNvSpPr/>
          <p:nvPr/>
        </p:nvSpPr>
        <p:spPr>
          <a:xfrm>
            <a:off x="4242816" y="2354580"/>
            <a:ext cx="310896" cy="310896"/>
          </a:xfrm>
          <a:prstGeom prst="ellipse">
            <a:avLst/>
          </a:prstGeom>
          <a:solidFill>
            <a:srgbClr val="F4F6FA"/>
          </a:solidFill>
          <a:ln w="12700">
            <a:solidFill>
              <a:srgbClr val="D8DEE8"/>
            </a:solidFill>
            <a:prstDash val="solid"/>
          </a:ln>
        </p:spPr>
      </p:sp>
      <p:sp>
        <p:nvSpPr>
          <p:cNvPr id="15" name="Text 13"/>
          <p:cNvSpPr txBox="1"/>
          <p:nvPr/>
        </p:nvSpPr>
        <p:spPr>
          <a:xfrm>
            <a:off x="4242816" y="2386584"/>
            <a:ext cx="310896" cy="256032"/>
          </a:xfrm>
          <a:prstGeom prst="rect">
            <a:avLst/>
          </a:prstGeom>
          <a:noFill/>
          <a:ln/>
        </p:spPr>
        <p:txBody>
          <a:bodyPr wrap="square" lIns="0" tIns="0" rIns="0" bIns="0" rtlCol="0" anchor="ctr"/>
          <a:lstStyle/>
          <a:p>
            <a:pPr algn="ctr" indent="0" marL="0">
              <a:buNone/>
            </a:pPr>
            <a:r>
              <a:rPr lang="en-US" sz="1200" b="1" dirty="0">
                <a:solidFill>
                  <a:srgbClr val="12233F"/>
                </a:solidFill>
                <a:latin typeface="Cambria" pitchFamily="34" charset="0"/>
                <a:ea typeface="Cambria" pitchFamily="34" charset="-122"/>
                <a:cs typeface="Cambria" pitchFamily="34" charset="-120"/>
              </a:rPr>
              <a:t>2</a:t>
            </a:r>
            <a:endParaRPr lang="en-US" sz="1200" dirty="0"/>
          </a:p>
        </p:txBody>
      </p:sp>
      <p:sp>
        <p:nvSpPr>
          <p:cNvPr id="16" name="Text 14"/>
          <p:cNvSpPr txBox="1"/>
          <p:nvPr/>
        </p:nvSpPr>
        <p:spPr>
          <a:xfrm>
            <a:off x="4700016" y="2327148"/>
            <a:ext cx="6851599" cy="256032"/>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Separate the three roles</a:t>
            </a:r>
            <a:endParaRPr lang="en-US" sz="1450" dirty="0"/>
          </a:p>
        </p:txBody>
      </p:sp>
      <p:sp>
        <p:nvSpPr>
          <p:cNvPr id="17" name="Text 15"/>
          <p:cNvSpPr txBox="1"/>
          <p:nvPr/>
        </p:nvSpPr>
        <p:spPr>
          <a:xfrm>
            <a:off x="4700016" y="2574036"/>
            <a:ext cx="6851599" cy="347472"/>
          </a:xfrm>
          <a:prstGeom prst="rect">
            <a:avLst/>
          </a:prstGeom>
          <a:noFill/>
          <a:ln/>
        </p:spPr>
        <p:txBody>
          <a:bodyPr wrap="square" lIns="0" tIns="0" rIns="0" bIns="0" rtlCol="0" anchor="ctr"/>
          <a:lstStyle/>
          <a:p>
            <a:pPr indent="0" marL="0">
              <a:lnSpc>
                <a:spcPct val="100000"/>
              </a:lnSpc>
              <a:buNone/>
            </a:pPr>
            <a:r>
              <a:rPr lang="en-US" sz="1150" dirty="0">
                <a:solidFill>
                  <a:srgbClr val="6B7891"/>
                </a:solidFill>
                <a:latin typeface="Calibri" pitchFamily="34" charset="0"/>
                <a:ea typeface="Calibri" pitchFamily="34" charset="-122"/>
                <a:cs typeface="Calibri" pitchFamily="34" charset="-120"/>
              </a:rPr>
              <a:t>Administrator, lecturer and student, each restricted to the data they are entitled to see.</a:t>
            </a:r>
            <a:endParaRPr lang="en-US" sz="1150" dirty="0"/>
          </a:p>
        </p:txBody>
      </p:sp>
      <p:sp>
        <p:nvSpPr>
          <p:cNvPr id="18" name="Shape 16"/>
          <p:cNvSpPr/>
          <p:nvPr/>
        </p:nvSpPr>
        <p:spPr>
          <a:xfrm>
            <a:off x="4242816" y="2962656"/>
            <a:ext cx="310896" cy="310896"/>
          </a:xfrm>
          <a:prstGeom prst="ellipse">
            <a:avLst/>
          </a:prstGeom>
          <a:solidFill>
            <a:srgbClr val="F4F6FA"/>
          </a:solidFill>
          <a:ln w="12700">
            <a:solidFill>
              <a:srgbClr val="D8DEE8"/>
            </a:solidFill>
            <a:prstDash val="solid"/>
          </a:ln>
        </p:spPr>
      </p:sp>
      <p:sp>
        <p:nvSpPr>
          <p:cNvPr id="19" name="Text 17"/>
          <p:cNvSpPr txBox="1"/>
          <p:nvPr/>
        </p:nvSpPr>
        <p:spPr>
          <a:xfrm>
            <a:off x="4242816" y="2994660"/>
            <a:ext cx="310896" cy="256032"/>
          </a:xfrm>
          <a:prstGeom prst="rect">
            <a:avLst/>
          </a:prstGeom>
          <a:noFill/>
          <a:ln/>
        </p:spPr>
        <p:txBody>
          <a:bodyPr wrap="square" lIns="0" tIns="0" rIns="0" bIns="0" rtlCol="0" anchor="ctr"/>
          <a:lstStyle/>
          <a:p>
            <a:pPr algn="ctr" indent="0" marL="0">
              <a:buNone/>
            </a:pPr>
            <a:r>
              <a:rPr lang="en-US" sz="1200" b="1" dirty="0">
                <a:solidFill>
                  <a:srgbClr val="12233F"/>
                </a:solidFill>
                <a:latin typeface="Cambria" pitchFamily="34" charset="0"/>
                <a:ea typeface="Cambria" pitchFamily="34" charset="-122"/>
                <a:cs typeface="Cambria" pitchFamily="34" charset="-120"/>
              </a:rPr>
              <a:t>3</a:t>
            </a:r>
            <a:endParaRPr lang="en-US" sz="1200" dirty="0"/>
          </a:p>
        </p:txBody>
      </p:sp>
      <p:sp>
        <p:nvSpPr>
          <p:cNvPr id="20" name="Text 18"/>
          <p:cNvSpPr txBox="1"/>
          <p:nvPr/>
        </p:nvSpPr>
        <p:spPr>
          <a:xfrm>
            <a:off x="4700016" y="2935224"/>
            <a:ext cx="6851599" cy="256032"/>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Make marking fast</a:t>
            </a:r>
            <a:endParaRPr lang="en-US" sz="1450" dirty="0"/>
          </a:p>
        </p:txBody>
      </p:sp>
      <p:sp>
        <p:nvSpPr>
          <p:cNvPr id="21" name="Text 19"/>
          <p:cNvSpPr txBox="1"/>
          <p:nvPr/>
        </p:nvSpPr>
        <p:spPr>
          <a:xfrm>
            <a:off x="4700016" y="3182112"/>
            <a:ext cx="6851599" cy="347472"/>
          </a:xfrm>
          <a:prstGeom prst="rect">
            <a:avLst/>
          </a:prstGeom>
          <a:noFill/>
          <a:ln/>
        </p:spPr>
        <p:txBody>
          <a:bodyPr wrap="square" lIns="0" tIns="0" rIns="0" bIns="0" rtlCol="0" anchor="ctr"/>
          <a:lstStyle/>
          <a:p>
            <a:pPr indent="0" marL="0">
              <a:lnSpc>
                <a:spcPct val="100000"/>
              </a:lnSpc>
              <a:buNone/>
            </a:pPr>
            <a:r>
              <a:rPr lang="en-US" sz="1150" dirty="0">
                <a:solidFill>
                  <a:srgbClr val="6B7891"/>
                </a:solidFill>
                <a:latin typeface="Calibri" pitchFamily="34" charset="0"/>
                <a:ea typeface="Calibri" pitchFamily="34" charset="-122"/>
                <a:cs typeface="Calibri" pitchFamily="34" charset="-120"/>
              </a:rPr>
              <a:t>A full register completed in seconds rather than minutes.</a:t>
            </a:r>
            <a:endParaRPr lang="en-US" sz="1150" dirty="0"/>
          </a:p>
        </p:txBody>
      </p:sp>
      <p:sp>
        <p:nvSpPr>
          <p:cNvPr id="22" name="Shape 20"/>
          <p:cNvSpPr/>
          <p:nvPr/>
        </p:nvSpPr>
        <p:spPr>
          <a:xfrm>
            <a:off x="4242816" y="3570732"/>
            <a:ext cx="310896" cy="310896"/>
          </a:xfrm>
          <a:prstGeom prst="ellipse">
            <a:avLst/>
          </a:prstGeom>
          <a:solidFill>
            <a:srgbClr val="F4F6FA"/>
          </a:solidFill>
          <a:ln w="12700">
            <a:solidFill>
              <a:srgbClr val="D8DEE8"/>
            </a:solidFill>
            <a:prstDash val="solid"/>
          </a:ln>
        </p:spPr>
      </p:sp>
      <p:sp>
        <p:nvSpPr>
          <p:cNvPr id="23" name="Text 21"/>
          <p:cNvSpPr txBox="1"/>
          <p:nvPr/>
        </p:nvSpPr>
        <p:spPr>
          <a:xfrm>
            <a:off x="4242816" y="3602736"/>
            <a:ext cx="310896" cy="256032"/>
          </a:xfrm>
          <a:prstGeom prst="rect">
            <a:avLst/>
          </a:prstGeom>
          <a:noFill/>
          <a:ln/>
        </p:spPr>
        <p:txBody>
          <a:bodyPr wrap="square" lIns="0" tIns="0" rIns="0" bIns="0" rtlCol="0" anchor="ctr"/>
          <a:lstStyle/>
          <a:p>
            <a:pPr algn="ctr" indent="0" marL="0">
              <a:buNone/>
            </a:pPr>
            <a:r>
              <a:rPr lang="en-US" sz="1200" b="1" dirty="0">
                <a:solidFill>
                  <a:srgbClr val="12233F"/>
                </a:solidFill>
                <a:latin typeface="Cambria" pitchFamily="34" charset="0"/>
                <a:ea typeface="Cambria" pitchFamily="34" charset="-122"/>
                <a:cs typeface="Cambria" pitchFamily="34" charset="-120"/>
              </a:rPr>
              <a:t>4</a:t>
            </a:r>
            <a:endParaRPr lang="en-US" sz="1200" dirty="0"/>
          </a:p>
        </p:txBody>
      </p:sp>
      <p:sp>
        <p:nvSpPr>
          <p:cNvPr id="24" name="Text 22"/>
          <p:cNvSpPr txBox="1"/>
          <p:nvPr/>
        </p:nvSpPr>
        <p:spPr>
          <a:xfrm>
            <a:off x="4700016" y="3543300"/>
            <a:ext cx="6851599" cy="256032"/>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Remove roll-call entirely</a:t>
            </a:r>
            <a:endParaRPr lang="en-US" sz="1450" dirty="0"/>
          </a:p>
        </p:txBody>
      </p:sp>
      <p:sp>
        <p:nvSpPr>
          <p:cNvPr id="25" name="Text 23"/>
          <p:cNvSpPr txBox="1"/>
          <p:nvPr/>
        </p:nvSpPr>
        <p:spPr>
          <a:xfrm>
            <a:off x="4700016" y="3790188"/>
            <a:ext cx="6851599" cy="347472"/>
          </a:xfrm>
          <a:prstGeom prst="rect">
            <a:avLst/>
          </a:prstGeom>
          <a:noFill/>
          <a:ln/>
        </p:spPr>
        <p:txBody>
          <a:bodyPr wrap="square" lIns="0" tIns="0" rIns="0" bIns="0" rtlCol="0" anchor="ctr"/>
          <a:lstStyle/>
          <a:p>
            <a:pPr indent="0" marL="0">
              <a:lnSpc>
                <a:spcPct val="100000"/>
              </a:lnSpc>
              <a:buNone/>
            </a:pPr>
            <a:r>
              <a:rPr lang="en-US" sz="1150" dirty="0">
                <a:solidFill>
                  <a:srgbClr val="6B7891"/>
                </a:solidFill>
                <a:latin typeface="Calibri" pitchFamily="34" charset="0"/>
                <a:ea typeface="Calibri" pitchFamily="34" charset="-122"/>
                <a:cs typeface="Calibri" pitchFamily="34" charset="-120"/>
              </a:rPr>
              <a:t>Self check-in by QR code, resistant to a student checking in an absent friend.</a:t>
            </a:r>
            <a:endParaRPr lang="en-US" sz="1150" dirty="0"/>
          </a:p>
        </p:txBody>
      </p:sp>
      <p:sp>
        <p:nvSpPr>
          <p:cNvPr id="26" name="Shape 24"/>
          <p:cNvSpPr/>
          <p:nvPr/>
        </p:nvSpPr>
        <p:spPr>
          <a:xfrm>
            <a:off x="4242816" y="4178808"/>
            <a:ext cx="310896" cy="310896"/>
          </a:xfrm>
          <a:prstGeom prst="ellipse">
            <a:avLst/>
          </a:prstGeom>
          <a:solidFill>
            <a:srgbClr val="F4F6FA"/>
          </a:solidFill>
          <a:ln w="12700">
            <a:solidFill>
              <a:srgbClr val="D8DEE8"/>
            </a:solidFill>
            <a:prstDash val="solid"/>
          </a:ln>
        </p:spPr>
      </p:sp>
      <p:sp>
        <p:nvSpPr>
          <p:cNvPr id="27" name="Text 25"/>
          <p:cNvSpPr txBox="1"/>
          <p:nvPr/>
        </p:nvSpPr>
        <p:spPr>
          <a:xfrm>
            <a:off x="4242816" y="4210812"/>
            <a:ext cx="310896" cy="256032"/>
          </a:xfrm>
          <a:prstGeom prst="rect">
            <a:avLst/>
          </a:prstGeom>
          <a:noFill/>
          <a:ln/>
        </p:spPr>
        <p:txBody>
          <a:bodyPr wrap="square" lIns="0" tIns="0" rIns="0" bIns="0" rtlCol="0" anchor="ctr"/>
          <a:lstStyle/>
          <a:p>
            <a:pPr algn="ctr" indent="0" marL="0">
              <a:buNone/>
            </a:pPr>
            <a:r>
              <a:rPr lang="en-US" sz="1200" b="1" dirty="0">
                <a:solidFill>
                  <a:srgbClr val="12233F"/>
                </a:solidFill>
                <a:latin typeface="Cambria" pitchFamily="34" charset="0"/>
                <a:ea typeface="Cambria" pitchFamily="34" charset="-122"/>
                <a:cs typeface="Cambria" pitchFamily="34" charset="-120"/>
              </a:rPr>
              <a:t>5</a:t>
            </a:r>
            <a:endParaRPr lang="en-US" sz="1200" dirty="0"/>
          </a:p>
        </p:txBody>
      </p:sp>
      <p:sp>
        <p:nvSpPr>
          <p:cNvPr id="28" name="Text 26"/>
          <p:cNvSpPr txBox="1"/>
          <p:nvPr/>
        </p:nvSpPr>
        <p:spPr>
          <a:xfrm>
            <a:off x="4700016" y="4151376"/>
            <a:ext cx="6851599" cy="256032"/>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Calculate continuously</a:t>
            </a:r>
            <a:endParaRPr lang="en-US" sz="1450" dirty="0"/>
          </a:p>
        </p:txBody>
      </p:sp>
      <p:sp>
        <p:nvSpPr>
          <p:cNvPr id="29" name="Text 27"/>
          <p:cNvSpPr txBox="1"/>
          <p:nvPr/>
        </p:nvSpPr>
        <p:spPr>
          <a:xfrm>
            <a:off x="4700016" y="4398264"/>
            <a:ext cx="6851599" cy="347472"/>
          </a:xfrm>
          <a:prstGeom prst="rect">
            <a:avLst/>
          </a:prstGeom>
          <a:noFill/>
          <a:ln/>
        </p:spPr>
        <p:txBody>
          <a:bodyPr wrap="square" lIns="0" tIns="0" rIns="0" bIns="0" rtlCol="0" anchor="ctr"/>
          <a:lstStyle/>
          <a:p>
            <a:pPr indent="0" marL="0">
              <a:lnSpc>
                <a:spcPct val="100000"/>
              </a:lnSpc>
              <a:buNone/>
            </a:pPr>
            <a:r>
              <a:rPr lang="en-US" sz="1150" dirty="0">
                <a:solidFill>
                  <a:srgbClr val="6B7891"/>
                </a:solidFill>
                <a:latin typeface="Calibri" pitchFamily="34" charset="0"/>
                <a:ea typeface="Calibri" pitchFamily="34" charset="-122"/>
                <a:cs typeface="Calibri" pitchFamily="34" charset="-120"/>
              </a:rPr>
              <a:t>Percentages against the 75% rule, with at-risk students surfaced early enough to act.</a:t>
            </a:r>
            <a:endParaRPr lang="en-US" sz="1150" dirty="0"/>
          </a:p>
        </p:txBody>
      </p:sp>
      <p:sp>
        <p:nvSpPr>
          <p:cNvPr id="30" name="Shape 28"/>
          <p:cNvSpPr/>
          <p:nvPr/>
        </p:nvSpPr>
        <p:spPr>
          <a:xfrm>
            <a:off x="4242816" y="4786884"/>
            <a:ext cx="310896" cy="310896"/>
          </a:xfrm>
          <a:prstGeom prst="ellipse">
            <a:avLst/>
          </a:prstGeom>
          <a:solidFill>
            <a:srgbClr val="F4F6FA"/>
          </a:solidFill>
          <a:ln w="12700">
            <a:solidFill>
              <a:srgbClr val="D8DEE8"/>
            </a:solidFill>
            <a:prstDash val="solid"/>
          </a:ln>
        </p:spPr>
      </p:sp>
      <p:sp>
        <p:nvSpPr>
          <p:cNvPr id="31" name="Text 29"/>
          <p:cNvSpPr txBox="1"/>
          <p:nvPr/>
        </p:nvSpPr>
        <p:spPr>
          <a:xfrm>
            <a:off x="4242816" y="4818888"/>
            <a:ext cx="310896" cy="256032"/>
          </a:xfrm>
          <a:prstGeom prst="rect">
            <a:avLst/>
          </a:prstGeom>
          <a:noFill/>
          <a:ln/>
        </p:spPr>
        <p:txBody>
          <a:bodyPr wrap="square" lIns="0" tIns="0" rIns="0" bIns="0" rtlCol="0" anchor="ctr"/>
          <a:lstStyle/>
          <a:p>
            <a:pPr algn="ctr" indent="0" marL="0">
              <a:buNone/>
            </a:pPr>
            <a:r>
              <a:rPr lang="en-US" sz="1200" b="1" dirty="0">
                <a:solidFill>
                  <a:srgbClr val="12233F"/>
                </a:solidFill>
                <a:latin typeface="Cambria" pitchFamily="34" charset="0"/>
                <a:ea typeface="Cambria" pitchFamily="34" charset="-122"/>
                <a:cs typeface="Cambria" pitchFamily="34" charset="-120"/>
              </a:rPr>
              <a:t>6</a:t>
            </a:r>
            <a:endParaRPr lang="en-US" sz="1200" dirty="0"/>
          </a:p>
        </p:txBody>
      </p:sp>
      <p:sp>
        <p:nvSpPr>
          <p:cNvPr id="32" name="Text 30"/>
          <p:cNvSpPr txBox="1"/>
          <p:nvPr/>
        </p:nvSpPr>
        <p:spPr>
          <a:xfrm>
            <a:off x="4700016" y="4759452"/>
            <a:ext cx="6851599" cy="256032"/>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Prove it works</a:t>
            </a:r>
            <a:endParaRPr lang="en-US" sz="1450" dirty="0"/>
          </a:p>
        </p:txBody>
      </p:sp>
      <p:sp>
        <p:nvSpPr>
          <p:cNvPr id="33" name="Text 31"/>
          <p:cNvSpPr txBox="1"/>
          <p:nvPr/>
        </p:nvSpPr>
        <p:spPr>
          <a:xfrm>
            <a:off x="4700016" y="5006340"/>
            <a:ext cx="6851599" cy="347472"/>
          </a:xfrm>
          <a:prstGeom prst="rect">
            <a:avLst/>
          </a:prstGeom>
          <a:noFill/>
          <a:ln/>
        </p:spPr>
        <p:txBody>
          <a:bodyPr wrap="square" lIns="0" tIns="0" rIns="0" bIns="0" rtlCol="0" anchor="ctr"/>
          <a:lstStyle/>
          <a:p>
            <a:pPr indent="0" marL="0">
              <a:lnSpc>
                <a:spcPct val="100000"/>
              </a:lnSpc>
              <a:buNone/>
            </a:pPr>
            <a:r>
              <a:rPr lang="en-US" sz="1150" dirty="0">
                <a:solidFill>
                  <a:srgbClr val="6B7891"/>
                </a:solidFill>
                <a:latin typeface="Calibri" pitchFamily="34" charset="0"/>
                <a:ea typeface="Calibri" pitchFamily="34" charset="-122"/>
                <a:cs typeface="Calibri" pitchFamily="34" charset="-120"/>
              </a:rPr>
              <a:t>Automated tests covering authorisation, data integrity and the percentage arithmetic.</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4</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Three roles, three portals</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One application, but each role only ever sees the data it is entitled to.</a:t>
            </a:r>
            <a:endParaRPr lang="en-US" sz="1400" dirty="0"/>
          </a:p>
        </p:txBody>
      </p:sp>
      <p:sp>
        <p:nvSpPr>
          <p:cNvPr id="5" name="Shape 3"/>
          <p:cNvSpPr/>
          <p:nvPr/>
        </p:nvSpPr>
        <p:spPr>
          <a:xfrm>
            <a:off x="640080" y="1700784"/>
            <a:ext cx="3417722" cy="3950208"/>
          </a:xfrm>
          <a:prstGeom prst="roundRect">
            <a:avLst>
              <a:gd name="adj" fmla="val 1338"/>
            </a:avLst>
          </a:prstGeom>
          <a:solidFill>
            <a:srgbClr val="F4F6FA"/>
          </a:solidFill>
          <a:ln w="12700">
            <a:solidFill>
              <a:srgbClr val="D8DEE8"/>
            </a:solidFill>
            <a:prstDash val="solid"/>
          </a:ln>
        </p:spPr>
      </p:sp>
      <p:sp>
        <p:nvSpPr>
          <p:cNvPr id="6" name="Shape 4"/>
          <p:cNvSpPr/>
          <p:nvPr/>
        </p:nvSpPr>
        <p:spPr>
          <a:xfrm>
            <a:off x="914400" y="1975104"/>
            <a:ext cx="365760" cy="365760"/>
          </a:xfrm>
          <a:prstGeom prst="ellipse">
            <a:avLst/>
          </a:prstGeom>
          <a:solidFill>
            <a:srgbClr val="12233F"/>
          </a:solidFill>
          <a:ln/>
        </p:spPr>
      </p:sp>
      <p:sp>
        <p:nvSpPr>
          <p:cNvPr id="7" name="Text 5"/>
          <p:cNvSpPr txBox="1"/>
          <p:nvPr/>
        </p:nvSpPr>
        <p:spPr>
          <a:xfrm>
            <a:off x="1426464" y="2020824"/>
            <a:ext cx="2393594" cy="274320"/>
          </a:xfrm>
          <a:prstGeom prst="rect">
            <a:avLst/>
          </a:prstGeom>
          <a:noFill/>
          <a:ln/>
        </p:spPr>
        <p:txBody>
          <a:bodyPr wrap="square" lIns="0" tIns="0" rIns="0" bIns="0" rtlCol="0" anchor="ctr"/>
          <a:lstStyle/>
          <a:p>
            <a:pPr indent="0" marL="0">
              <a:buNone/>
            </a:pPr>
            <a:r>
              <a:rPr lang="en-US" sz="1100" b="1" spc="140" kern="0" dirty="0">
                <a:solidFill>
                  <a:srgbClr val="12233F"/>
                </a:solidFill>
                <a:latin typeface="Calibri" pitchFamily="34" charset="0"/>
                <a:ea typeface="Calibri" pitchFamily="34" charset="-122"/>
                <a:cs typeface="Calibri" pitchFamily="34" charset="-120"/>
              </a:rPr>
              <a:t>ADMINISTRATOR</a:t>
            </a:r>
            <a:endParaRPr lang="en-US" sz="1100" dirty="0"/>
          </a:p>
        </p:txBody>
      </p:sp>
      <p:sp>
        <p:nvSpPr>
          <p:cNvPr id="8" name="Text 6"/>
          <p:cNvSpPr txBox="1"/>
          <p:nvPr/>
        </p:nvSpPr>
        <p:spPr>
          <a:xfrm>
            <a:off x="914400" y="2487168"/>
            <a:ext cx="2869082" cy="292608"/>
          </a:xfrm>
          <a:prstGeom prst="rect">
            <a:avLst/>
          </a:prstGeom>
          <a:noFill/>
          <a:ln/>
        </p:spPr>
        <p:txBody>
          <a:bodyPr wrap="square" lIns="0" tIns="0" rIns="0" bIns="0" rtlCol="0" anchor="ctr"/>
          <a:lstStyle/>
          <a:p>
            <a:pPr indent="0" marL="0">
              <a:buNone/>
            </a:pPr>
            <a:r>
              <a:rPr lang="en-US" sz="1600" b="1" dirty="0">
                <a:solidFill>
                  <a:srgbClr val="12233F"/>
                </a:solidFill>
                <a:latin typeface="Cambria" pitchFamily="34" charset="0"/>
                <a:ea typeface="Cambria" pitchFamily="34" charset="-122"/>
                <a:cs typeface="Cambria" pitchFamily="34" charset="-120"/>
              </a:rPr>
              <a:t>The registry</a:t>
            </a:r>
            <a:endParaRPr lang="en-US" sz="1600" dirty="0"/>
          </a:p>
        </p:txBody>
      </p:sp>
      <p:sp>
        <p:nvSpPr>
          <p:cNvPr id="9" name="Text 7"/>
          <p:cNvSpPr txBox="1"/>
          <p:nvPr/>
        </p:nvSpPr>
        <p:spPr>
          <a:xfrm>
            <a:off x="914400" y="2889504"/>
            <a:ext cx="2869082" cy="2505456"/>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Faculties, programs, courses, semesters</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Lecturer and student accounts</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Class sections and weekly timetables</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Rosters and bulk enrollment</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All reports, university-wide</a:t>
            </a:r>
            <a:endParaRPr lang="en-US" sz="1200" dirty="0"/>
          </a:p>
        </p:txBody>
      </p:sp>
      <p:sp>
        <p:nvSpPr>
          <p:cNvPr id="10" name="Shape 8"/>
          <p:cNvSpPr/>
          <p:nvPr/>
        </p:nvSpPr>
        <p:spPr>
          <a:xfrm>
            <a:off x="4386986" y="1700784"/>
            <a:ext cx="3417722" cy="3950208"/>
          </a:xfrm>
          <a:prstGeom prst="roundRect">
            <a:avLst>
              <a:gd name="adj" fmla="val 1338"/>
            </a:avLst>
          </a:prstGeom>
          <a:solidFill>
            <a:srgbClr val="F4F6FA"/>
          </a:solidFill>
          <a:ln w="12700">
            <a:solidFill>
              <a:srgbClr val="D8DEE8"/>
            </a:solidFill>
            <a:prstDash val="solid"/>
          </a:ln>
        </p:spPr>
      </p:sp>
      <p:sp>
        <p:nvSpPr>
          <p:cNvPr id="11" name="Shape 9"/>
          <p:cNvSpPr/>
          <p:nvPr/>
        </p:nvSpPr>
        <p:spPr>
          <a:xfrm>
            <a:off x="4661306" y="1975104"/>
            <a:ext cx="365760" cy="365760"/>
          </a:xfrm>
          <a:prstGeom prst="ellipse">
            <a:avLst/>
          </a:prstGeom>
          <a:solidFill>
            <a:srgbClr val="2E7D52"/>
          </a:solidFill>
          <a:ln/>
        </p:spPr>
      </p:sp>
      <p:sp>
        <p:nvSpPr>
          <p:cNvPr id="12" name="Text 10"/>
          <p:cNvSpPr txBox="1"/>
          <p:nvPr/>
        </p:nvSpPr>
        <p:spPr>
          <a:xfrm>
            <a:off x="5173370" y="2020824"/>
            <a:ext cx="2393594" cy="274320"/>
          </a:xfrm>
          <a:prstGeom prst="rect">
            <a:avLst/>
          </a:prstGeom>
          <a:noFill/>
          <a:ln/>
        </p:spPr>
        <p:txBody>
          <a:bodyPr wrap="square" lIns="0" tIns="0" rIns="0" bIns="0" rtlCol="0" anchor="ctr"/>
          <a:lstStyle/>
          <a:p>
            <a:pPr indent="0" marL="0">
              <a:buNone/>
            </a:pPr>
            <a:r>
              <a:rPr lang="en-US" sz="1100" b="1" spc="140" kern="0" dirty="0">
                <a:solidFill>
                  <a:srgbClr val="2E7D52"/>
                </a:solidFill>
                <a:latin typeface="Calibri" pitchFamily="34" charset="0"/>
                <a:ea typeface="Calibri" pitchFamily="34" charset="-122"/>
                <a:cs typeface="Calibri" pitchFamily="34" charset="-120"/>
              </a:rPr>
              <a:t>LECTURER</a:t>
            </a:r>
            <a:endParaRPr lang="en-US" sz="1100" dirty="0"/>
          </a:p>
        </p:txBody>
      </p:sp>
      <p:sp>
        <p:nvSpPr>
          <p:cNvPr id="13" name="Text 11"/>
          <p:cNvSpPr txBox="1"/>
          <p:nvPr/>
        </p:nvSpPr>
        <p:spPr>
          <a:xfrm>
            <a:off x="4661306" y="2487168"/>
            <a:ext cx="2869082" cy="292608"/>
          </a:xfrm>
          <a:prstGeom prst="rect">
            <a:avLst/>
          </a:prstGeom>
          <a:noFill/>
          <a:ln/>
        </p:spPr>
        <p:txBody>
          <a:bodyPr wrap="square" lIns="0" tIns="0" rIns="0" bIns="0" rtlCol="0" anchor="ctr"/>
          <a:lstStyle/>
          <a:p>
            <a:pPr indent="0" marL="0">
              <a:buNone/>
            </a:pPr>
            <a:r>
              <a:rPr lang="en-US" sz="1600" b="1" dirty="0">
                <a:solidFill>
                  <a:srgbClr val="12233F"/>
                </a:solidFill>
                <a:latin typeface="Cambria" pitchFamily="34" charset="0"/>
                <a:ea typeface="Cambria" pitchFamily="34" charset="-122"/>
                <a:cs typeface="Cambria" pitchFamily="34" charset="-120"/>
              </a:rPr>
              <a:t>Their own classes only</a:t>
            </a:r>
            <a:endParaRPr lang="en-US" sz="1600" dirty="0"/>
          </a:p>
        </p:txBody>
      </p:sp>
      <p:sp>
        <p:nvSpPr>
          <p:cNvPr id="14" name="Text 12"/>
          <p:cNvSpPr txBox="1"/>
          <p:nvPr/>
        </p:nvSpPr>
        <p:spPr>
          <a:xfrm>
            <a:off x="4661306" y="2889504"/>
            <a:ext cx="2869082" cy="2505456"/>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Generate a term of sessions from the timetable</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Mark the register in seconds</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Project the rotating QR code</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Close the session, auto-marking absences</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Reports for their own cohort</a:t>
            </a:r>
            <a:endParaRPr lang="en-US" sz="1200" dirty="0"/>
          </a:p>
        </p:txBody>
      </p:sp>
      <p:sp>
        <p:nvSpPr>
          <p:cNvPr id="15" name="Shape 13"/>
          <p:cNvSpPr/>
          <p:nvPr/>
        </p:nvSpPr>
        <p:spPr>
          <a:xfrm>
            <a:off x="8133893" y="1700784"/>
            <a:ext cx="3417722" cy="3950208"/>
          </a:xfrm>
          <a:prstGeom prst="roundRect">
            <a:avLst>
              <a:gd name="adj" fmla="val 1338"/>
            </a:avLst>
          </a:prstGeom>
          <a:solidFill>
            <a:srgbClr val="F4F6FA"/>
          </a:solidFill>
          <a:ln w="12700">
            <a:solidFill>
              <a:srgbClr val="D8DEE8"/>
            </a:solidFill>
            <a:prstDash val="solid"/>
          </a:ln>
        </p:spPr>
      </p:sp>
      <p:sp>
        <p:nvSpPr>
          <p:cNvPr id="16" name="Shape 14"/>
          <p:cNvSpPr/>
          <p:nvPr/>
        </p:nvSpPr>
        <p:spPr>
          <a:xfrm>
            <a:off x="8408213" y="1975104"/>
            <a:ext cx="365760" cy="365760"/>
          </a:xfrm>
          <a:prstGeom prst="ellipse">
            <a:avLst/>
          </a:prstGeom>
          <a:solidFill>
            <a:srgbClr val="C9A227"/>
          </a:solidFill>
          <a:ln/>
        </p:spPr>
      </p:sp>
      <p:sp>
        <p:nvSpPr>
          <p:cNvPr id="17" name="Text 15"/>
          <p:cNvSpPr txBox="1"/>
          <p:nvPr/>
        </p:nvSpPr>
        <p:spPr>
          <a:xfrm>
            <a:off x="8920277" y="2020824"/>
            <a:ext cx="2393594" cy="274320"/>
          </a:xfrm>
          <a:prstGeom prst="rect">
            <a:avLst/>
          </a:prstGeom>
          <a:noFill/>
          <a:ln/>
        </p:spPr>
        <p:txBody>
          <a:bodyPr wrap="square" lIns="0" tIns="0" rIns="0" bIns="0" rtlCol="0" anchor="ctr"/>
          <a:lstStyle/>
          <a:p>
            <a:pPr indent="0" marL="0">
              <a:buNone/>
            </a:pPr>
            <a:r>
              <a:rPr lang="en-US" sz="1100" b="1" spc="140" kern="0" dirty="0">
                <a:solidFill>
                  <a:srgbClr val="C9A227"/>
                </a:solidFill>
                <a:latin typeface="Calibri" pitchFamily="34" charset="0"/>
                <a:ea typeface="Calibri" pitchFamily="34" charset="-122"/>
                <a:cs typeface="Calibri" pitchFamily="34" charset="-120"/>
              </a:rPr>
              <a:t>STUDENT</a:t>
            </a:r>
            <a:endParaRPr lang="en-US" sz="1100" dirty="0"/>
          </a:p>
        </p:txBody>
      </p:sp>
      <p:sp>
        <p:nvSpPr>
          <p:cNvPr id="18" name="Text 16"/>
          <p:cNvSpPr txBox="1"/>
          <p:nvPr/>
        </p:nvSpPr>
        <p:spPr>
          <a:xfrm>
            <a:off x="8408213" y="2487168"/>
            <a:ext cx="2869082" cy="292608"/>
          </a:xfrm>
          <a:prstGeom prst="rect">
            <a:avLst/>
          </a:prstGeom>
          <a:noFill/>
          <a:ln/>
        </p:spPr>
        <p:txBody>
          <a:bodyPr wrap="square" lIns="0" tIns="0" rIns="0" bIns="0" rtlCol="0" anchor="ctr"/>
          <a:lstStyle/>
          <a:p>
            <a:pPr indent="0" marL="0">
              <a:buNone/>
            </a:pPr>
            <a:r>
              <a:rPr lang="en-US" sz="1600" b="1" dirty="0">
                <a:solidFill>
                  <a:srgbClr val="12233F"/>
                </a:solidFill>
                <a:latin typeface="Cambria" pitchFamily="34" charset="0"/>
                <a:ea typeface="Cambria" pitchFamily="34" charset="-122"/>
                <a:cs typeface="Cambria" pitchFamily="34" charset="-120"/>
              </a:rPr>
              <a:t>Their own record only</a:t>
            </a:r>
            <a:endParaRPr lang="en-US" sz="1600" dirty="0"/>
          </a:p>
        </p:txBody>
      </p:sp>
      <p:sp>
        <p:nvSpPr>
          <p:cNvPr id="19" name="Text 17"/>
          <p:cNvSpPr txBox="1"/>
          <p:nvPr/>
        </p:nvSpPr>
        <p:spPr>
          <a:xfrm>
            <a:off x="8408213" y="2889504"/>
            <a:ext cx="2869082" cy="2505456"/>
          </a:xfrm>
          <a:prstGeom prst="rect">
            <a:avLst/>
          </a:prstGeom>
          <a:noFill/>
          <a:ln/>
        </p:spPr>
        <p:txBody>
          <a:bodyPr wrap="square" lIns="0" tIns="0" rIns="0" bIns="0" rtlCol="0" anchor="t"/>
          <a:lstStyle/>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Attendance percentage for every class</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Warning when below the 75% rule</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Session-by-session history</a:t>
            </a:r>
            <a:endParaRPr lang="en-US" sz="1200" dirty="0"/>
          </a:p>
          <a:p>
            <a:pPr marL="342900" indent="-342900">
              <a:lnSpc>
                <a:spcPct val="106000"/>
              </a:lnSpc>
              <a:spcAft>
                <a:spcPts val="700"/>
              </a:spcAft>
              <a:buSzPct val="100000"/>
              <a:buChar char="•"/>
            </a:pPr>
            <a:r>
              <a:rPr lang="en-US" sz="1200" dirty="0">
                <a:solidFill>
                  <a:srgbClr val="1A2333"/>
                </a:solidFill>
                <a:latin typeface="Calibri" pitchFamily="34" charset="0"/>
                <a:ea typeface="Calibri" pitchFamily="34" charset="-122"/>
                <a:cs typeface="Calibri" pitchFamily="34" charset="-120"/>
              </a:rPr>
              <a:t>Self check-in by QR or typed code</a:t>
            </a:r>
            <a:endParaRPr lang="en-US" sz="1200" dirty="0"/>
          </a:p>
        </p:txBody>
      </p:sp>
      <p:sp>
        <p:nvSpPr>
          <p:cNvPr id="20" name="Text 18"/>
          <p:cNvSpPr txBox="1"/>
          <p:nvPr/>
        </p:nvSpPr>
        <p:spPr>
          <a:xfrm>
            <a:off x="640080" y="5852160"/>
            <a:ext cx="10911535" cy="365760"/>
          </a:xfrm>
          <a:prstGeom prst="rect">
            <a:avLst/>
          </a:prstGeom>
          <a:noFill/>
          <a:ln/>
        </p:spPr>
        <p:txBody>
          <a:bodyPr wrap="square" lIns="0" tIns="0" rIns="0" bIns="0" rtlCol="0" anchor="ctr"/>
          <a:lstStyle/>
          <a:p>
            <a:pPr indent="0" marL="0">
              <a:buNone/>
            </a:pPr>
            <a:r>
              <a:rPr lang="en-US" sz="1300" i="1" dirty="0">
                <a:solidFill>
                  <a:srgbClr val="6B7891"/>
                </a:solidFill>
                <a:latin typeface="Calibri" pitchFamily="34" charset="0"/>
                <a:ea typeface="Calibri" pitchFamily="34" charset="-122"/>
                <a:cs typeface="Calibri" pitchFamily="34" charset="-120"/>
              </a:rPr>
              <a:t>Enforced twice: role middleware gates the portal, and a policy proves ownership of the individual record.</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5</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Built on Laravel 13 and MySQL</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Every choice made against one constraint: it has to run on a stock XAMPP installation.</a:t>
            </a:r>
            <a:endParaRPr lang="en-US" sz="1400" dirty="0"/>
          </a:p>
        </p:txBody>
      </p:sp>
      <p:sp>
        <p:nvSpPr>
          <p:cNvPr id="5" name="Shape 3"/>
          <p:cNvSpPr/>
          <p:nvPr/>
        </p:nvSpPr>
        <p:spPr>
          <a:xfrm>
            <a:off x="640080" y="1719072"/>
            <a:ext cx="6272784" cy="566928"/>
          </a:xfrm>
          <a:prstGeom prst="roundRect">
            <a:avLst>
              <a:gd name="adj" fmla="val 6452"/>
            </a:avLst>
          </a:prstGeom>
          <a:solidFill>
            <a:srgbClr val="F4F6FA"/>
          </a:solidFill>
          <a:ln w="12700">
            <a:solidFill>
              <a:srgbClr val="D8DEE8"/>
            </a:solidFill>
            <a:prstDash val="solid"/>
          </a:ln>
        </p:spPr>
      </p:sp>
      <p:sp>
        <p:nvSpPr>
          <p:cNvPr id="6" name="Text 4"/>
          <p:cNvSpPr txBox="1"/>
          <p:nvPr/>
        </p:nvSpPr>
        <p:spPr>
          <a:xfrm>
            <a:off x="859536" y="1856232"/>
            <a:ext cx="1755648" cy="310896"/>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PHP 8.5</a:t>
            </a:r>
            <a:endParaRPr lang="en-US" sz="1350" dirty="0"/>
          </a:p>
        </p:txBody>
      </p:sp>
      <p:sp>
        <p:nvSpPr>
          <p:cNvPr id="7" name="Text 5"/>
          <p:cNvSpPr txBox="1"/>
          <p:nvPr/>
        </p:nvSpPr>
        <p:spPr>
          <a:xfrm>
            <a:off x="2670048" y="1865376"/>
            <a:ext cx="4023360"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Backed enumerations model the attendance states.</a:t>
            </a:r>
            <a:endParaRPr lang="en-US" sz="1150" dirty="0"/>
          </a:p>
        </p:txBody>
      </p:sp>
      <p:sp>
        <p:nvSpPr>
          <p:cNvPr id="8" name="Shape 6"/>
          <p:cNvSpPr/>
          <p:nvPr/>
        </p:nvSpPr>
        <p:spPr>
          <a:xfrm>
            <a:off x="640080" y="2377440"/>
            <a:ext cx="6272784" cy="566928"/>
          </a:xfrm>
          <a:prstGeom prst="roundRect">
            <a:avLst>
              <a:gd name="adj" fmla="val 6452"/>
            </a:avLst>
          </a:prstGeom>
          <a:solidFill>
            <a:srgbClr val="FFFFFF"/>
          </a:solidFill>
          <a:ln w="12700">
            <a:solidFill>
              <a:srgbClr val="D8DEE8"/>
            </a:solidFill>
            <a:prstDash val="solid"/>
          </a:ln>
        </p:spPr>
      </p:sp>
      <p:sp>
        <p:nvSpPr>
          <p:cNvPr id="9" name="Text 7"/>
          <p:cNvSpPr txBox="1"/>
          <p:nvPr/>
        </p:nvSpPr>
        <p:spPr>
          <a:xfrm>
            <a:off x="859536" y="2514600"/>
            <a:ext cx="1755648" cy="310896"/>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Laravel 13</a:t>
            </a:r>
            <a:endParaRPr lang="en-US" sz="1350" dirty="0"/>
          </a:p>
        </p:txBody>
      </p:sp>
      <p:sp>
        <p:nvSpPr>
          <p:cNvPr id="10" name="Text 8"/>
          <p:cNvSpPr txBox="1"/>
          <p:nvPr/>
        </p:nvSpPr>
        <p:spPr>
          <a:xfrm>
            <a:off x="2670048" y="2523744"/>
            <a:ext cx="4023360"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ORM, routing, validation, hashing, CSRF protection.</a:t>
            </a:r>
            <a:endParaRPr lang="en-US" sz="1150" dirty="0"/>
          </a:p>
        </p:txBody>
      </p:sp>
      <p:sp>
        <p:nvSpPr>
          <p:cNvPr id="11" name="Shape 9"/>
          <p:cNvSpPr/>
          <p:nvPr/>
        </p:nvSpPr>
        <p:spPr>
          <a:xfrm>
            <a:off x="640080" y="3035808"/>
            <a:ext cx="6272784" cy="566928"/>
          </a:xfrm>
          <a:prstGeom prst="roundRect">
            <a:avLst>
              <a:gd name="adj" fmla="val 6452"/>
            </a:avLst>
          </a:prstGeom>
          <a:solidFill>
            <a:srgbClr val="F4F6FA"/>
          </a:solidFill>
          <a:ln w="12700">
            <a:solidFill>
              <a:srgbClr val="D8DEE8"/>
            </a:solidFill>
            <a:prstDash val="solid"/>
          </a:ln>
        </p:spPr>
      </p:sp>
      <p:sp>
        <p:nvSpPr>
          <p:cNvPr id="12" name="Text 10"/>
          <p:cNvSpPr txBox="1"/>
          <p:nvPr/>
        </p:nvSpPr>
        <p:spPr>
          <a:xfrm>
            <a:off x="859536" y="3172968"/>
            <a:ext cx="1755648" cy="310896"/>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MariaDB 10.4</a:t>
            </a:r>
            <a:endParaRPr lang="en-US" sz="1350" dirty="0"/>
          </a:p>
        </p:txBody>
      </p:sp>
      <p:sp>
        <p:nvSpPr>
          <p:cNvPr id="13" name="Text 11"/>
          <p:cNvSpPr txBox="1"/>
          <p:nvPr/>
        </p:nvSpPr>
        <p:spPr>
          <a:xfrm>
            <a:off x="2670048" y="3182112"/>
            <a:ext cx="4023360"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MySQL-compatible, and the database that ships with XAMPP.</a:t>
            </a:r>
            <a:endParaRPr lang="en-US" sz="1150" dirty="0"/>
          </a:p>
        </p:txBody>
      </p:sp>
      <p:sp>
        <p:nvSpPr>
          <p:cNvPr id="14" name="Shape 12"/>
          <p:cNvSpPr/>
          <p:nvPr/>
        </p:nvSpPr>
        <p:spPr>
          <a:xfrm>
            <a:off x="640080" y="3694176"/>
            <a:ext cx="6272784" cy="566928"/>
          </a:xfrm>
          <a:prstGeom prst="roundRect">
            <a:avLst>
              <a:gd name="adj" fmla="val 6452"/>
            </a:avLst>
          </a:prstGeom>
          <a:solidFill>
            <a:srgbClr val="FFFFFF"/>
          </a:solidFill>
          <a:ln w="12700">
            <a:solidFill>
              <a:srgbClr val="D8DEE8"/>
            </a:solidFill>
            <a:prstDash val="solid"/>
          </a:ln>
        </p:spPr>
      </p:sp>
      <p:sp>
        <p:nvSpPr>
          <p:cNvPr id="15" name="Text 13"/>
          <p:cNvSpPr txBox="1"/>
          <p:nvPr/>
        </p:nvSpPr>
        <p:spPr>
          <a:xfrm>
            <a:off x="859536" y="3831336"/>
            <a:ext cx="1755648" cy="310896"/>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Bootstrap 5.3</a:t>
            </a:r>
            <a:endParaRPr lang="en-US" sz="1350" dirty="0"/>
          </a:p>
        </p:txBody>
      </p:sp>
      <p:sp>
        <p:nvSpPr>
          <p:cNvPr id="16" name="Text 14"/>
          <p:cNvSpPr txBox="1"/>
          <p:nvPr/>
        </p:nvSpPr>
        <p:spPr>
          <a:xfrm>
            <a:off x="2670048" y="3840480"/>
            <a:ext cx="4023360"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Responsive interface, loaded from a CDN.</a:t>
            </a:r>
            <a:endParaRPr lang="en-US" sz="1150" dirty="0"/>
          </a:p>
        </p:txBody>
      </p:sp>
      <p:sp>
        <p:nvSpPr>
          <p:cNvPr id="17" name="Shape 15"/>
          <p:cNvSpPr/>
          <p:nvPr/>
        </p:nvSpPr>
        <p:spPr>
          <a:xfrm>
            <a:off x="640080" y="4352544"/>
            <a:ext cx="6272784" cy="566928"/>
          </a:xfrm>
          <a:prstGeom prst="roundRect">
            <a:avLst>
              <a:gd name="adj" fmla="val 6452"/>
            </a:avLst>
          </a:prstGeom>
          <a:solidFill>
            <a:srgbClr val="F4F6FA"/>
          </a:solidFill>
          <a:ln w="12700">
            <a:solidFill>
              <a:srgbClr val="D8DEE8"/>
            </a:solidFill>
            <a:prstDash val="solid"/>
          </a:ln>
        </p:spPr>
      </p:sp>
      <p:sp>
        <p:nvSpPr>
          <p:cNvPr id="18" name="Text 16"/>
          <p:cNvSpPr txBox="1"/>
          <p:nvPr/>
        </p:nvSpPr>
        <p:spPr>
          <a:xfrm>
            <a:off x="859536" y="4489704"/>
            <a:ext cx="1755648" cy="310896"/>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endroid/qr-code</a:t>
            </a:r>
            <a:endParaRPr lang="en-US" sz="1350" dirty="0"/>
          </a:p>
        </p:txBody>
      </p:sp>
      <p:sp>
        <p:nvSpPr>
          <p:cNvPr id="19" name="Text 17"/>
          <p:cNvSpPr txBox="1"/>
          <p:nvPr/>
        </p:nvSpPr>
        <p:spPr>
          <a:xfrm>
            <a:off x="2670048" y="4498848"/>
            <a:ext cx="4023360"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QR generation in pure PHP, emitting SVG.</a:t>
            </a:r>
            <a:endParaRPr lang="en-US" sz="1150" dirty="0"/>
          </a:p>
        </p:txBody>
      </p:sp>
      <p:sp>
        <p:nvSpPr>
          <p:cNvPr id="20" name="Shape 18"/>
          <p:cNvSpPr/>
          <p:nvPr/>
        </p:nvSpPr>
        <p:spPr>
          <a:xfrm>
            <a:off x="640080" y="5010912"/>
            <a:ext cx="6272784" cy="566928"/>
          </a:xfrm>
          <a:prstGeom prst="roundRect">
            <a:avLst>
              <a:gd name="adj" fmla="val 6452"/>
            </a:avLst>
          </a:prstGeom>
          <a:solidFill>
            <a:srgbClr val="FFFFFF"/>
          </a:solidFill>
          <a:ln w="12700">
            <a:solidFill>
              <a:srgbClr val="D8DEE8"/>
            </a:solidFill>
            <a:prstDash val="solid"/>
          </a:ln>
        </p:spPr>
      </p:sp>
      <p:sp>
        <p:nvSpPr>
          <p:cNvPr id="21" name="Text 19"/>
          <p:cNvSpPr txBox="1"/>
          <p:nvPr/>
        </p:nvSpPr>
        <p:spPr>
          <a:xfrm>
            <a:off x="859536" y="5148072"/>
            <a:ext cx="1755648" cy="310896"/>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PHPUnit 12</a:t>
            </a:r>
            <a:endParaRPr lang="en-US" sz="1350" dirty="0"/>
          </a:p>
        </p:txBody>
      </p:sp>
      <p:sp>
        <p:nvSpPr>
          <p:cNvPr id="22" name="Text 20"/>
          <p:cNvSpPr txBox="1"/>
          <p:nvPr/>
        </p:nvSpPr>
        <p:spPr>
          <a:xfrm>
            <a:off x="2670048" y="5157216"/>
            <a:ext cx="4023360"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Automated testing against in-memory SQLite.</a:t>
            </a:r>
            <a:endParaRPr lang="en-US" sz="1150" dirty="0"/>
          </a:p>
        </p:txBody>
      </p:sp>
      <p:sp>
        <p:nvSpPr>
          <p:cNvPr id="23" name="Shape 21"/>
          <p:cNvSpPr/>
          <p:nvPr/>
        </p:nvSpPr>
        <p:spPr>
          <a:xfrm>
            <a:off x="7296912" y="1719072"/>
            <a:ext cx="4254703" cy="2048256"/>
          </a:xfrm>
          <a:prstGeom prst="roundRect">
            <a:avLst>
              <a:gd name="adj" fmla="val 2679"/>
            </a:avLst>
          </a:prstGeom>
          <a:solidFill>
            <a:srgbClr val="12233F"/>
          </a:solidFill>
          <a:ln w="12700">
            <a:solidFill>
              <a:srgbClr val="12233F"/>
            </a:solidFill>
            <a:prstDash val="solid"/>
          </a:ln>
        </p:spPr>
      </p:sp>
      <p:sp>
        <p:nvSpPr>
          <p:cNvPr id="24" name="Text 22"/>
          <p:cNvSpPr txBox="1"/>
          <p:nvPr/>
        </p:nvSpPr>
        <p:spPr>
          <a:xfrm>
            <a:off x="7571232" y="1938528"/>
            <a:ext cx="3706063" cy="237744"/>
          </a:xfrm>
          <a:prstGeom prst="rect">
            <a:avLst/>
          </a:prstGeom>
          <a:noFill/>
          <a:ln/>
        </p:spPr>
        <p:txBody>
          <a:bodyPr wrap="square" lIns="0" tIns="0" rIns="0" bIns="0" rtlCol="0" anchor="ctr"/>
          <a:lstStyle/>
          <a:p>
            <a:pPr indent="0" marL="0">
              <a:buNone/>
            </a:pPr>
            <a:r>
              <a:rPr lang="en-US" sz="1000" b="1" spc="160" kern="0" dirty="0">
                <a:solidFill>
                  <a:srgbClr val="C9A227"/>
                </a:solidFill>
                <a:latin typeface="Calibri" pitchFamily="34" charset="0"/>
                <a:ea typeface="Calibri" pitchFamily="34" charset="-122"/>
                <a:cs typeface="Calibri" pitchFamily="34" charset="-120"/>
              </a:rPr>
              <a:t>NO BUILD STEP</a:t>
            </a:r>
            <a:endParaRPr lang="en-US" sz="1000" dirty="0"/>
          </a:p>
        </p:txBody>
      </p:sp>
      <p:sp>
        <p:nvSpPr>
          <p:cNvPr id="25" name="Text 23"/>
          <p:cNvSpPr txBox="1"/>
          <p:nvPr/>
        </p:nvSpPr>
        <p:spPr>
          <a:xfrm>
            <a:off x="7571232" y="2231136"/>
            <a:ext cx="3706063" cy="384048"/>
          </a:xfrm>
          <a:prstGeom prst="rect">
            <a:avLst/>
          </a:prstGeom>
          <a:noFill/>
          <a:ln/>
        </p:spPr>
        <p:txBody>
          <a:bodyPr wrap="square" lIns="0" tIns="0" rIns="0" bIns="0" rtlCol="0" anchor="ctr"/>
          <a:lstStyle/>
          <a:p>
            <a:pPr indent="0" marL="0">
              <a:buNone/>
            </a:pPr>
            <a:r>
              <a:rPr lang="en-US" sz="2100" b="1" dirty="0">
                <a:solidFill>
                  <a:srgbClr val="FFFFFF"/>
                </a:solidFill>
                <a:latin typeface="Cambria" pitchFamily="34" charset="0"/>
                <a:ea typeface="Cambria" pitchFamily="34" charset="-122"/>
                <a:cs typeface="Cambria" pitchFamily="34" charset="-120"/>
              </a:rPr>
              <a:t>No Node. No npm.</a:t>
            </a:r>
            <a:endParaRPr lang="en-US" sz="2100" dirty="0"/>
          </a:p>
        </p:txBody>
      </p:sp>
      <p:sp>
        <p:nvSpPr>
          <p:cNvPr id="26" name="Text 24"/>
          <p:cNvSpPr txBox="1"/>
          <p:nvPr/>
        </p:nvSpPr>
        <p:spPr>
          <a:xfrm>
            <a:off x="7571232" y="2688336"/>
            <a:ext cx="3706063" cy="914400"/>
          </a:xfrm>
          <a:prstGeom prst="rect">
            <a:avLst/>
          </a:prstGeom>
          <a:noFill/>
          <a:ln/>
        </p:spPr>
        <p:txBody>
          <a:bodyPr wrap="square" lIns="0" tIns="0" rIns="0" bIns="0" rtlCol="0" anchor="ctr"/>
          <a:lstStyle/>
          <a:p>
            <a:pPr indent="0" marL="0">
              <a:lnSpc>
                <a:spcPct val="114000"/>
              </a:lnSpc>
              <a:buNone/>
            </a:pPr>
            <a:r>
              <a:rPr lang="en-US" sz="1150" dirty="0">
                <a:solidFill>
                  <a:srgbClr val="B9C6DB"/>
                </a:solidFill>
                <a:latin typeface="Calibri" pitchFamily="34" charset="0"/>
                <a:ea typeface="Calibri" pitchFamily="34" charset="-122"/>
                <a:cs typeface="Calibri" pitchFamily="34" charset="-120"/>
              </a:rPr>
              <a:t>Bootstrap comes from a CDN, so the system runs after composer install, a migration and artisan serve. Nothing to compile.</a:t>
            </a:r>
            <a:endParaRPr lang="en-US" sz="1150" dirty="0"/>
          </a:p>
        </p:txBody>
      </p:sp>
      <p:sp>
        <p:nvSpPr>
          <p:cNvPr id="27" name="Shape 25"/>
          <p:cNvSpPr/>
          <p:nvPr/>
        </p:nvSpPr>
        <p:spPr>
          <a:xfrm>
            <a:off x="7296912" y="3931920"/>
            <a:ext cx="4254703" cy="1755648"/>
          </a:xfrm>
          <a:prstGeom prst="roundRect">
            <a:avLst>
              <a:gd name="adj" fmla="val 3125"/>
            </a:avLst>
          </a:prstGeom>
          <a:solidFill>
            <a:srgbClr val="F4F6FA"/>
          </a:solidFill>
          <a:ln w="12700">
            <a:solidFill>
              <a:srgbClr val="D8DEE8"/>
            </a:solidFill>
            <a:prstDash val="solid"/>
          </a:ln>
        </p:spPr>
      </p:sp>
      <p:sp>
        <p:nvSpPr>
          <p:cNvPr id="28" name="Text 26"/>
          <p:cNvSpPr txBox="1"/>
          <p:nvPr/>
        </p:nvSpPr>
        <p:spPr>
          <a:xfrm>
            <a:off x="7534656" y="4133088"/>
            <a:ext cx="3779215" cy="219456"/>
          </a:xfrm>
          <a:prstGeom prst="rect">
            <a:avLst/>
          </a:prstGeom>
          <a:noFill/>
          <a:ln/>
        </p:spPr>
        <p:txBody>
          <a:bodyPr wrap="square" lIns="0" tIns="0" rIns="0" bIns="0" rtlCol="0" anchor="ctr"/>
          <a:lstStyle/>
          <a:p>
            <a:pPr indent="0" marL="0">
              <a:buNone/>
            </a:pPr>
            <a:r>
              <a:rPr lang="en-US" sz="1050" b="1" spc="120" kern="0" dirty="0">
                <a:solidFill>
                  <a:srgbClr val="C9820A"/>
                </a:solidFill>
                <a:latin typeface="Calibri" pitchFamily="34" charset="0"/>
                <a:ea typeface="Calibri" pitchFamily="34" charset="-122"/>
                <a:cs typeface="Calibri" pitchFamily="34" charset="-120"/>
              </a:rPr>
              <a:t>A CONSTRAINT THAT SHAPED A CHOICE</a:t>
            </a:r>
            <a:endParaRPr lang="en-US" sz="1050" dirty="0"/>
          </a:p>
        </p:txBody>
      </p:sp>
      <p:sp>
        <p:nvSpPr>
          <p:cNvPr id="29" name="Text 27"/>
          <p:cNvSpPr txBox="1"/>
          <p:nvPr/>
        </p:nvSpPr>
        <p:spPr>
          <a:xfrm>
            <a:off x="7534656" y="4389120"/>
            <a:ext cx="3779215" cy="292608"/>
          </a:xfrm>
          <a:prstGeom prst="rect">
            <a:avLst/>
          </a:prstGeom>
          <a:noFill/>
          <a:ln/>
        </p:spPr>
        <p:txBody>
          <a:bodyPr wrap="square" lIns="0" tIns="0" rIns="0" bIns="0"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No gd, no imagick</a:t>
            </a:r>
            <a:endParaRPr lang="en-US" sz="1500" dirty="0"/>
          </a:p>
        </p:txBody>
      </p:sp>
      <p:sp>
        <p:nvSpPr>
          <p:cNvPr id="30" name="Text 28"/>
          <p:cNvSpPr txBox="1"/>
          <p:nvPr/>
        </p:nvSpPr>
        <p:spPr>
          <a:xfrm>
            <a:off x="7534656" y="4736592"/>
            <a:ext cx="3779215" cy="786384"/>
          </a:xfrm>
          <a:prstGeom prst="rect">
            <a:avLst/>
          </a:prstGeom>
          <a:noFill/>
          <a:ln/>
        </p:spPr>
        <p:txBody>
          <a:bodyPr wrap="square" lIns="0" tIns="0" rIns="0" bIns="0" rtlCol="0" anchor="t"/>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Neither PHP image extension is installed, which rules out PNG entirely. The QR library was chosen because it emits SVG in pure PHP - and vector turned out sharper on a projector anyway.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6</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Twelve tables, third normal form</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Authentication is separated from role data: one users table, with a profile row for each role that needs one.</a:t>
            </a:r>
            <a:endParaRPr lang="en-US" sz="1400" dirty="0"/>
          </a:p>
        </p:txBody>
      </p:sp>
      <p:sp>
        <p:nvSpPr>
          <p:cNvPr id="5" name="Shape 3"/>
          <p:cNvSpPr/>
          <p:nvPr/>
        </p:nvSpPr>
        <p:spPr>
          <a:xfrm>
            <a:off x="731520" y="1773936"/>
            <a:ext cx="1481328" cy="402336"/>
          </a:xfrm>
          <a:prstGeom prst="roundRect">
            <a:avLst>
              <a:gd name="adj" fmla="val 11364"/>
            </a:avLst>
          </a:prstGeom>
          <a:solidFill>
            <a:srgbClr val="F4F6FA"/>
          </a:solidFill>
          <a:ln w="12700">
            <a:solidFill>
              <a:srgbClr val="D8DEE8"/>
            </a:solidFill>
            <a:prstDash val="solid"/>
          </a:ln>
        </p:spPr>
      </p:sp>
      <p:sp>
        <p:nvSpPr>
          <p:cNvPr id="6" name="Text 4"/>
          <p:cNvSpPr txBox="1"/>
          <p:nvPr/>
        </p:nvSpPr>
        <p:spPr>
          <a:xfrm>
            <a:off x="786384" y="1824228"/>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faculties</a:t>
            </a:r>
            <a:endParaRPr lang="en-US" sz="1050" dirty="0"/>
          </a:p>
        </p:txBody>
      </p:sp>
      <p:sp>
        <p:nvSpPr>
          <p:cNvPr id="7" name="Shape 5"/>
          <p:cNvSpPr/>
          <p:nvPr/>
        </p:nvSpPr>
        <p:spPr>
          <a:xfrm>
            <a:off x="2560320" y="1773936"/>
            <a:ext cx="1481328" cy="402336"/>
          </a:xfrm>
          <a:prstGeom prst="roundRect">
            <a:avLst>
              <a:gd name="adj" fmla="val 11364"/>
            </a:avLst>
          </a:prstGeom>
          <a:solidFill>
            <a:srgbClr val="F4F6FA"/>
          </a:solidFill>
          <a:ln w="12700">
            <a:solidFill>
              <a:srgbClr val="D8DEE8"/>
            </a:solidFill>
            <a:prstDash val="solid"/>
          </a:ln>
        </p:spPr>
      </p:sp>
      <p:sp>
        <p:nvSpPr>
          <p:cNvPr id="8" name="Text 6"/>
          <p:cNvSpPr txBox="1"/>
          <p:nvPr/>
        </p:nvSpPr>
        <p:spPr>
          <a:xfrm>
            <a:off x="2615184" y="1824228"/>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programs</a:t>
            </a:r>
            <a:endParaRPr lang="en-US" sz="1050" dirty="0"/>
          </a:p>
        </p:txBody>
      </p:sp>
      <p:sp>
        <p:nvSpPr>
          <p:cNvPr id="9" name="Shape 7"/>
          <p:cNvSpPr/>
          <p:nvPr/>
        </p:nvSpPr>
        <p:spPr>
          <a:xfrm>
            <a:off x="4389120" y="1773936"/>
            <a:ext cx="1481328" cy="402336"/>
          </a:xfrm>
          <a:prstGeom prst="roundRect">
            <a:avLst>
              <a:gd name="adj" fmla="val 11364"/>
            </a:avLst>
          </a:prstGeom>
          <a:solidFill>
            <a:srgbClr val="F4F6FA"/>
          </a:solidFill>
          <a:ln w="12700">
            <a:solidFill>
              <a:srgbClr val="D8DEE8"/>
            </a:solidFill>
            <a:prstDash val="solid"/>
          </a:ln>
        </p:spPr>
      </p:sp>
      <p:sp>
        <p:nvSpPr>
          <p:cNvPr id="10" name="Text 8"/>
          <p:cNvSpPr txBox="1"/>
          <p:nvPr/>
        </p:nvSpPr>
        <p:spPr>
          <a:xfrm>
            <a:off x="4443984" y="1824228"/>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courses</a:t>
            </a:r>
            <a:endParaRPr lang="en-US" sz="1050" dirty="0"/>
          </a:p>
        </p:txBody>
      </p:sp>
      <p:sp>
        <p:nvSpPr>
          <p:cNvPr id="11" name="Shape 9"/>
          <p:cNvSpPr/>
          <p:nvPr/>
        </p:nvSpPr>
        <p:spPr>
          <a:xfrm>
            <a:off x="6217920" y="1773936"/>
            <a:ext cx="1481328" cy="402336"/>
          </a:xfrm>
          <a:prstGeom prst="roundRect">
            <a:avLst>
              <a:gd name="adj" fmla="val 11364"/>
            </a:avLst>
          </a:prstGeom>
          <a:solidFill>
            <a:srgbClr val="F4F6FA"/>
          </a:solidFill>
          <a:ln w="12700">
            <a:solidFill>
              <a:srgbClr val="D8DEE8"/>
            </a:solidFill>
            <a:prstDash val="solid"/>
          </a:ln>
        </p:spPr>
      </p:sp>
      <p:sp>
        <p:nvSpPr>
          <p:cNvPr id="12" name="Text 10"/>
          <p:cNvSpPr txBox="1"/>
          <p:nvPr/>
        </p:nvSpPr>
        <p:spPr>
          <a:xfrm>
            <a:off x="6272784" y="1824228"/>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semesters</a:t>
            </a:r>
            <a:endParaRPr lang="en-US" sz="1050" dirty="0"/>
          </a:p>
        </p:txBody>
      </p:sp>
      <p:sp>
        <p:nvSpPr>
          <p:cNvPr id="13" name="Shape 11"/>
          <p:cNvSpPr/>
          <p:nvPr/>
        </p:nvSpPr>
        <p:spPr>
          <a:xfrm>
            <a:off x="8046720" y="1773936"/>
            <a:ext cx="1481328" cy="402336"/>
          </a:xfrm>
          <a:prstGeom prst="roundRect">
            <a:avLst>
              <a:gd name="adj" fmla="val 11364"/>
            </a:avLst>
          </a:prstGeom>
          <a:solidFill>
            <a:srgbClr val="12233F"/>
          </a:solidFill>
          <a:ln w="12700">
            <a:solidFill>
              <a:srgbClr val="12233F"/>
            </a:solidFill>
            <a:prstDash val="solid"/>
          </a:ln>
        </p:spPr>
      </p:sp>
      <p:sp>
        <p:nvSpPr>
          <p:cNvPr id="14" name="Text 12"/>
          <p:cNvSpPr txBox="1"/>
          <p:nvPr/>
        </p:nvSpPr>
        <p:spPr>
          <a:xfrm>
            <a:off x="8101584" y="1824228"/>
            <a:ext cx="1371600" cy="30175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users</a:t>
            </a:r>
            <a:endParaRPr lang="en-US" sz="1050" dirty="0"/>
          </a:p>
        </p:txBody>
      </p:sp>
      <p:sp>
        <p:nvSpPr>
          <p:cNvPr id="15" name="Shape 13"/>
          <p:cNvSpPr/>
          <p:nvPr/>
        </p:nvSpPr>
        <p:spPr>
          <a:xfrm>
            <a:off x="2560320" y="2542032"/>
            <a:ext cx="1481328" cy="402336"/>
          </a:xfrm>
          <a:prstGeom prst="roundRect">
            <a:avLst>
              <a:gd name="adj" fmla="val 11364"/>
            </a:avLst>
          </a:prstGeom>
          <a:solidFill>
            <a:srgbClr val="F4F6FA"/>
          </a:solidFill>
          <a:ln w="12700">
            <a:solidFill>
              <a:srgbClr val="D8DEE8"/>
            </a:solidFill>
            <a:prstDash val="solid"/>
          </a:ln>
        </p:spPr>
      </p:sp>
      <p:sp>
        <p:nvSpPr>
          <p:cNvPr id="16" name="Text 14"/>
          <p:cNvSpPr txBox="1"/>
          <p:nvPr/>
        </p:nvSpPr>
        <p:spPr>
          <a:xfrm>
            <a:off x="2615184" y="2592324"/>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students</a:t>
            </a:r>
            <a:endParaRPr lang="en-US" sz="1050" dirty="0"/>
          </a:p>
        </p:txBody>
      </p:sp>
      <p:sp>
        <p:nvSpPr>
          <p:cNvPr id="17" name="Shape 15"/>
          <p:cNvSpPr/>
          <p:nvPr/>
        </p:nvSpPr>
        <p:spPr>
          <a:xfrm>
            <a:off x="8046720" y="2542032"/>
            <a:ext cx="1481328" cy="402336"/>
          </a:xfrm>
          <a:prstGeom prst="roundRect">
            <a:avLst>
              <a:gd name="adj" fmla="val 11364"/>
            </a:avLst>
          </a:prstGeom>
          <a:solidFill>
            <a:srgbClr val="F4F6FA"/>
          </a:solidFill>
          <a:ln w="12700">
            <a:solidFill>
              <a:srgbClr val="D8DEE8"/>
            </a:solidFill>
            <a:prstDash val="solid"/>
          </a:ln>
        </p:spPr>
      </p:sp>
      <p:sp>
        <p:nvSpPr>
          <p:cNvPr id="18" name="Text 16"/>
          <p:cNvSpPr txBox="1"/>
          <p:nvPr/>
        </p:nvSpPr>
        <p:spPr>
          <a:xfrm>
            <a:off x="8101584" y="2592324"/>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lecturers</a:t>
            </a:r>
            <a:endParaRPr lang="en-US" sz="1050" dirty="0"/>
          </a:p>
        </p:txBody>
      </p:sp>
      <p:sp>
        <p:nvSpPr>
          <p:cNvPr id="19" name="Shape 17"/>
          <p:cNvSpPr/>
          <p:nvPr/>
        </p:nvSpPr>
        <p:spPr>
          <a:xfrm>
            <a:off x="4389120" y="3310128"/>
            <a:ext cx="1481328" cy="402336"/>
          </a:xfrm>
          <a:prstGeom prst="roundRect">
            <a:avLst>
              <a:gd name="adj" fmla="val 11364"/>
            </a:avLst>
          </a:prstGeom>
          <a:solidFill>
            <a:srgbClr val="E4EAF4"/>
          </a:solidFill>
          <a:ln w="12700">
            <a:solidFill>
              <a:srgbClr val="D8DEE8"/>
            </a:solidFill>
            <a:prstDash val="solid"/>
          </a:ln>
        </p:spPr>
      </p:sp>
      <p:sp>
        <p:nvSpPr>
          <p:cNvPr id="20" name="Text 18"/>
          <p:cNvSpPr txBox="1"/>
          <p:nvPr/>
        </p:nvSpPr>
        <p:spPr>
          <a:xfrm>
            <a:off x="4443984" y="3360420"/>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class_sections</a:t>
            </a:r>
            <a:endParaRPr lang="en-US" sz="1050" dirty="0"/>
          </a:p>
        </p:txBody>
      </p:sp>
      <p:sp>
        <p:nvSpPr>
          <p:cNvPr id="21" name="Shape 19"/>
          <p:cNvSpPr/>
          <p:nvPr/>
        </p:nvSpPr>
        <p:spPr>
          <a:xfrm>
            <a:off x="6217920" y="3310128"/>
            <a:ext cx="1481328" cy="402336"/>
          </a:xfrm>
          <a:prstGeom prst="roundRect">
            <a:avLst>
              <a:gd name="adj" fmla="val 11364"/>
            </a:avLst>
          </a:prstGeom>
          <a:solidFill>
            <a:srgbClr val="F4F6FA"/>
          </a:solidFill>
          <a:ln w="12700">
            <a:solidFill>
              <a:srgbClr val="D8DEE8"/>
            </a:solidFill>
            <a:prstDash val="solid"/>
          </a:ln>
        </p:spPr>
      </p:sp>
      <p:sp>
        <p:nvSpPr>
          <p:cNvPr id="22" name="Text 20"/>
          <p:cNvSpPr txBox="1"/>
          <p:nvPr/>
        </p:nvSpPr>
        <p:spPr>
          <a:xfrm>
            <a:off x="6272784" y="3360420"/>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class_schedules</a:t>
            </a:r>
            <a:endParaRPr lang="en-US" sz="1050" dirty="0"/>
          </a:p>
        </p:txBody>
      </p:sp>
      <p:sp>
        <p:nvSpPr>
          <p:cNvPr id="23" name="Shape 21"/>
          <p:cNvSpPr/>
          <p:nvPr/>
        </p:nvSpPr>
        <p:spPr>
          <a:xfrm>
            <a:off x="2560320" y="3310128"/>
            <a:ext cx="1481328" cy="402336"/>
          </a:xfrm>
          <a:prstGeom prst="roundRect">
            <a:avLst>
              <a:gd name="adj" fmla="val 11364"/>
            </a:avLst>
          </a:prstGeom>
          <a:solidFill>
            <a:srgbClr val="F4F6FA"/>
          </a:solidFill>
          <a:ln w="12700">
            <a:solidFill>
              <a:srgbClr val="D8DEE8"/>
            </a:solidFill>
            <a:prstDash val="solid"/>
          </a:ln>
        </p:spPr>
      </p:sp>
      <p:sp>
        <p:nvSpPr>
          <p:cNvPr id="24" name="Text 22"/>
          <p:cNvSpPr txBox="1"/>
          <p:nvPr/>
        </p:nvSpPr>
        <p:spPr>
          <a:xfrm>
            <a:off x="2615184" y="3360420"/>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enrollments</a:t>
            </a:r>
            <a:endParaRPr lang="en-US" sz="1050" dirty="0"/>
          </a:p>
        </p:txBody>
      </p:sp>
      <p:sp>
        <p:nvSpPr>
          <p:cNvPr id="25" name="Shape 23"/>
          <p:cNvSpPr/>
          <p:nvPr/>
        </p:nvSpPr>
        <p:spPr>
          <a:xfrm>
            <a:off x="4389120" y="4078224"/>
            <a:ext cx="1481328" cy="402336"/>
          </a:xfrm>
          <a:prstGeom prst="roundRect">
            <a:avLst>
              <a:gd name="adj" fmla="val 11364"/>
            </a:avLst>
          </a:prstGeom>
          <a:solidFill>
            <a:srgbClr val="E4EAF4"/>
          </a:solidFill>
          <a:ln w="12700">
            <a:solidFill>
              <a:srgbClr val="D8DEE8"/>
            </a:solidFill>
            <a:prstDash val="solid"/>
          </a:ln>
        </p:spPr>
      </p:sp>
      <p:sp>
        <p:nvSpPr>
          <p:cNvPr id="26" name="Text 24"/>
          <p:cNvSpPr txBox="1"/>
          <p:nvPr/>
        </p:nvSpPr>
        <p:spPr>
          <a:xfrm>
            <a:off x="4443984" y="4128516"/>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attendance_sessions</a:t>
            </a:r>
            <a:endParaRPr lang="en-US" sz="1050" dirty="0"/>
          </a:p>
        </p:txBody>
      </p:sp>
      <p:sp>
        <p:nvSpPr>
          <p:cNvPr id="27" name="Shape 25"/>
          <p:cNvSpPr/>
          <p:nvPr/>
        </p:nvSpPr>
        <p:spPr>
          <a:xfrm>
            <a:off x="2560320" y="4078224"/>
            <a:ext cx="1481328" cy="402336"/>
          </a:xfrm>
          <a:prstGeom prst="roundRect">
            <a:avLst>
              <a:gd name="adj" fmla="val 11364"/>
            </a:avLst>
          </a:prstGeom>
          <a:solidFill>
            <a:srgbClr val="E4EAF4"/>
          </a:solidFill>
          <a:ln w="12700">
            <a:solidFill>
              <a:srgbClr val="D8DEE8"/>
            </a:solidFill>
            <a:prstDash val="solid"/>
          </a:ln>
        </p:spPr>
      </p:sp>
      <p:sp>
        <p:nvSpPr>
          <p:cNvPr id="28" name="Text 26"/>
          <p:cNvSpPr txBox="1"/>
          <p:nvPr/>
        </p:nvSpPr>
        <p:spPr>
          <a:xfrm>
            <a:off x="2615184" y="4128516"/>
            <a:ext cx="1371600" cy="301752"/>
          </a:xfrm>
          <a:prstGeom prst="rect">
            <a:avLst/>
          </a:prstGeom>
          <a:noFill/>
          <a:ln/>
        </p:spPr>
        <p:txBody>
          <a:bodyPr wrap="square" lIns="0" tIns="0" rIns="0" bIns="0" rtlCol="0" anchor="ctr"/>
          <a:lstStyle/>
          <a:p>
            <a:pPr algn="ctr" indent="0" marL="0">
              <a:buNone/>
            </a:pPr>
            <a:r>
              <a:rPr lang="en-US" sz="1050" b="1" dirty="0">
                <a:solidFill>
                  <a:srgbClr val="12233F"/>
                </a:solidFill>
                <a:latin typeface="Calibri" pitchFamily="34" charset="0"/>
                <a:ea typeface="Calibri" pitchFamily="34" charset="-122"/>
                <a:cs typeface="Calibri" pitchFamily="34" charset="-120"/>
              </a:rPr>
              <a:t>attendance_records</a:t>
            </a:r>
            <a:endParaRPr lang="en-US" sz="1050" dirty="0"/>
          </a:p>
        </p:txBody>
      </p:sp>
      <p:sp>
        <p:nvSpPr>
          <p:cNvPr id="29" name="Shape 27"/>
          <p:cNvSpPr/>
          <p:nvPr/>
        </p:nvSpPr>
        <p:spPr>
          <a:xfrm>
            <a:off x="1472184" y="2176272"/>
            <a:ext cx="1828800" cy="365760"/>
          </a:xfrm>
          <a:prstGeom prst="line">
            <a:avLst/>
          </a:prstGeom>
          <a:noFill/>
          <a:ln w="15875">
            <a:solidFill>
              <a:srgbClr val="AEB8C8"/>
            </a:solidFill>
            <a:prstDash val="solid"/>
          </a:ln>
        </p:spPr>
      </p:sp>
      <p:sp>
        <p:nvSpPr>
          <p:cNvPr id="30" name="Shape 28"/>
          <p:cNvSpPr/>
          <p:nvPr/>
        </p:nvSpPr>
        <p:spPr>
          <a:xfrm>
            <a:off x="3300984" y="2176272"/>
            <a:ext cx="0" cy="365760"/>
          </a:xfrm>
          <a:prstGeom prst="line">
            <a:avLst/>
          </a:prstGeom>
          <a:noFill/>
          <a:ln w="15875">
            <a:solidFill>
              <a:srgbClr val="AEB8C8"/>
            </a:solidFill>
            <a:prstDash val="solid"/>
          </a:ln>
        </p:spPr>
      </p:sp>
      <p:sp>
        <p:nvSpPr>
          <p:cNvPr id="31" name="Shape 29"/>
          <p:cNvSpPr/>
          <p:nvPr/>
        </p:nvSpPr>
        <p:spPr>
          <a:xfrm>
            <a:off x="8787384" y="2176272"/>
            <a:ext cx="0" cy="365760"/>
          </a:xfrm>
          <a:prstGeom prst="line">
            <a:avLst/>
          </a:prstGeom>
          <a:noFill/>
          <a:ln w="15875">
            <a:solidFill>
              <a:srgbClr val="AEB8C8"/>
            </a:solidFill>
            <a:prstDash val="solid"/>
          </a:ln>
        </p:spPr>
      </p:sp>
      <p:sp>
        <p:nvSpPr>
          <p:cNvPr id="32" name="Shape 30"/>
          <p:cNvSpPr/>
          <p:nvPr/>
        </p:nvSpPr>
        <p:spPr>
          <a:xfrm>
            <a:off x="8787384" y="2176272"/>
            <a:ext cx="-5486400" cy="365760"/>
          </a:xfrm>
          <a:prstGeom prst="line">
            <a:avLst/>
          </a:prstGeom>
          <a:noFill/>
          <a:ln w="15875">
            <a:solidFill>
              <a:srgbClr val="AEB8C8"/>
            </a:solidFill>
            <a:prstDash val="solid"/>
          </a:ln>
        </p:spPr>
      </p:sp>
      <p:sp>
        <p:nvSpPr>
          <p:cNvPr id="33" name="Shape 31"/>
          <p:cNvSpPr/>
          <p:nvPr/>
        </p:nvSpPr>
        <p:spPr>
          <a:xfrm>
            <a:off x="5129784" y="2176272"/>
            <a:ext cx="0" cy="1133856"/>
          </a:xfrm>
          <a:prstGeom prst="line">
            <a:avLst/>
          </a:prstGeom>
          <a:noFill/>
          <a:ln w="15875">
            <a:solidFill>
              <a:srgbClr val="AEB8C8"/>
            </a:solidFill>
            <a:prstDash val="solid"/>
          </a:ln>
        </p:spPr>
      </p:sp>
      <p:sp>
        <p:nvSpPr>
          <p:cNvPr id="34" name="Shape 32"/>
          <p:cNvSpPr/>
          <p:nvPr/>
        </p:nvSpPr>
        <p:spPr>
          <a:xfrm>
            <a:off x="6958584" y="2176272"/>
            <a:ext cx="-1088136" cy="1133856"/>
          </a:xfrm>
          <a:prstGeom prst="line">
            <a:avLst/>
          </a:prstGeom>
          <a:noFill/>
          <a:ln w="15875">
            <a:solidFill>
              <a:srgbClr val="AEB8C8"/>
            </a:solidFill>
            <a:prstDash val="solid"/>
          </a:ln>
        </p:spPr>
      </p:sp>
      <p:sp>
        <p:nvSpPr>
          <p:cNvPr id="35" name="Shape 33"/>
          <p:cNvSpPr/>
          <p:nvPr/>
        </p:nvSpPr>
        <p:spPr>
          <a:xfrm>
            <a:off x="8787384" y="2944368"/>
            <a:ext cx="-2916936" cy="365760"/>
          </a:xfrm>
          <a:prstGeom prst="line">
            <a:avLst/>
          </a:prstGeom>
          <a:noFill/>
          <a:ln w="15875">
            <a:solidFill>
              <a:srgbClr val="AEB8C8"/>
            </a:solidFill>
            <a:prstDash val="solid"/>
          </a:ln>
        </p:spPr>
      </p:sp>
      <p:sp>
        <p:nvSpPr>
          <p:cNvPr id="36" name="Shape 34"/>
          <p:cNvSpPr/>
          <p:nvPr/>
        </p:nvSpPr>
        <p:spPr>
          <a:xfrm>
            <a:off x="5870448" y="3511296"/>
            <a:ext cx="347472" cy="0"/>
          </a:xfrm>
          <a:prstGeom prst="line">
            <a:avLst/>
          </a:prstGeom>
          <a:noFill/>
          <a:ln w="15875">
            <a:solidFill>
              <a:srgbClr val="AEB8C8"/>
            </a:solidFill>
            <a:prstDash val="solid"/>
          </a:ln>
        </p:spPr>
      </p:sp>
      <p:sp>
        <p:nvSpPr>
          <p:cNvPr id="37" name="Shape 35"/>
          <p:cNvSpPr/>
          <p:nvPr/>
        </p:nvSpPr>
        <p:spPr>
          <a:xfrm>
            <a:off x="4389120" y="3511296"/>
            <a:ext cx="-347472" cy="0"/>
          </a:xfrm>
          <a:prstGeom prst="line">
            <a:avLst/>
          </a:prstGeom>
          <a:noFill/>
          <a:ln w="15875">
            <a:solidFill>
              <a:srgbClr val="AEB8C8"/>
            </a:solidFill>
            <a:prstDash val="solid"/>
          </a:ln>
        </p:spPr>
      </p:sp>
      <p:sp>
        <p:nvSpPr>
          <p:cNvPr id="38" name="Shape 36"/>
          <p:cNvSpPr/>
          <p:nvPr/>
        </p:nvSpPr>
        <p:spPr>
          <a:xfrm>
            <a:off x="5129784" y="3712464"/>
            <a:ext cx="0" cy="365760"/>
          </a:xfrm>
          <a:prstGeom prst="line">
            <a:avLst/>
          </a:prstGeom>
          <a:noFill/>
          <a:ln w="15875">
            <a:solidFill>
              <a:srgbClr val="AEB8C8"/>
            </a:solidFill>
            <a:prstDash val="solid"/>
          </a:ln>
        </p:spPr>
      </p:sp>
      <p:sp>
        <p:nvSpPr>
          <p:cNvPr id="39" name="Shape 37"/>
          <p:cNvSpPr/>
          <p:nvPr/>
        </p:nvSpPr>
        <p:spPr>
          <a:xfrm>
            <a:off x="4389120" y="4279392"/>
            <a:ext cx="-347472" cy="0"/>
          </a:xfrm>
          <a:prstGeom prst="line">
            <a:avLst/>
          </a:prstGeom>
          <a:noFill/>
          <a:ln w="15875">
            <a:solidFill>
              <a:srgbClr val="AEB8C8"/>
            </a:solidFill>
            <a:prstDash val="solid"/>
          </a:ln>
        </p:spPr>
      </p:sp>
      <p:sp>
        <p:nvSpPr>
          <p:cNvPr id="40" name="Shape 38"/>
          <p:cNvSpPr/>
          <p:nvPr/>
        </p:nvSpPr>
        <p:spPr>
          <a:xfrm>
            <a:off x="3300984" y="3712464"/>
            <a:ext cx="0" cy="365760"/>
          </a:xfrm>
          <a:prstGeom prst="line">
            <a:avLst/>
          </a:prstGeom>
          <a:noFill/>
          <a:ln w="15875">
            <a:solidFill>
              <a:srgbClr val="AEB8C8"/>
            </a:solidFill>
            <a:prstDash val="solid"/>
          </a:ln>
        </p:spPr>
      </p:sp>
      <p:sp>
        <p:nvSpPr>
          <p:cNvPr id="41" name="Shape 39"/>
          <p:cNvSpPr/>
          <p:nvPr/>
        </p:nvSpPr>
        <p:spPr>
          <a:xfrm>
            <a:off x="640080" y="4700016"/>
            <a:ext cx="5291176" cy="1463040"/>
          </a:xfrm>
          <a:prstGeom prst="roundRect">
            <a:avLst>
              <a:gd name="adj" fmla="val 3750"/>
            </a:avLst>
          </a:prstGeom>
          <a:solidFill>
            <a:srgbClr val="F4F6FA"/>
          </a:solidFill>
          <a:ln w="12700">
            <a:solidFill>
              <a:srgbClr val="D8DEE8"/>
            </a:solidFill>
            <a:prstDash val="solid"/>
          </a:ln>
        </p:spPr>
      </p:sp>
      <p:sp>
        <p:nvSpPr>
          <p:cNvPr id="42" name="Text 40"/>
          <p:cNvSpPr txBox="1"/>
          <p:nvPr/>
        </p:nvSpPr>
        <p:spPr>
          <a:xfrm>
            <a:off x="877824" y="4901184"/>
            <a:ext cx="4815688" cy="219456"/>
          </a:xfrm>
          <a:prstGeom prst="rect">
            <a:avLst/>
          </a:prstGeom>
          <a:noFill/>
          <a:ln/>
        </p:spPr>
        <p:txBody>
          <a:bodyPr wrap="square" lIns="0" tIns="0" rIns="0" bIns="0" rtlCol="0" anchor="ctr"/>
          <a:lstStyle/>
          <a:p>
            <a:pPr indent="0" marL="0">
              <a:buNone/>
            </a:pPr>
            <a:r>
              <a:rPr lang="en-US" sz="1050" b="1" spc="120" kern="0" dirty="0">
                <a:solidFill>
                  <a:srgbClr val="C9A227"/>
                </a:solidFill>
                <a:latin typeface="Calibri" pitchFamily="34" charset="0"/>
                <a:ea typeface="Calibri" pitchFamily="34" charset="-122"/>
                <a:cs typeface="Calibri" pitchFamily="34" charset="-120"/>
              </a:rPr>
              <a:t>THE CONSTRAINT THAT MATTERS MOST</a:t>
            </a:r>
            <a:endParaRPr lang="en-US" sz="1050" dirty="0"/>
          </a:p>
        </p:txBody>
      </p:sp>
      <p:sp>
        <p:nvSpPr>
          <p:cNvPr id="43" name="Text 41"/>
          <p:cNvSpPr txBox="1"/>
          <p:nvPr/>
        </p:nvSpPr>
        <p:spPr>
          <a:xfrm>
            <a:off x="877824" y="5157216"/>
            <a:ext cx="4815688" cy="292608"/>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UNIQUE (session, student)</a:t>
            </a:r>
            <a:endParaRPr lang="en-US" sz="1450" dirty="0"/>
          </a:p>
        </p:txBody>
      </p:sp>
      <p:sp>
        <p:nvSpPr>
          <p:cNvPr id="44" name="Text 42"/>
          <p:cNvSpPr txBox="1"/>
          <p:nvPr/>
        </p:nvSpPr>
        <p:spPr>
          <a:xfrm>
            <a:off x="877824" y="5504688"/>
            <a:ext cx="4815688" cy="493776"/>
          </a:xfrm>
          <a:prstGeom prst="rect">
            <a:avLst/>
          </a:prstGeom>
          <a:noFill/>
          <a:ln/>
        </p:spPr>
        <p:txBody>
          <a:bodyPr wrap="square" lIns="0" tIns="0" rIns="0" bIns="0" rtlCol="0" anchor="t"/>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One outcome per student per session, enforced by the database. This is what makes a double scan harmless rather than a duplicate.</a:t>
            </a:r>
            <a:endParaRPr lang="en-US" sz="1150" dirty="0"/>
          </a:p>
        </p:txBody>
      </p:sp>
      <p:sp>
        <p:nvSpPr>
          <p:cNvPr id="45" name="Shape 43"/>
          <p:cNvSpPr/>
          <p:nvPr/>
        </p:nvSpPr>
        <p:spPr>
          <a:xfrm>
            <a:off x="6260440" y="4700016"/>
            <a:ext cx="5291176" cy="1463040"/>
          </a:xfrm>
          <a:prstGeom prst="roundRect">
            <a:avLst>
              <a:gd name="adj" fmla="val 3750"/>
            </a:avLst>
          </a:prstGeom>
          <a:solidFill>
            <a:srgbClr val="F4F6FA"/>
          </a:solidFill>
          <a:ln w="12700">
            <a:solidFill>
              <a:srgbClr val="D8DEE8"/>
            </a:solidFill>
            <a:prstDash val="solid"/>
          </a:ln>
        </p:spPr>
      </p:sp>
      <p:sp>
        <p:nvSpPr>
          <p:cNvPr id="46" name="Text 44"/>
          <p:cNvSpPr txBox="1"/>
          <p:nvPr/>
        </p:nvSpPr>
        <p:spPr>
          <a:xfrm>
            <a:off x="6498184" y="4901184"/>
            <a:ext cx="4815688" cy="219456"/>
          </a:xfrm>
          <a:prstGeom prst="rect">
            <a:avLst/>
          </a:prstGeom>
          <a:noFill/>
          <a:ln/>
        </p:spPr>
        <p:txBody>
          <a:bodyPr wrap="square" lIns="0" tIns="0" rIns="0" bIns="0" rtlCol="0" anchor="ctr"/>
          <a:lstStyle/>
          <a:p>
            <a:pPr indent="0" marL="0">
              <a:buNone/>
            </a:pPr>
            <a:r>
              <a:rPr lang="en-US" sz="1050" b="1" spc="120" kern="0" dirty="0">
                <a:solidFill>
                  <a:srgbClr val="C9820A"/>
                </a:solidFill>
                <a:latin typeface="Calibri" pitchFamily="34" charset="0"/>
                <a:ea typeface="Calibri" pitchFamily="34" charset="-122"/>
                <a:cs typeface="Calibri" pitchFamily="34" charset="-120"/>
              </a:rPr>
              <a:t>A DELIBERATE OMISSION</a:t>
            </a:r>
            <a:endParaRPr lang="en-US" sz="1050" dirty="0"/>
          </a:p>
        </p:txBody>
      </p:sp>
      <p:sp>
        <p:nvSpPr>
          <p:cNvPr id="47" name="Text 45"/>
          <p:cNvSpPr txBox="1"/>
          <p:nvPr/>
        </p:nvSpPr>
        <p:spPr>
          <a:xfrm>
            <a:off x="6498184" y="5157216"/>
            <a:ext cx="4815688" cy="292608"/>
          </a:xfrm>
          <a:prstGeom prst="rect">
            <a:avLst/>
          </a:prstGeom>
          <a:noFill/>
          <a:ln/>
        </p:spPr>
        <p:txBody>
          <a:bodyPr wrap="square" lIns="0" tIns="0" rIns="0" bIns="0" rtlCol="0" anchor="ctr"/>
          <a:lstStyle/>
          <a:p>
            <a:pPr indent="0" marL="0">
              <a:buNone/>
            </a:pPr>
            <a:r>
              <a:rPr lang="en-US" sz="1450" b="1" dirty="0">
                <a:solidFill>
                  <a:srgbClr val="12233F"/>
                </a:solidFill>
                <a:latin typeface="Cambria" pitchFamily="34" charset="0"/>
                <a:ea typeface="Cambria" pitchFamily="34" charset="-122"/>
                <a:cs typeface="Cambria" pitchFamily="34" charset="-120"/>
              </a:rPr>
              <a:t>No cached percentage</a:t>
            </a:r>
            <a:endParaRPr lang="en-US" sz="1450" dirty="0"/>
          </a:p>
        </p:txBody>
      </p:sp>
      <p:sp>
        <p:nvSpPr>
          <p:cNvPr id="48" name="Text 46"/>
          <p:cNvSpPr txBox="1"/>
          <p:nvPr/>
        </p:nvSpPr>
        <p:spPr>
          <a:xfrm>
            <a:off x="6498184" y="5504688"/>
            <a:ext cx="4815688" cy="493776"/>
          </a:xfrm>
          <a:prstGeom prst="rect">
            <a:avLst/>
          </a:prstGeom>
          <a:noFill/>
          <a:ln/>
        </p:spPr>
        <p:txBody>
          <a:bodyPr wrap="square" lIns="0" tIns="0" rIns="0" bIns="0" rtlCol="0" anchor="t"/>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It would make reporting trivial, but it would drift the moment any write path forgot to update it. So it is always derived.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7</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One service, three ways in</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Attendance can be written by three different paths. Only one of them contains the rules.</a:t>
            </a:r>
            <a:endParaRPr lang="en-US" sz="1400" dirty="0"/>
          </a:p>
        </p:txBody>
      </p:sp>
      <p:sp>
        <p:nvSpPr>
          <p:cNvPr id="5" name="Shape 3"/>
          <p:cNvSpPr/>
          <p:nvPr/>
        </p:nvSpPr>
        <p:spPr>
          <a:xfrm>
            <a:off x="640080" y="1828800"/>
            <a:ext cx="3200400" cy="457200"/>
          </a:xfrm>
          <a:prstGeom prst="roundRect">
            <a:avLst>
              <a:gd name="adj" fmla="val 8000"/>
            </a:avLst>
          </a:prstGeom>
          <a:solidFill>
            <a:srgbClr val="FFFFFF"/>
          </a:solidFill>
          <a:ln w="19050">
            <a:solidFill>
              <a:srgbClr val="2E7D52"/>
            </a:solidFill>
            <a:prstDash val="solid"/>
          </a:ln>
        </p:spPr>
      </p:sp>
      <p:sp>
        <p:nvSpPr>
          <p:cNvPr id="6" name="Text 4"/>
          <p:cNvSpPr txBox="1"/>
          <p:nvPr/>
        </p:nvSpPr>
        <p:spPr>
          <a:xfrm>
            <a:off x="804672" y="1929384"/>
            <a:ext cx="2871216"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Lecturer marks the register</a:t>
            </a:r>
            <a:endParaRPr lang="en-US" sz="1150" dirty="0"/>
          </a:p>
        </p:txBody>
      </p:sp>
      <p:sp>
        <p:nvSpPr>
          <p:cNvPr id="7" name="Shape 5"/>
          <p:cNvSpPr/>
          <p:nvPr/>
        </p:nvSpPr>
        <p:spPr>
          <a:xfrm>
            <a:off x="3840480" y="2057400"/>
            <a:ext cx="603504" cy="777240"/>
          </a:xfrm>
          <a:prstGeom prst="line">
            <a:avLst/>
          </a:prstGeom>
          <a:noFill/>
          <a:ln w="15875">
            <a:solidFill>
              <a:srgbClr val="AEB8C8"/>
            </a:solidFill>
            <a:prstDash val="solid"/>
            <a:tailEnd type="triangle"/>
          </a:ln>
        </p:spPr>
      </p:sp>
      <p:sp>
        <p:nvSpPr>
          <p:cNvPr id="8" name="Shape 6"/>
          <p:cNvSpPr/>
          <p:nvPr/>
        </p:nvSpPr>
        <p:spPr>
          <a:xfrm>
            <a:off x="640080" y="2395728"/>
            <a:ext cx="3200400" cy="457200"/>
          </a:xfrm>
          <a:prstGeom prst="roundRect">
            <a:avLst>
              <a:gd name="adj" fmla="val 8000"/>
            </a:avLst>
          </a:prstGeom>
          <a:solidFill>
            <a:srgbClr val="FFFFFF"/>
          </a:solidFill>
          <a:ln w="19050">
            <a:solidFill>
              <a:srgbClr val="C9A227"/>
            </a:solidFill>
            <a:prstDash val="solid"/>
          </a:ln>
        </p:spPr>
      </p:sp>
      <p:sp>
        <p:nvSpPr>
          <p:cNvPr id="9" name="Text 7"/>
          <p:cNvSpPr txBox="1"/>
          <p:nvPr/>
        </p:nvSpPr>
        <p:spPr>
          <a:xfrm>
            <a:off x="804672" y="2496312"/>
            <a:ext cx="2871216"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Student scans the QR code</a:t>
            </a:r>
            <a:endParaRPr lang="en-US" sz="1150" dirty="0"/>
          </a:p>
        </p:txBody>
      </p:sp>
      <p:sp>
        <p:nvSpPr>
          <p:cNvPr id="10" name="Shape 8"/>
          <p:cNvSpPr/>
          <p:nvPr/>
        </p:nvSpPr>
        <p:spPr>
          <a:xfrm>
            <a:off x="3840480" y="2624328"/>
            <a:ext cx="603504" cy="210312"/>
          </a:xfrm>
          <a:prstGeom prst="line">
            <a:avLst/>
          </a:prstGeom>
          <a:noFill/>
          <a:ln w="15875">
            <a:solidFill>
              <a:srgbClr val="AEB8C8"/>
            </a:solidFill>
            <a:prstDash val="solid"/>
            <a:tailEnd type="triangle"/>
          </a:ln>
        </p:spPr>
      </p:sp>
      <p:sp>
        <p:nvSpPr>
          <p:cNvPr id="11" name="Shape 9"/>
          <p:cNvSpPr/>
          <p:nvPr/>
        </p:nvSpPr>
        <p:spPr>
          <a:xfrm>
            <a:off x="640080" y="2962656"/>
            <a:ext cx="3200400" cy="457200"/>
          </a:xfrm>
          <a:prstGeom prst="roundRect">
            <a:avLst>
              <a:gd name="adj" fmla="val 8000"/>
            </a:avLst>
          </a:prstGeom>
          <a:solidFill>
            <a:srgbClr val="FFFFFF"/>
          </a:solidFill>
          <a:ln w="19050">
            <a:solidFill>
              <a:srgbClr val="C9820A"/>
            </a:solidFill>
            <a:prstDash val="solid"/>
          </a:ln>
        </p:spPr>
      </p:sp>
      <p:sp>
        <p:nvSpPr>
          <p:cNvPr id="12" name="Text 10"/>
          <p:cNvSpPr txBox="1"/>
          <p:nvPr/>
        </p:nvSpPr>
        <p:spPr>
          <a:xfrm>
            <a:off x="804672" y="3063240"/>
            <a:ext cx="2871216" cy="274320"/>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Student types the 6-digit code</a:t>
            </a:r>
            <a:endParaRPr lang="en-US" sz="1150" dirty="0"/>
          </a:p>
        </p:txBody>
      </p:sp>
      <p:sp>
        <p:nvSpPr>
          <p:cNvPr id="13" name="Shape 11"/>
          <p:cNvSpPr/>
          <p:nvPr/>
        </p:nvSpPr>
        <p:spPr>
          <a:xfrm>
            <a:off x="3840480" y="3191256"/>
            <a:ext cx="603504" cy="-356616"/>
          </a:xfrm>
          <a:prstGeom prst="line">
            <a:avLst/>
          </a:prstGeom>
          <a:noFill/>
          <a:ln w="15875">
            <a:solidFill>
              <a:srgbClr val="AEB8C8"/>
            </a:solidFill>
            <a:prstDash val="solid"/>
            <a:tailEnd type="triangle"/>
          </a:ln>
        </p:spPr>
      </p:sp>
      <p:sp>
        <p:nvSpPr>
          <p:cNvPr id="14" name="Shape 12"/>
          <p:cNvSpPr/>
          <p:nvPr/>
        </p:nvSpPr>
        <p:spPr>
          <a:xfrm>
            <a:off x="4443984" y="2395728"/>
            <a:ext cx="2231136" cy="896112"/>
          </a:xfrm>
          <a:prstGeom prst="roundRect">
            <a:avLst>
              <a:gd name="adj" fmla="val 5102"/>
            </a:avLst>
          </a:prstGeom>
          <a:solidFill>
            <a:srgbClr val="12233F"/>
          </a:solidFill>
          <a:ln w="12700">
            <a:solidFill>
              <a:srgbClr val="12233F"/>
            </a:solidFill>
            <a:prstDash val="solid"/>
          </a:ln>
        </p:spPr>
      </p:sp>
      <p:sp>
        <p:nvSpPr>
          <p:cNvPr id="15" name="Text 13"/>
          <p:cNvSpPr txBox="1"/>
          <p:nvPr/>
        </p:nvSpPr>
        <p:spPr>
          <a:xfrm>
            <a:off x="4517136" y="2542032"/>
            <a:ext cx="2084832" cy="274320"/>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AttendanceService</a:t>
            </a:r>
            <a:endParaRPr lang="en-US" sz="1400" dirty="0"/>
          </a:p>
        </p:txBody>
      </p:sp>
      <p:sp>
        <p:nvSpPr>
          <p:cNvPr id="16" name="Text 14"/>
          <p:cNvSpPr txBox="1"/>
          <p:nvPr/>
        </p:nvSpPr>
        <p:spPr>
          <a:xfrm>
            <a:off x="4517136" y="2834640"/>
            <a:ext cx="2084832" cy="237744"/>
          </a:xfrm>
          <a:prstGeom prst="rect">
            <a:avLst/>
          </a:prstGeom>
          <a:noFill/>
          <a:ln/>
        </p:spPr>
        <p:txBody>
          <a:bodyPr wrap="square" lIns="0" tIns="0" rIns="0" bIns="0" rtlCol="0" anchor="ctr"/>
          <a:lstStyle/>
          <a:p>
            <a:pPr algn="ctr" indent="0" marL="0">
              <a:buNone/>
            </a:pPr>
            <a:r>
              <a:rPr lang="en-US" sz="1050" dirty="0">
                <a:solidFill>
                  <a:srgbClr val="C9A227"/>
                </a:solidFill>
                <a:latin typeface="Calibri" pitchFamily="34" charset="0"/>
                <a:ea typeface="Calibri" pitchFamily="34" charset="-122"/>
                <a:cs typeface="Calibri" pitchFamily="34" charset="-120"/>
              </a:rPr>
              <a:t>every write</a:t>
            </a:r>
            <a:endParaRPr lang="en-US" sz="1050" dirty="0"/>
          </a:p>
        </p:txBody>
      </p:sp>
      <p:sp>
        <p:nvSpPr>
          <p:cNvPr id="17" name="Shape 15"/>
          <p:cNvSpPr/>
          <p:nvPr/>
        </p:nvSpPr>
        <p:spPr>
          <a:xfrm>
            <a:off x="5559552" y="3291840"/>
            <a:ext cx="0" cy="457200"/>
          </a:xfrm>
          <a:prstGeom prst="line">
            <a:avLst/>
          </a:prstGeom>
          <a:noFill/>
          <a:ln w="15875">
            <a:solidFill>
              <a:srgbClr val="AEB8C8"/>
            </a:solidFill>
            <a:prstDash val="solid"/>
            <a:tailEnd type="triangle"/>
          </a:ln>
        </p:spPr>
      </p:sp>
      <p:sp>
        <p:nvSpPr>
          <p:cNvPr id="18" name="Shape 16"/>
          <p:cNvSpPr/>
          <p:nvPr/>
        </p:nvSpPr>
        <p:spPr>
          <a:xfrm>
            <a:off x="4443984" y="3749040"/>
            <a:ext cx="2231136" cy="566928"/>
          </a:xfrm>
          <a:prstGeom prst="roundRect">
            <a:avLst>
              <a:gd name="adj" fmla="val 6452"/>
            </a:avLst>
          </a:prstGeom>
          <a:solidFill>
            <a:srgbClr val="E4EAF4"/>
          </a:solidFill>
          <a:ln w="12700">
            <a:solidFill>
              <a:srgbClr val="D8DEE8"/>
            </a:solidFill>
            <a:prstDash val="solid"/>
          </a:ln>
        </p:spPr>
      </p:sp>
      <p:sp>
        <p:nvSpPr>
          <p:cNvPr id="19" name="Text 17"/>
          <p:cNvSpPr txBox="1"/>
          <p:nvPr/>
        </p:nvSpPr>
        <p:spPr>
          <a:xfrm>
            <a:off x="4517136" y="3895344"/>
            <a:ext cx="2084832" cy="274320"/>
          </a:xfrm>
          <a:prstGeom prst="rect">
            <a:avLst/>
          </a:prstGeom>
          <a:noFill/>
          <a:ln/>
        </p:spPr>
        <p:txBody>
          <a:bodyPr wrap="square" lIns="0" tIns="0" rIns="0" bIns="0" rtlCol="0" anchor="ctr"/>
          <a:lstStyle/>
          <a:p>
            <a:pPr algn="ctr" indent="0" marL="0">
              <a:buNone/>
            </a:pPr>
            <a:r>
              <a:rPr lang="en-US" sz="1150" b="1" dirty="0">
                <a:solidFill>
                  <a:srgbClr val="12233F"/>
                </a:solidFill>
                <a:latin typeface="Calibri" pitchFamily="34" charset="0"/>
                <a:ea typeface="Calibri" pitchFamily="34" charset="-122"/>
                <a:cs typeface="Calibri" pitchFamily="34" charset="-120"/>
              </a:rPr>
              <a:t>attendance_records</a:t>
            </a:r>
            <a:endParaRPr lang="en-US" sz="1150" dirty="0"/>
          </a:p>
        </p:txBody>
      </p:sp>
      <p:sp>
        <p:nvSpPr>
          <p:cNvPr id="20" name="Text 18"/>
          <p:cNvSpPr txBox="1"/>
          <p:nvPr/>
        </p:nvSpPr>
        <p:spPr>
          <a:xfrm>
            <a:off x="640080" y="4626864"/>
            <a:ext cx="6035040" cy="365760"/>
          </a:xfrm>
          <a:prstGeom prst="rect">
            <a:avLst/>
          </a:prstGeom>
          <a:noFill/>
          <a:ln/>
        </p:spPr>
        <p:txBody>
          <a:bodyPr wrap="square" lIns="0" tIns="0" rIns="0" bIns="0" rtlCol="0" anchor="ctr"/>
          <a:lstStyle/>
          <a:p>
            <a:pPr indent="0" marL="0">
              <a:buNone/>
            </a:pPr>
            <a:r>
              <a:rPr lang="en-US" sz="1200" i="1" dirty="0">
                <a:solidFill>
                  <a:srgbClr val="6B7891"/>
                </a:solidFill>
                <a:latin typeface="Calibri" pitchFamily="34" charset="0"/>
                <a:ea typeface="Calibri" pitchFamily="34" charset="-122"/>
                <a:cs typeface="Calibri" pitchFamily="34" charset="-120"/>
              </a:rPr>
              <a:t>Controllers stay thin. The rules live in one class, so the three paths cannot disagree.</a:t>
            </a:r>
            <a:endParaRPr lang="en-US" sz="1200" dirty="0"/>
          </a:p>
        </p:txBody>
      </p:sp>
      <p:sp>
        <p:nvSpPr>
          <p:cNvPr id="21" name="Shape 19"/>
          <p:cNvSpPr/>
          <p:nvPr/>
        </p:nvSpPr>
        <p:spPr>
          <a:xfrm>
            <a:off x="7132320" y="1773936"/>
            <a:ext cx="4419295" cy="1975104"/>
          </a:xfrm>
          <a:prstGeom prst="roundRect">
            <a:avLst>
              <a:gd name="adj" fmla="val 2778"/>
            </a:avLst>
          </a:prstGeom>
          <a:solidFill>
            <a:srgbClr val="F4F6FA"/>
          </a:solidFill>
          <a:ln w="12700">
            <a:solidFill>
              <a:srgbClr val="D8DEE8"/>
            </a:solidFill>
            <a:prstDash val="solid"/>
          </a:ln>
        </p:spPr>
      </p:sp>
      <p:sp>
        <p:nvSpPr>
          <p:cNvPr id="22" name="Text 20"/>
          <p:cNvSpPr txBox="1"/>
          <p:nvPr/>
        </p:nvSpPr>
        <p:spPr>
          <a:xfrm>
            <a:off x="7370064" y="1975104"/>
            <a:ext cx="3943807" cy="219456"/>
          </a:xfrm>
          <a:prstGeom prst="rect">
            <a:avLst/>
          </a:prstGeom>
          <a:noFill/>
          <a:ln/>
        </p:spPr>
        <p:txBody>
          <a:bodyPr wrap="square" lIns="0" tIns="0" rIns="0" bIns="0" rtlCol="0" anchor="ctr"/>
          <a:lstStyle/>
          <a:p>
            <a:pPr indent="0" marL="0">
              <a:buNone/>
            </a:pPr>
            <a:r>
              <a:rPr lang="en-US" sz="1050" b="1" spc="120" kern="0" dirty="0">
                <a:solidFill>
                  <a:srgbClr val="C9A227"/>
                </a:solidFill>
                <a:latin typeface="Calibri" pitchFamily="34" charset="0"/>
                <a:ea typeface="Calibri" pitchFamily="34" charset="-122"/>
                <a:cs typeface="Calibri" pitchFamily="34" charset="-120"/>
              </a:rPr>
              <a:t>WHY IT MATTERS</a:t>
            </a:r>
            <a:endParaRPr lang="en-US" sz="1050" dirty="0"/>
          </a:p>
        </p:txBody>
      </p:sp>
      <p:sp>
        <p:nvSpPr>
          <p:cNvPr id="23" name="Text 21"/>
          <p:cNvSpPr txBox="1"/>
          <p:nvPr/>
        </p:nvSpPr>
        <p:spPr>
          <a:xfrm>
            <a:off x="7370064" y="2231136"/>
            <a:ext cx="3943807" cy="292608"/>
          </a:xfrm>
          <a:prstGeom prst="rect">
            <a:avLst/>
          </a:prstGeom>
          <a:noFill/>
          <a:ln/>
        </p:spPr>
        <p:txBody>
          <a:bodyPr wrap="square" lIns="0" tIns="0" rIns="0" bIns="0"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Three copies would drift</a:t>
            </a:r>
            <a:endParaRPr lang="en-US" sz="1500" dirty="0"/>
          </a:p>
        </p:txBody>
      </p:sp>
      <p:sp>
        <p:nvSpPr>
          <p:cNvPr id="24" name="Text 22"/>
          <p:cNvSpPr txBox="1"/>
          <p:nvPr/>
        </p:nvSpPr>
        <p:spPr>
          <a:xfrm>
            <a:off x="7370064" y="2578608"/>
            <a:ext cx="3943807" cy="1005840"/>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If each path had its own rules, they would eventually disagree about what counts as late, or about who may be marked - and the disagreement would surface as data nobody can reconcile.</a:t>
            </a:r>
            <a:endParaRPr lang="en-US" sz="1200" dirty="0"/>
          </a:p>
        </p:txBody>
      </p:sp>
      <p:sp>
        <p:nvSpPr>
          <p:cNvPr id="25" name="Shape 23"/>
          <p:cNvSpPr/>
          <p:nvPr/>
        </p:nvSpPr>
        <p:spPr>
          <a:xfrm>
            <a:off x="7132320" y="3895344"/>
            <a:ext cx="4419295" cy="2011680"/>
          </a:xfrm>
          <a:prstGeom prst="roundRect">
            <a:avLst>
              <a:gd name="adj" fmla="val 2727"/>
            </a:avLst>
          </a:prstGeom>
          <a:solidFill>
            <a:srgbClr val="F4F6FA"/>
          </a:solidFill>
          <a:ln w="12700">
            <a:solidFill>
              <a:srgbClr val="D8DEE8"/>
            </a:solidFill>
            <a:prstDash val="solid"/>
          </a:ln>
        </p:spPr>
      </p:sp>
      <p:sp>
        <p:nvSpPr>
          <p:cNvPr id="26" name="Text 24"/>
          <p:cNvSpPr txBox="1"/>
          <p:nvPr/>
        </p:nvSpPr>
        <p:spPr>
          <a:xfrm>
            <a:off x="7370064" y="4096512"/>
            <a:ext cx="3943807" cy="219456"/>
          </a:xfrm>
          <a:prstGeom prst="rect">
            <a:avLst/>
          </a:prstGeom>
          <a:noFill/>
          <a:ln/>
        </p:spPr>
        <p:txBody>
          <a:bodyPr wrap="square" lIns="0" tIns="0" rIns="0" bIns="0" rtlCol="0" anchor="ctr"/>
          <a:lstStyle/>
          <a:p>
            <a:pPr indent="0" marL="0">
              <a:buNone/>
            </a:pPr>
            <a:r>
              <a:rPr lang="en-US" sz="1050" b="1" spc="120" kern="0" dirty="0">
                <a:solidFill>
                  <a:srgbClr val="2E7D52"/>
                </a:solidFill>
                <a:latin typeface="Calibri" pitchFamily="34" charset="0"/>
                <a:ea typeface="Calibri" pitchFamily="34" charset="-122"/>
                <a:cs typeface="Calibri" pitchFamily="34" charset="-120"/>
              </a:rPr>
              <a:t>IT PAID OFF</a:t>
            </a:r>
            <a:endParaRPr lang="en-US" sz="1050" dirty="0"/>
          </a:p>
        </p:txBody>
      </p:sp>
      <p:sp>
        <p:nvSpPr>
          <p:cNvPr id="27" name="Text 25"/>
          <p:cNvSpPr txBox="1"/>
          <p:nvPr/>
        </p:nvSpPr>
        <p:spPr>
          <a:xfrm>
            <a:off x="7370064" y="4352544"/>
            <a:ext cx="3943807" cy="292608"/>
          </a:xfrm>
          <a:prstGeom prst="rect">
            <a:avLst/>
          </a:prstGeom>
          <a:noFill/>
          <a:ln/>
        </p:spPr>
        <p:txBody>
          <a:bodyPr wrap="square" lIns="0" tIns="0" rIns="0" bIns="0"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A late change, made once</a:t>
            </a:r>
            <a:endParaRPr lang="en-US" sz="1500" dirty="0"/>
          </a:p>
        </p:txBody>
      </p:sp>
      <p:sp>
        <p:nvSpPr>
          <p:cNvPr id="28" name="Text 26"/>
          <p:cNvSpPr txBox="1"/>
          <p:nvPr/>
        </p:nvSpPr>
        <p:spPr>
          <a:xfrm>
            <a:off x="7370064" y="4700016"/>
            <a:ext cx="3943807" cy="1042416"/>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Mid-project the closing rule changed, so that closing a register also retires the check-in code. That was one edit in one method, and all three paths inherited it automatically.</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8</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Self check-in, start to finish</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The lecturer opens a session and projects a code. Everything after that is the students own phone.</a:t>
            </a:r>
            <a:endParaRPr lang="en-US" sz="1400" dirty="0"/>
          </a:p>
        </p:txBody>
      </p:sp>
      <p:sp>
        <p:nvSpPr>
          <p:cNvPr id="5" name="Shape 3"/>
          <p:cNvSpPr/>
          <p:nvPr/>
        </p:nvSpPr>
        <p:spPr>
          <a:xfrm>
            <a:off x="640080" y="1755648"/>
            <a:ext cx="3442106" cy="1883664"/>
          </a:xfrm>
          <a:prstGeom prst="roundRect">
            <a:avLst>
              <a:gd name="adj" fmla="val 2427"/>
            </a:avLst>
          </a:prstGeom>
          <a:solidFill>
            <a:srgbClr val="F4F6FA"/>
          </a:solidFill>
          <a:ln w="12700">
            <a:solidFill>
              <a:srgbClr val="D8DEE8"/>
            </a:solidFill>
            <a:prstDash val="solid"/>
          </a:ln>
        </p:spPr>
      </p:sp>
      <p:sp>
        <p:nvSpPr>
          <p:cNvPr id="6" name="Shape 4"/>
          <p:cNvSpPr/>
          <p:nvPr/>
        </p:nvSpPr>
        <p:spPr>
          <a:xfrm>
            <a:off x="896112" y="1993392"/>
            <a:ext cx="384048" cy="384048"/>
          </a:xfrm>
          <a:prstGeom prst="ellipse">
            <a:avLst/>
          </a:prstGeom>
          <a:solidFill>
            <a:srgbClr val="12233F"/>
          </a:solidFill>
          <a:ln/>
        </p:spPr>
      </p:sp>
      <p:sp>
        <p:nvSpPr>
          <p:cNvPr id="7" name="Text 5"/>
          <p:cNvSpPr txBox="1"/>
          <p:nvPr/>
        </p:nvSpPr>
        <p:spPr>
          <a:xfrm>
            <a:off x="896112" y="203454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896112" y="2505456"/>
            <a:ext cx="2930042" cy="512064"/>
          </a:xfrm>
          <a:prstGeom prst="rect">
            <a:avLst/>
          </a:prstGeom>
          <a:noFill/>
          <a:ln/>
        </p:spPr>
        <p:txBody>
          <a:bodyPr wrap="square" lIns="0" tIns="0" rIns="0" bIns="0" rtlCol="0" anchor="ctr"/>
          <a:lstStyle/>
          <a:p>
            <a:pPr indent="0" marL="0">
              <a:lnSpc>
                <a:spcPct val="100000"/>
              </a:lnSpc>
              <a:buNone/>
            </a:pPr>
            <a:r>
              <a:rPr lang="en-US" sz="1450" b="1" dirty="0">
                <a:solidFill>
                  <a:srgbClr val="12233F"/>
                </a:solidFill>
                <a:latin typeface="Cambria" pitchFamily="34" charset="0"/>
                <a:ea typeface="Cambria" pitchFamily="34" charset="-122"/>
                <a:cs typeface="Cambria" pitchFamily="34" charset="-120"/>
              </a:rPr>
              <a:t>Lecturer opens the session</a:t>
            </a:r>
            <a:endParaRPr lang="en-US" sz="1450" dirty="0"/>
          </a:p>
        </p:txBody>
      </p:sp>
      <p:sp>
        <p:nvSpPr>
          <p:cNvPr id="9" name="Text 7"/>
          <p:cNvSpPr txBox="1"/>
          <p:nvPr/>
        </p:nvSpPr>
        <p:spPr>
          <a:xfrm>
            <a:off x="896112" y="2999232"/>
            <a:ext cx="2930042" cy="512064"/>
          </a:xfrm>
          <a:prstGeom prst="rect">
            <a:avLst/>
          </a:prstGeom>
          <a:noFill/>
          <a:ln/>
        </p:spPr>
        <p:txBody>
          <a:bodyPr wrap="square" lIns="0" tIns="0" rIns="0" bIns="0" rtlCol="0" anchor="ctr"/>
          <a:lstStyle/>
          <a:p>
            <a:pPr indent="0" marL="0">
              <a:lnSpc>
                <a:spcPct val="106000"/>
              </a:lnSpc>
              <a:buNone/>
            </a:pPr>
            <a:r>
              <a:rPr lang="en-US" sz="1150" dirty="0">
                <a:solidFill>
                  <a:srgbClr val="6B7891"/>
                </a:solidFill>
                <a:latin typeface="Calibri" pitchFamily="34" charset="0"/>
                <a:ea typeface="Calibri" pitchFamily="34" charset="-122"/>
                <a:cs typeface="Calibri" pitchFamily="34" charset="-120"/>
              </a:rPr>
              <a:t>The system mints a 64-character token and a 6-character readable code, valid for 60 seconds.</a:t>
            </a:r>
            <a:endParaRPr lang="en-US" sz="1150" dirty="0"/>
          </a:p>
        </p:txBody>
      </p:sp>
      <p:sp>
        <p:nvSpPr>
          <p:cNvPr id="10" name="Shape 8"/>
          <p:cNvSpPr/>
          <p:nvPr/>
        </p:nvSpPr>
        <p:spPr>
          <a:xfrm>
            <a:off x="4374794" y="1755648"/>
            <a:ext cx="3442106" cy="1883664"/>
          </a:xfrm>
          <a:prstGeom prst="roundRect">
            <a:avLst>
              <a:gd name="adj" fmla="val 2427"/>
            </a:avLst>
          </a:prstGeom>
          <a:solidFill>
            <a:srgbClr val="F4F6FA"/>
          </a:solidFill>
          <a:ln w="12700">
            <a:solidFill>
              <a:srgbClr val="D8DEE8"/>
            </a:solidFill>
            <a:prstDash val="solid"/>
          </a:ln>
        </p:spPr>
      </p:sp>
      <p:sp>
        <p:nvSpPr>
          <p:cNvPr id="11" name="Shape 9"/>
          <p:cNvSpPr/>
          <p:nvPr/>
        </p:nvSpPr>
        <p:spPr>
          <a:xfrm>
            <a:off x="4630826" y="1993392"/>
            <a:ext cx="384048" cy="384048"/>
          </a:xfrm>
          <a:prstGeom prst="ellipse">
            <a:avLst/>
          </a:prstGeom>
          <a:solidFill>
            <a:srgbClr val="12233F"/>
          </a:solidFill>
          <a:ln/>
        </p:spPr>
      </p:sp>
      <p:sp>
        <p:nvSpPr>
          <p:cNvPr id="12" name="Text 10"/>
          <p:cNvSpPr txBox="1"/>
          <p:nvPr/>
        </p:nvSpPr>
        <p:spPr>
          <a:xfrm>
            <a:off x="4630826" y="203454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3" name="Text 11"/>
          <p:cNvSpPr txBox="1"/>
          <p:nvPr/>
        </p:nvSpPr>
        <p:spPr>
          <a:xfrm>
            <a:off x="4630826" y="2505456"/>
            <a:ext cx="2930042" cy="512064"/>
          </a:xfrm>
          <a:prstGeom prst="rect">
            <a:avLst/>
          </a:prstGeom>
          <a:noFill/>
          <a:ln/>
        </p:spPr>
        <p:txBody>
          <a:bodyPr wrap="square" lIns="0" tIns="0" rIns="0" bIns="0" rtlCol="0" anchor="ctr"/>
          <a:lstStyle/>
          <a:p>
            <a:pPr indent="0" marL="0">
              <a:lnSpc>
                <a:spcPct val="100000"/>
              </a:lnSpc>
              <a:buNone/>
            </a:pPr>
            <a:r>
              <a:rPr lang="en-US" sz="1450" b="1" dirty="0">
                <a:solidFill>
                  <a:srgbClr val="12233F"/>
                </a:solidFill>
                <a:latin typeface="Cambria" pitchFamily="34" charset="0"/>
                <a:ea typeface="Cambria" pitchFamily="34" charset="-122"/>
                <a:cs typeface="Cambria" pitchFamily="34" charset="-120"/>
              </a:rPr>
              <a:t>The code is projected</a:t>
            </a:r>
            <a:endParaRPr lang="en-US" sz="1450" dirty="0"/>
          </a:p>
        </p:txBody>
      </p:sp>
      <p:sp>
        <p:nvSpPr>
          <p:cNvPr id="14" name="Text 12"/>
          <p:cNvSpPr txBox="1"/>
          <p:nvPr/>
        </p:nvSpPr>
        <p:spPr>
          <a:xfrm>
            <a:off x="4630826" y="2999232"/>
            <a:ext cx="2930042" cy="512064"/>
          </a:xfrm>
          <a:prstGeom prst="rect">
            <a:avLst/>
          </a:prstGeom>
          <a:noFill/>
          <a:ln/>
        </p:spPr>
        <p:txBody>
          <a:bodyPr wrap="square" lIns="0" tIns="0" rIns="0" bIns="0" rtlCol="0" anchor="ctr"/>
          <a:lstStyle/>
          <a:p>
            <a:pPr indent="0" marL="0">
              <a:lnSpc>
                <a:spcPct val="106000"/>
              </a:lnSpc>
              <a:buNone/>
            </a:pPr>
            <a:r>
              <a:rPr lang="en-US" sz="1150" dirty="0">
                <a:solidFill>
                  <a:srgbClr val="6B7891"/>
                </a:solidFill>
                <a:latin typeface="Calibri" pitchFamily="34" charset="0"/>
                <a:ea typeface="Calibri" pitchFamily="34" charset="-122"/>
                <a:cs typeface="Calibri" pitchFamily="34" charset="-120"/>
              </a:rPr>
              <a:t>A full-screen display shows the QR code, the short code, a countdown and live check-in counters.</a:t>
            </a:r>
            <a:endParaRPr lang="en-US" sz="1150" dirty="0"/>
          </a:p>
        </p:txBody>
      </p:sp>
      <p:sp>
        <p:nvSpPr>
          <p:cNvPr id="15" name="Shape 13"/>
          <p:cNvSpPr/>
          <p:nvPr/>
        </p:nvSpPr>
        <p:spPr>
          <a:xfrm>
            <a:off x="8109509" y="1755648"/>
            <a:ext cx="3442106" cy="1883664"/>
          </a:xfrm>
          <a:prstGeom prst="roundRect">
            <a:avLst>
              <a:gd name="adj" fmla="val 2427"/>
            </a:avLst>
          </a:prstGeom>
          <a:solidFill>
            <a:srgbClr val="F4F6FA"/>
          </a:solidFill>
          <a:ln w="12700">
            <a:solidFill>
              <a:srgbClr val="D8DEE8"/>
            </a:solidFill>
            <a:prstDash val="solid"/>
          </a:ln>
        </p:spPr>
      </p:sp>
      <p:sp>
        <p:nvSpPr>
          <p:cNvPr id="16" name="Shape 14"/>
          <p:cNvSpPr/>
          <p:nvPr/>
        </p:nvSpPr>
        <p:spPr>
          <a:xfrm>
            <a:off x="8365541" y="1993392"/>
            <a:ext cx="384048" cy="384048"/>
          </a:xfrm>
          <a:prstGeom prst="ellipse">
            <a:avLst/>
          </a:prstGeom>
          <a:solidFill>
            <a:srgbClr val="12233F"/>
          </a:solidFill>
          <a:ln/>
        </p:spPr>
      </p:sp>
      <p:sp>
        <p:nvSpPr>
          <p:cNvPr id="17" name="Text 15"/>
          <p:cNvSpPr txBox="1"/>
          <p:nvPr/>
        </p:nvSpPr>
        <p:spPr>
          <a:xfrm>
            <a:off x="8365541" y="203454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18" name="Text 16"/>
          <p:cNvSpPr txBox="1"/>
          <p:nvPr/>
        </p:nvSpPr>
        <p:spPr>
          <a:xfrm>
            <a:off x="8365541" y="2505456"/>
            <a:ext cx="2930042" cy="512064"/>
          </a:xfrm>
          <a:prstGeom prst="rect">
            <a:avLst/>
          </a:prstGeom>
          <a:noFill/>
          <a:ln/>
        </p:spPr>
        <p:txBody>
          <a:bodyPr wrap="square" lIns="0" tIns="0" rIns="0" bIns="0" rtlCol="0" anchor="ctr"/>
          <a:lstStyle/>
          <a:p>
            <a:pPr indent="0" marL="0">
              <a:lnSpc>
                <a:spcPct val="100000"/>
              </a:lnSpc>
              <a:buNone/>
            </a:pPr>
            <a:r>
              <a:rPr lang="en-US" sz="1450" b="1" dirty="0">
                <a:solidFill>
                  <a:srgbClr val="12233F"/>
                </a:solidFill>
                <a:latin typeface="Cambria" pitchFamily="34" charset="0"/>
                <a:ea typeface="Cambria" pitchFamily="34" charset="-122"/>
                <a:cs typeface="Cambria" pitchFamily="34" charset="-120"/>
              </a:rPr>
              <a:t>Student scans it</a:t>
            </a:r>
            <a:endParaRPr lang="en-US" sz="1450" dirty="0"/>
          </a:p>
        </p:txBody>
      </p:sp>
      <p:sp>
        <p:nvSpPr>
          <p:cNvPr id="19" name="Text 17"/>
          <p:cNvSpPr txBox="1"/>
          <p:nvPr/>
        </p:nvSpPr>
        <p:spPr>
          <a:xfrm>
            <a:off x="8365541" y="2999232"/>
            <a:ext cx="2930042" cy="512064"/>
          </a:xfrm>
          <a:prstGeom prst="rect">
            <a:avLst/>
          </a:prstGeom>
          <a:noFill/>
          <a:ln/>
        </p:spPr>
        <p:txBody>
          <a:bodyPr wrap="square" lIns="0" tIns="0" rIns="0" bIns="0" rtlCol="0" anchor="ctr"/>
          <a:lstStyle/>
          <a:p>
            <a:pPr indent="0" marL="0">
              <a:lnSpc>
                <a:spcPct val="106000"/>
              </a:lnSpc>
              <a:buNone/>
            </a:pPr>
            <a:r>
              <a:rPr lang="en-US" sz="1150" dirty="0">
                <a:solidFill>
                  <a:srgbClr val="6B7891"/>
                </a:solidFill>
                <a:latin typeface="Calibri" pitchFamily="34" charset="0"/>
                <a:ea typeface="Calibri" pitchFamily="34" charset="-122"/>
                <a:cs typeface="Calibri" pitchFamily="34" charset="-120"/>
              </a:rPr>
              <a:t>The phone opens the check-in address. A signed-out student is sent to login and returned automatically.</a:t>
            </a:r>
            <a:endParaRPr lang="en-US" sz="1150" dirty="0"/>
          </a:p>
        </p:txBody>
      </p:sp>
      <p:sp>
        <p:nvSpPr>
          <p:cNvPr id="20" name="Shape 18"/>
          <p:cNvSpPr/>
          <p:nvPr/>
        </p:nvSpPr>
        <p:spPr>
          <a:xfrm>
            <a:off x="640080" y="3950208"/>
            <a:ext cx="3442106" cy="1883664"/>
          </a:xfrm>
          <a:prstGeom prst="roundRect">
            <a:avLst>
              <a:gd name="adj" fmla="val 2427"/>
            </a:avLst>
          </a:prstGeom>
          <a:solidFill>
            <a:srgbClr val="F4F6FA"/>
          </a:solidFill>
          <a:ln w="12700">
            <a:solidFill>
              <a:srgbClr val="D8DEE8"/>
            </a:solidFill>
            <a:prstDash val="solid"/>
          </a:ln>
        </p:spPr>
      </p:sp>
      <p:sp>
        <p:nvSpPr>
          <p:cNvPr id="21" name="Shape 19"/>
          <p:cNvSpPr/>
          <p:nvPr/>
        </p:nvSpPr>
        <p:spPr>
          <a:xfrm>
            <a:off x="896112" y="4187952"/>
            <a:ext cx="384048" cy="384048"/>
          </a:xfrm>
          <a:prstGeom prst="ellipse">
            <a:avLst/>
          </a:prstGeom>
          <a:solidFill>
            <a:srgbClr val="C9A227"/>
          </a:solidFill>
          <a:ln/>
        </p:spPr>
      </p:sp>
      <p:sp>
        <p:nvSpPr>
          <p:cNvPr id="22" name="Text 20"/>
          <p:cNvSpPr txBox="1"/>
          <p:nvPr/>
        </p:nvSpPr>
        <p:spPr>
          <a:xfrm>
            <a:off x="896112" y="422910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4</a:t>
            </a:r>
            <a:endParaRPr lang="en-US" sz="1400" dirty="0"/>
          </a:p>
        </p:txBody>
      </p:sp>
      <p:sp>
        <p:nvSpPr>
          <p:cNvPr id="23" name="Text 21"/>
          <p:cNvSpPr txBox="1"/>
          <p:nvPr/>
        </p:nvSpPr>
        <p:spPr>
          <a:xfrm>
            <a:off x="896112" y="4700016"/>
            <a:ext cx="2930042" cy="512064"/>
          </a:xfrm>
          <a:prstGeom prst="rect">
            <a:avLst/>
          </a:prstGeom>
          <a:noFill/>
          <a:ln/>
        </p:spPr>
        <p:txBody>
          <a:bodyPr wrap="square" lIns="0" tIns="0" rIns="0" bIns="0" rtlCol="0" anchor="ctr"/>
          <a:lstStyle/>
          <a:p>
            <a:pPr indent="0" marL="0">
              <a:lnSpc>
                <a:spcPct val="100000"/>
              </a:lnSpc>
              <a:buNone/>
            </a:pPr>
            <a:r>
              <a:rPr lang="en-US" sz="1450" b="1" dirty="0">
                <a:solidFill>
                  <a:srgbClr val="12233F"/>
                </a:solidFill>
                <a:latin typeface="Cambria" pitchFamily="34" charset="0"/>
                <a:ea typeface="Cambria" pitchFamily="34" charset="-122"/>
                <a:cs typeface="Cambria" pitchFamily="34" charset="-120"/>
              </a:rPr>
              <a:t>Four checks run</a:t>
            </a:r>
            <a:endParaRPr lang="en-US" sz="1450" dirty="0"/>
          </a:p>
        </p:txBody>
      </p:sp>
      <p:sp>
        <p:nvSpPr>
          <p:cNvPr id="24" name="Text 22"/>
          <p:cNvSpPr txBox="1"/>
          <p:nvPr/>
        </p:nvSpPr>
        <p:spPr>
          <a:xfrm>
            <a:off x="896112" y="5193792"/>
            <a:ext cx="2930042" cy="512064"/>
          </a:xfrm>
          <a:prstGeom prst="rect">
            <a:avLst/>
          </a:prstGeom>
          <a:noFill/>
          <a:ln/>
        </p:spPr>
        <p:txBody>
          <a:bodyPr wrap="square" lIns="0" tIns="0" rIns="0" bIns="0" rtlCol="0" anchor="ctr"/>
          <a:lstStyle/>
          <a:p>
            <a:pPr indent="0" marL="0">
              <a:lnSpc>
                <a:spcPct val="106000"/>
              </a:lnSpc>
              <a:buNone/>
            </a:pPr>
            <a:r>
              <a:rPr lang="en-US" sz="1150" dirty="0">
                <a:solidFill>
                  <a:srgbClr val="6B7891"/>
                </a:solidFill>
                <a:latin typeface="Calibri" pitchFamily="34" charset="0"/>
                <a:ea typeface="Calibri" pitchFamily="34" charset="-122"/>
                <a:cs typeface="Calibri" pitchFamily="34" charset="-120"/>
              </a:rPr>
              <a:t>Token current? Session open? Student enrolled? Not already checked in? All four must pass.</a:t>
            </a:r>
            <a:endParaRPr lang="en-US" sz="1150" dirty="0"/>
          </a:p>
        </p:txBody>
      </p:sp>
      <p:sp>
        <p:nvSpPr>
          <p:cNvPr id="25" name="Shape 23"/>
          <p:cNvSpPr/>
          <p:nvPr/>
        </p:nvSpPr>
        <p:spPr>
          <a:xfrm>
            <a:off x="4374794" y="3950208"/>
            <a:ext cx="3442106" cy="1883664"/>
          </a:xfrm>
          <a:prstGeom prst="roundRect">
            <a:avLst>
              <a:gd name="adj" fmla="val 2427"/>
            </a:avLst>
          </a:prstGeom>
          <a:solidFill>
            <a:srgbClr val="F4F6FA"/>
          </a:solidFill>
          <a:ln w="12700">
            <a:solidFill>
              <a:srgbClr val="D8DEE8"/>
            </a:solidFill>
            <a:prstDash val="solid"/>
          </a:ln>
        </p:spPr>
      </p:sp>
      <p:sp>
        <p:nvSpPr>
          <p:cNvPr id="26" name="Shape 24"/>
          <p:cNvSpPr/>
          <p:nvPr/>
        </p:nvSpPr>
        <p:spPr>
          <a:xfrm>
            <a:off x="4630826" y="4187952"/>
            <a:ext cx="384048" cy="384048"/>
          </a:xfrm>
          <a:prstGeom prst="ellipse">
            <a:avLst/>
          </a:prstGeom>
          <a:solidFill>
            <a:srgbClr val="12233F"/>
          </a:solidFill>
          <a:ln/>
        </p:spPr>
      </p:sp>
      <p:sp>
        <p:nvSpPr>
          <p:cNvPr id="27" name="Text 25"/>
          <p:cNvSpPr txBox="1"/>
          <p:nvPr/>
        </p:nvSpPr>
        <p:spPr>
          <a:xfrm>
            <a:off x="4630826" y="422910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5</a:t>
            </a:r>
            <a:endParaRPr lang="en-US" sz="1400" dirty="0"/>
          </a:p>
        </p:txBody>
      </p:sp>
      <p:sp>
        <p:nvSpPr>
          <p:cNvPr id="28" name="Text 26"/>
          <p:cNvSpPr txBox="1"/>
          <p:nvPr/>
        </p:nvSpPr>
        <p:spPr>
          <a:xfrm>
            <a:off x="4630826" y="4700016"/>
            <a:ext cx="2930042" cy="512064"/>
          </a:xfrm>
          <a:prstGeom prst="rect">
            <a:avLst/>
          </a:prstGeom>
          <a:noFill/>
          <a:ln/>
        </p:spPr>
        <p:txBody>
          <a:bodyPr wrap="square" lIns="0" tIns="0" rIns="0" bIns="0" rtlCol="0" anchor="ctr"/>
          <a:lstStyle/>
          <a:p>
            <a:pPr indent="0" marL="0">
              <a:lnSpc>
                <a:spcPct val="100000"/>
              </a:lnSpc>
              <a:buNone/>
            </a:pPr>
            <a:r>
              <a:rPr lang="en-US" sz="1450" b="1" dirty="0">
                <a:solidFill>
                  <a:srgbClr val="12233F"/>
                </a:solidFill>
                <a:latin typeface="Cambria" pitchFamily="34" charset="0"/>
                <a:ea typeface="Cambria" pitchFamily="34" charset="-122"/>
                <a:cs typeface="Cambria" pitchFamily="34" charset="-120"/>
              </a:rPr>
              <a:t>Present or late is decided</a:t>
            </a:r>
            <a:endParaRPr lang="en-US" sz="1450" dirty="0"/>
          </a:p>
        </p:txBody>
      </p:sp>
      <p:sp>
        <p:nvSpPr>
          <p:cNvPr id="29" name="Text 27"/>
          <p:cNvSpPr txBox="1"/>
          <p:nvPr/>
        </p:nvSpPr>
        <p:spPr>
          <a:xfrm>
            <a:off x="4630826" y="5193792"/>
            <a:ext cx="2930042" cy="512064"/>
          </a:xfrm>
          <a:prstGeom prst="rect">
            <a:avLst/>
          </a:prstGeom>
          <a:noFill/>
          <a:ln/>
        </p:spPr>
        <p:txBody>
          <a:bodyPr wrap="square" lIns="0" tIns="0" rIns="0" bIns="0" rtlCol="0" anchor="ctr"/>
          <a:lstStyle/>
          <a:p>
            <a:pPr indent="0" marL="0">
              <a:lnSpc>
                <a:spcPct val="106000"/>
              </a:lnSpc>
              <a:buNone/>
            </a:pPr>
            <a:r>
              <a:rPr lang="en-US" sz="1150" dirty="0">
                <a:solidFill>
                  <a:srgbClr val="6B7891"/>
                </a:solidFill>
                <a:latin typeface="Calibri" pitchFamily="34" charset="0"/>
                <a:ea typeface="Calibri" pitchFamily="34" charset="-122"/>
                <a:cs typeface="Calibri" pitchFamily="34" charset="-120"/>
              </a:rPr>
              <a:t>Arriving more than 15 minutes after the start time is recorded as late rather than present.</a:t>
            </a:r>
            <a:endParaRPr lang="en-US" sz="1150" dirty="0"/>
          </a:p>
        </p:txBody>
      </p:sp>
      <p:sp>
        <p:nvSpPr>
          <p:cNvPr id="30" name="Shape 28"/>
          <p:cNvSpPr/>
          <p:nvPr/>
        </p:nvSpPr>
        <p:spPr>
          <a:xfrm>
            <a:off x="8109509" y="3950208"/>
            <a:ext cx="3442106" cy="1883664"/>
          </a:xfrm>
          <a:prstGeom prst="roundRect">
            <a:avLst>
              <a:gd name="adj" fmla="val 2427"/>
            </a:avLst>
          </a:prstGeom>
          <a:solidFill>
            <a:srgbClr val="F4F6FA"/>
          </a:solidFill>
          <a:ln w="12700">
            <a:solidFill>
              <a:srgbClr val="D8DEE8"/>
            </a:solidFill>
            <a:prstDash val="solid"/>
          </a:ln>
        </p:spPr>
      </p:sp>
      <p:sp>
        <p:nvSpPr>
          <p:cNvPr id="31" name="Shape 29"/>
          <p:cNvSpPr/>
          <p:nvPr/>
        </p:nvSpPr>
        <p:spPr>
          <a:xfrm>
            <a:off x="8365541" y="4187952"/>
            <a:ext cx="384048" cy="384048"/>
          </a:xfrm>
          <a:prstGeom prst="ellipse">
            <a:avLst/>
          </a:prstGeom>
          <a:solidFill>
            <a:srgbClr val="12233F"/>
          </a:solidFill>
          <a:ln/>
        </p:spPr>
      </p:sp>
      <p:sp>
        <p:nvSpPr>
          <p:cNvPr id="32" name="Text 30"/>
          <p:cNvSpPr txBox="1"/>
          <p:nvPr/>
        </p:nvSpPr>
        <p:spPr>
          <a:xfrm>
            <a:off x="8365541" y="4229100"/>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6</a:t>
            </a:r>
            <a:endParaRPr lang="en-US" sz="1400" dirty="0"/>
          </a:p>
        </p:txBody>
      </p:sp>
      <p:sp>
        <p:nvSpPr>
          <p:cNvPr id="33" name="Text 31"/>
          <p:cNvSpPr txBox="1"/>
          <p:nvPr/>
        </p:nvSpPr>
        <p:spPr>
          <a:xfrm>
            <a:off x="8365541" y="4700016"/>
            <a:ext cx="2930042" cy="512064"/>
          </a:xfrm>
          <a:prstGeom prst="rect">
            <a:avLst/>
          </a:prstGeom>
          <a:noFill/>
          <a:ln/>
        </p:spPr>
        <p:txBody>
          <a:bodyPr wrap="square" lIns="0" tIns="0" rIns="0" bIns="0" rtlCol="0" anchor="ctr"/>
          <a:lstStyle/>
          <a:p>
            <a:pPr indent="0" marL="0">
              <a:lnSpc>
                <a:spcPct val="100000"/>
              </a:lnSpc>
              <a:buNone/>
            </a:pPr>
            <a:r>
              <a:rPr lang="en-US" sz="1450" b="1" dirty="0">
                <a:solidFill>
                  <a:srgbClr val="12233F"/>
                </a:solidFill>
                <a:latin typeface="Cambria" pitchFamily="34" charset="0"/>
                <a:ea typeface="Cambria" pitchFamily="34" charset="-122"/>
                <a:cs typeface="Cambria" pitchFamily="34" charset="-120"/>
              </a:rPr>
              <a:t>Lecturer closes the register</a:t>
            </a:r>
            <a:endParaRPr lang="en-US" sz="1450" dirty="0"/>
          </a:p>
        </p:txBody>
      </p:sp>
      <p:sp>
        <p:nvSpPr>
          <p:cNvPr id="34" name="Text 32"/>
          <p:cNvSpPr txBox="1"/>
          <p:nvPr/>
        </p:nvSpPr>
        <p:spPr>
          <a:xfrm>
            <a:off x="8365541" y="5193792"/>
            <a:ext cx="2930042" cy="512064"/>
          </a:xfrm>
          <a:prstGeom prst="rect">
            <a:avLst/>
          </a:prstGeom>
          <a:noFill/>
          <a:ln/>
        </p:spPr>
        <p:txBody>
          <a:bodyPr wrap="square" lIns="0" tIns="0" rIns="0" bIns="0" rtlCol="0" anchor="ctr"/>
          <a:lstStyle/>
          <a:p>
            <a:pPr indent="0" marL="0">
              <a:lnSpc>
                <a:spcPct val="106000"/>
              </a:lnSpc>
              <a:buNone/>
            </a:pPr>
            <a:r>
              <a:rPr lang="en-US" sz="1150" dirty="0">
                <a:solidFill>
                  <a:srgbClr val="6B7891"/>
                </a:solidFill>
                <a:latin typeface="Calibri" pitchFamily="34" charset="0"/>
                <a:ea typeface="Calibri" pitchFamily="34" charset="-122"/>
                <a:cs typeface="Calibri" pitchFamily="34" charset="-120"/>
              </a:rPr>
              <a:t>Everyone still unmarked is recorded absent in a single statement, and the code is retired.</a:t>
            </a:r>
            <a:endParaRPr lang="en-US" sz="1150" dirty="0"/>
          </a:p>
        </p:txBody>
      </p:sp>
      <p:sp>
        <p:nvSpPr>
          <p:cNvPr id="35" name="Text 33"/>
          <p:cNvSpPr txBox="1"/>
          <p:nvPr/>
        </p:nvSpPr>
        <p:spPr>
          <a:xfrm>
            <a:off x="640080" y="5888736"/>
            <a:ext cx="10911535" cy="365760"/>
          </a:xfrm>
          <a:prstGeom prst="rect">
            <a:avLst/>
          </a:prstGeom>
          <a:noFill/>
          <a:ln/>
        </p:spPr>
        <p:txBody>
          <a:bodyPr wrap="square" lIns="0" tIns="0" rIns="0" bIns="0" rtlCol="0" anchor="ctr"/>
          <a:lstStyle/>
          <a:p>
            <a:pPr indent="0" marL="0">
              <a:buNone/>
            </a:pPr>
            <a:r>
              <a:rPr lang="en-US" sz="1300" i="1" dirty="0">
                <a:solidFill>
                  <a:srgbClr val="12233F"/>
                </a:solidFill>
                <a:latin typeface="Calibri" pitchFamily="34" charset="0"/>
                <a:ea typeface="Calibri" pitchFamily="34" charset="-122"/>
                <a:cs typeface="Calibri" pitchFamily="34" charset="-120"/>
              </a:rPr>
              <a:t>A student with no working camera types the 6-character code instead. Same service, same four checks, same result.</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2233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9</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obvious version does not work</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A9B7CE"/>
                </a:solidFill>
                <a:latin typeface="Calibri" pitchFamily="34" charset="0"/>
                <a:ea typeface="Calibri" pitchFamily="34" charset="-122"/>
                <a:cs typeface="Calibri" pitchFamily="34" charset="-120"/>
              </a:rPr>
              <a:t>A static QR code defeats itself the first time a student photographs it.</a:t>
            </a:r>
            <a:endParaRPr lang="en-US" sz="1400" dirty="0"/>
          </a:p>
        </p:txBody>
      </p:sp>
      <p:sp>
        <p:nvSpPr>
          <p:cNvPr id="5" name="Shape 3"/>
          <p:cNvSpPr/>
          <p:nvPr/>
        </p:nvSpPr>
        <p:spPr>
          <a:xfrm>
            <a:off x="640080" y="1773936"/>
            <a:ext cx="5227168" cy="1828800"/>
          </a:xfrm>
          <a:prstGeom prst="roundRect">
            <a:avLst>
              <a:gd name="adj" fmla="val 3000"/>
            </a:avLst>
          </a:prstGeom>
          <a:solidFill>
            <a:srgbClr val="2A1F26"/>
          </a:solidFill>
          <a:ln w="12700">
            <a:solidFill>
              <a:srgbClr val="6E3A38"/>
            </a:solidFill>
            <a:prstDash val="solid"/>
          </a:ln>
        </p:spPr>
      </p:sp>
      <p:sp>
        <p:nvSpPr>
          <p:cNvPr id="6" name="Text 4"/>
          <p:cNvSpPr txBox="1"/>
          <p:nvPr/>
        </p:nvSpPr>
        <p:spPr>
          <a:xfrm>
            <a:off x="932688" y="2011680"/>
            <a:ext cx="4641952" cy="237744"/>
          </a:xfrm>
          <a:prstGeom prst="rect">
            <a:avLst/>
          </a:prstGeom>
          <a:noFill/>
          <a:ln/>
        </p:spPr>
        <p:txBody>
          <a:bodyPr wrap="square" lIns="0" tIns="0" rIns="0" bIns="0" rtlCol="0" anchor="ctr"/>
          <a:lstStyle/>
          <a:p>
            <a:pPr indent="0" marL="0">
              <a:buNone/>
            </a:pPr>
            <a:r>
              <a:rPr lang="en-US" sz="1000" b="1" spc="160" kern="0" dirty="0">
                <a:solidFill>
                  <a:srgbClr val="E8908A"/>
                </a:solidFill>
                <a:latin typeface="Calibri" pitchFamily="34" charset="0"/>
                <a:ea typeface="Calibri" pitchFamily="34" charset="-122"/>
                <a:cs typeface="Calibri" pitchFamily="34" charset="-120"/>
              </a:rPr>
              <a:t>ONE CODE PER SESSION</a:t>
            </a:r>
            <a:endParaRPr lang="en-US" sz="1000" dirty="0"/>
          </a:p>
        </p:txBody>
      </p:sp>
      <p:sp>
        <p:nvSpPr>
          <p:cNvPr id="7" name="Text 5"/>
          <p:cNvSpPr txBox="1"/>
          <p:nvPr/>
        </p:nvSpPr>
        <p:spPr>
          <a:xfrm>
            <a:off x="932688" y="2322576"/>
            <a:ext cx="4641952"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Photograph it, send it to a friend.</a:t>
            </a:r>
            <a:endParaRPr lang="en-US" sz="1700" dirty="0"/>
          </a:p>
        </p:txBody>
      </p:sp>
      <p:sp>
        <p:nvSpPr>
          <p:cNvPr id="8" name="Text 6"/>
          <p:cNvSpPr txBox="1"/>
          <p:nvPr/>
        </p:nvSpPr>
        <p:spPr>
          <a:xfrm>
            <a:off x="932688" y="2743200"/>
            <a:ext cx="4641952" cy="731520"/>
          </a:xfrm>
          <a:prstGeom prst="rect">
            <a:avLst/>
          </a:prstGeom>
          <a:noFill/>
          <a:ln/>
        </p:spPr>
        <p:txBody>
          <a:bodyPr wrap="square" lIns="0" tIns="0" rIns="0" bIns="0" rtlCol="0" anchor="ctr"/>
          <a:lstStyle/>
          <a:p>
            <a:pPr indent="0" marL="0">
              <a:lnSpc>
                <a:spcPct val="114000"/>
              </a:lnSpc>
              <a:buNone/>
            </a:pPr>
            <a:r>
              <a:rPr lang="en-US" sz="1200" dirty="0">
                <a:solidFill>
                  <a:srgbClr val="C9A9A6"/>
                </a:solidFill>
                <a:latin typeface="Calibri" pitchFamily="34" charset="0"/>
                <a:ea typeface="Calibri" pitchFamily="34" charset="-122"/>
                <a:cs typeface="Calibri" pitchFamily="34" charset="-120"/>
              </a:rPr>
              <a:t>The first student to arrive can mark the entire class present, from anywhere. The system has now recorded a lie, and it looks exactly like the truth.</a:t>
            </a:r>
            <a:endParaRPr lang="en-US" sz="1200" dirty="0"/>
          </a:p>
        </p:txBody>
      </p:sp>
      <p:sp>
        <p:nvSpPr>
          <p:cNvPr id="9" name="Shape 7"/>
          <p:cNvSpPr/>
          <p:nvPr/>
        </p:nvSpPr>
        <p:spPr>
          <a:xfrm>
            <a:off x="6324448" y="1773936"/>
            <a:ext cx="5227168" cy="1828800"/>
          </a:xfrm>
          <a:prstGeom prst="roundRect">
            <a:avLst>
              <a:gd name="adj" fmla="val 3000"/>
            </a:avLst>
          </a:prstGeom>
          <a:solidFill>
            <a:srgbClr val="172E22"/>
          </a:solidFill>
          <a:ln w="12700">
            <a:solidFill>
              <a:srgbClr val="2F6B47"/>
            </a:solidFill>
            <a:prstDash val="solid"/>
          </a:ln>
        </p:spPr>
      </p:sp>
      <p:sp>
        <p:nvSpPr>
          <p:cNvPr id="10" name="Text 8"/>
          <p:cNvSpPr txBox="1"/>
          <p:nvPr/>
        </p:nvSpPr>
        <p:spPr>
          <a:xfrm>
            <a:off x="6617056" y="2011680"/>
            <a:ext cx="4641952" cy="237744"/>
          </a:xfrm>
          <a:prstGeom prst="rect">
            <a:avLst/>
          </a:prstGeom>
          <a:noFill/>
          <a:ln/>
        </p:spPr>
        <p:txBody>
          <a:bodyPr wrap="square" lIns="0" tIns="0" rIns="0" bIns="0" rtlCol="0" anchor="ctr"/>
          <a:lstStyle/>
          <a:p>
            <a:pPr indent="0" marL="0">
              <a:buNone/>
            </a:pPr>
            <a:r>
              <a:rPr lang="en-US" sz="1000" b="1" spc="160" kern="0" dirty="0">
                <a:solidFill>
                  <a:srgbClr val="7FD1A0"/>
                </a:solidFill>
                <a:latin typeface="Calibri" pitchFamily="34" charset="0"/>
                <a:ea typeface="Calibri" pitchFamily="34" charset="-122"/>
                <a:cs typeface="Calibri" pitchFamily="34" charset="-120"/>
              </a:rPr>
              <a:t>A ROTATING TOKEN</a:t>
            </a:r>
            <a:endParaRPr lang="en-US" sz="1000" dirty="0"/>
          </a:p>
        </p:txBody>
      </p:sp>
      <p:sp>
        <p:nvSpPr>
          <p:cNvPr id="11" name="Text 9"/>
          <p:cNvSpPr txBox="1"/>
          <p:nvPr/>
        </p:nvSpPr>
        <p:spPr>
          <a:xfrm>
            <a:off x="6617056" y="2322576"/>
            <a:ext cx="4641952" cy="347472"/>
          </a:xfrm>
          <a:prstGeom prst="rect">
            <a:avLst/>
          </a:prstGeom>
          <a:noFill/>
          <a:ln/>
        </p:spPr>
        <p:txBody>
          <a:bodyPr wrap="square" lIns="0" tIns="0" rIns="0" bIns="0" rtlCol="0" anchor="ctr"/>
          <a:lstStyle/>
          <a:p>
            <a:pPr indent="0" marL="0">
              <a:buNone/>
            </a:pPr>
            <a:r>
              <a:rPr lang="en-US" sz="1700" b="1" dirty="0">
                <a:solidFill>
                  <a:srgbClr val="FFFFFF"/>
                </a:solidFill>
                <a:latin typeface="Cambria" pitchFamily="34" charset="0"/>
                <a:ea typeface="Cambria" pitchFamily="34" charset="-122"/>
                <a:cs typeface="Cambria" pitchFamily="34" charset="-120"/>
              </a:rPr>
              <a:t>The photograph expires in 60 seconds.</a:t>
            </a:r>
            <a:endParaRPr lang="en-US" sz="1700" dirty="0"/>
          </a:p>
        </p:txBody>
      </p:sp>
      <p:sp>
        <p:nvSpPr>
          <p:cNvPr id="12" name="Text 10"/>
          <p:cNvSpPr txBox="1"/>
          <p:nvPr/>
        </p:nvSpPr>
        <p:spPr>
          <a:xfrm>
            <a:off x="6617056" y="2743200"/>
            <a:ext cx="4641952" cy="731520"/>
          </a:xfrm>
          <a:prstGeom prst="rect">
            <a:avLst/>
          </a:prstGeom>
          <a:noFill/>
          <a:ln/>
        </p:spPr>
        <p:txBody>
          <a:bodyPr wrap="square" lIns="0" tIns="0" rIns="0" bIns="0" rtlCol="0" anchor="ctr"/>
          <a:lstStyle/>
          <a:p>
            <a:pPr indent="0" marL="0">
              <a:lnSpc>
                <a:spcPct val="114000"/>
              </a:lnSpc>
              <a:buNone/>
            </a:pPr>
            <a:r>
              <a:rPr lang="en-US" sz="1200" dirty="0">
                <a:solidFill>
                  <a:srgbClr val="A8C7B4"/>
                </a:solidFill>
                <a:latin typeface="Calibri" pitchFamily="34" charset="0"/>
                <a:ea typeface="Calibri" pitchFamily="34" charset="-122"/>
                <a:cs typeface="Calibri" pitchFamily="34" charset="-120"/>
              </a:rPr>
              <a:t>The projected page mints a new token every 45 seconds and the old one stops working. By the time a screenshot reaches anyone, it is already worthless.</a:t>
            </a:r>
            <a:endParaRPr lang="en-US" sz="1200" dirty="0"/>
          </a:p>
        </p:txBody>
      </p:sp>
      <p:sp>
        <p:nvSpPr>
          <p:cNvPr id="13" name="Text 11"/>
          <p:cNvSpPr txBox="1"/>
          <p:nvPr/>
        </p:nvSpPr>
        <p:spPr>
          <a:xfrm>
            <a:off x="640080" y="3913632"/>
            <a:ext cx="4572000" cy="237744"/>
          </a:xfrm>
          <a:prstGeom prst="rect">
            <a:avLst/>
          </a:prstGeom>
          <a:noFill/>
          <a:ln/>
        </p:spPr>
        <p:txBody>
          <a:bodyPr wrap="square" lIns="0" tIns="0" rIns="0" bIns="0" rtlCol="0" anchor="ctr"/>
          <a:lstStyle/>
          <a:p>
            <a:pPr indent="0" marL="0">
              <a:buNone/>
            </a:pPr>
            <a:r>
              <a:rPr lang="en-US" sz="1000" b="1" spc="160" kern="0" dirty="0">
                <a:solidFill>
                  <a:srgbClr val="C9A227"/>
                </a:solidFill>
                <a:latin typeface="Calibri" pitchFamily="34" charset="0"/>
                <a:ea typeface="Calibri" pitchFamily="34" charset="-122"/>
                <a:cs typeface="Calibri" pitchFamily="34" charset="-120"/>
              </a:rPr>
              <a:t>WHAT THE PROJECTOR SHOWS</a:t>
            </a:r>
            <a:endParaRPr lang="en-US" sz="1000" dirty="0"/>
          </a:p>
        </p:txBody>
      </p:sp>
      <p:sp>
        <p:nvSpPr>
          <p:cNvPr id="14" name="Shape 12"/>
          <p:cNvSpPr/>
          <p:nvPr/>
        </p:nvSpPr>
        <p:spPr>
          <a:xfrm>
            <a:off x="640080" y="4261104"/>
            <a:ext cx="1810512" cy="603504"/>
          </a:xfrm>
          <a:prstGeom prst="roundRect">
            <a:avLst>
              <a:gd name="adj" fmla="val 7576"/>
            </a:avLst>
          </a:prstGeom>
          <a:solidFill>
            <a:srgbClr val="16283F"/>
          </a:solidFill>
          <a:ln w="12700">
            <a:solidFill>
              <a:srgbClr val="2C4574"/>
            </a:solidFill>
            <a:prstDash val="solid"/>
          </a:ln>
        </p:spPr>
      </p:sp>
      <p:sp>
        <p:nvSpPr>
          <p:cNvPr id="15" name="Text 13"/>
          <p:cNvSpPr txBox="1"/>
          <p:nvPr/>
        </p:nvSpPr>
        <p:spPr>
          <a:xfrm>
            <a:off x="694944" y="4379976"/>
            <a:ext cx="1700784" cy="329184"/>
          </a:xfrm>
          <a:prstGeom prst="rect">
            <a:avLst/>
          </a:prstGeom>
          <a:noFill/>
          <a:ln/>
        </p:spPr>
        <p:txBody>
          <a:bodyPr wrap="square" lIns="0" tIns="0" rIns="0" bIns="0" rtlCol="0" anchor="ctr"/>
          <a:lstStyle/>
          <a:p>
            <a:pPr algn="ctr" indent="0" marL="0">
              <a:buNone/>
            </a:pPr>
            <a:r>
              <a:rPr lang="en-US" sz="1600" b="1" dirty="0">
                <a:solidFill>
                  <a:srgbClr val="8095B4"/>
                </a:solidFill>
                <a:latin typeface="Courier New" pitchFamily="34" charset="0"/>
                <a:ea typeface="Courier New" pitchFamily="34" charset="-122"/>
                <a:cs typeface="Courier New" pitchFamily="34" charset="-120"/>
              </a:rPr>
              <a:t>UFV365</a:t>
            </a:r>
            <a:endParaRPr lang="en-US" sz="1600" dirty="0"/>
          </a:p>
        </p:txBody>
      </p:sp>
      <p:sp>
        <p:nvSpPr>
          <p:cNvPr id="16" name="Text 14"/>
          <p:cNvSpPr txBox="1"/>
          <p:nvPr/>
        </p:nvSpPr>
        <p:spPr>
          <a:xfrm>
            <a:off x="694944" y="4901184"/>
            <a:ext cx="1700784" cy="237744"/>
          </a:xfrm>
          <a:prstGeom prst="rect">
            <a:avLst/>
          </a:prstGeom>
          <a:noFill/>
          <a:ln/>
        </p:spPr>
        <p:txBody>
          <a:bodyPr wrap="square" lIns="0" tIns="0" rIns="0" bIns="0" rtlCol="0" anchor="ctr"/>
          <a:lstStyle/>
          <a:p>
            <a:pPr algn="ctr" indent="0" marL="0">
              <a:buNone/>
            </a:pPr>
            <a:r>
              <a:rPr lang="en-US" sz="950" dirty="0">
                <a:solidFill>
                  <a:srgbClr val="5B6B85"/>
                </a:solidFill>
                <a:latin typeface="Calibri" pitchFamily="34" charset="0"/>
                <a:ea typeface="Calibri" pitchFamily="34" charset="-122"/>
                <a:cs typeface="Calibri" pitchFamily="34" charset="-120"/>
              </a:rPr>
              <a:t>expired 135s ago</a:t>
            </a:r>
            <a:endParaRPr lang="en-US" sz="950" dirty="0"/>
          </a:p>
        </p:txBody>
      </p:sp>
      <p:sp>
        <p:nvSpPr>
          <p:cNvPr id="17" name="Shape 15"/>
          <p:cNvSpPr/>
          <p:nvPr/>
        </p:nvSpPr>
        <p:spPr>
          <a:xfrm>
            <a:off x="2450592" y="4562856"/>
            <a:ext cx="329184" cy="0"/>
          </a:xfrm>
          <a:prstGeom prst="line">
            <a:avLst/>
          </a:prstGeom>
          <a:noFill/>
          <a:ln w="15875">
            <a:solidFill>
              <a:srgbClr val="3B537A"/>
            </a:solidFill>
            <a:prstDash val="solid"/>
            <a:tailEnd type="triangle"/>
          </a:ln>
        </p:spPr>
      </p:sp>
      <p:sp>
        <p:nvSpPr>
          <p:cNvPr id="18" name="Shape 16"/>
          <p:cNvSpPr/>
          <p:nvPr/>
        </p:nvSpPr>
        <p:spPr>
          <a:xfrm>
            <a:off x="2779776" y="4261104"/>
            <a:ext cx="1810512" cy="603504"/>
          </a:xfrm>
          <a:prstGeom prst="roundRect">
            <a:avLst>
              <a:gd name="adj" fmla="val 7576"/>
            </a:avLst>
          </a:prstGeom>
          <a:solidFill>
            <a:srgbClr val="16283F"/>
          </a:solidFill>
          <a:ln w="12700">
            <a:solidFill>
              <a:srgbClr val="2C4574"/>
            </a:solidFill>
            <a:prstDash val="solid"/>
          </a:ln>
        </p:spPr>
      </p:sp>
      <p:sp>
        <p:nvSpPr>
          <p:cNvPr id="19" name="Text 17"/>
          <p:cNvSpPr txBox="1"/>
          <p:nvPr/>
        </p:nvSpPr>
        <p:spPr>
          <a:xfrm>
            <a:off x="2834640" y="4379976"/>
            <a:ext cx="1700784" cy="329184"/>
          </a:xfrm>
          <a:prstGeom prst="rect">
            <a:avLst/>
          </a:prstGeom>
          <a:noFill/>
          <a:ln/>
        </p:spPr>
        <p:txBody>
          <a:bodyPr wrap="square" lIns="0" tIns="0" rIns="0" bIns="0" rtlCol="0" anchor="ctr"/>
          <a:lstStyle/>
          <a:p>
            <a:pPr algn="ctr" indent="0" marL="0">
              <a:buNone/>
            </a:pPr>
            <a:r>
              <a:rPr lang="en-US" sz="1600" b="1" dirty="0">
                <a:solidFill>
                  <a:srgbClr val="8095B4"/>
                </a:solidFill>
                <a:latin typeface="Courier New" pitchFamily="34" charset="0"/>
                <a:ea typeface="Courier New" pitchFamily="34" charset="-122"/>
                <a:cs typeface="Courier New" pitchFamily="34" charset="-120"/>
              </a:rPr>
              <a:t>K92QHT</a:t>
            </a:r>
            <a:endParaRPr lang="en-US" sz="1600" dirty="0"/>
          </a:p>
        </p:txBody>
      </p:sp>
      <p:sp>
        <p:nvSpPr>
          <p:cNvPr id="20" name="Text 18"/>
          <p:cNvSpPr txBox="1"/>
          <p:nvPr/>
        </p:nvSpPr>
        <p:spPr>
          <a:xfrm>
            <a:off x="2834640" y="4901184"/>
            <a:ext cx="1700784" cy="237744"/>
          </a:xfrm>
          <a:prstGeom prst="rect">
            <a:avLst/>
          </a:prstGeom>
          <a:noFill/>
          <a:ln/>
        </p:spPr>
        <p:txBody>
          <a:bodyPr wrap="square" lIns="0" tIns="0" rIns="0" bIns="0" rtlCol="0" anchor="ctr"/>
          <a:lstStyle/>
          <a:p>
            <a:pPr algn="ctr" indent="0" marL="0">
              <a:buNone/>
            </a:pPr>
            <a:r>
              <a:rPr lang="en-US" sz="950" dirty="0">
                <a:solidFill>
                  <a:srgbClr val="5B6B85"/>
                </a:solidFill>
                <a:latin typeface="Calibri" pitchFamily="34" charset="0"/>
                <a:ea typeface="Calibri" pitchFamily="34" charset="-122"/>
                <a:cs typeface="Calibri" pitchFamily="34" charset="-120"/>
              </a:rPr>
              <a:t>expired 90s ago</a:t>
            </a:r>
            <a:endParaRPr lang="en-US" sz="950" dirty="0"/>
          </a:p>
        </p:txBody>
      </p:sp>
      <p:sp>
        <p:nvSpPr>
          <p:cNvPr id="21" name="Shape 19"/>
          <p:cNvSpPr/>
          <p:nvPr/>
        </p:nvSpPr>
        <p:spPr>
          <a:xfrm>
            <a:off x="4590288" y="4562856"/>
            <a:ext cx="329184" cy="0"/>
          </a:xfrm>
          <a:prstGeom prst="line">
            <a:avLst/>
          </a:prstGeom>
          <a:noFill/>
          <a:ln w="15875">
            <a:solidFill>
              <a:srgbClr val="3B537A"/>
            </a:solidFill>
            <a:prstDash val="solid"/>
            <a:tailEnd type="triangle"/>
          </a:ln>
        </p:spPr>
      </p:sp>
      <p:sp>
        <p:nvSpPr>
          <p:cNvPr id="22" name="Shape 20"/>
          <p:cNvSpPr/>
          <p:nvPr/>
        </p:nvSpPr>
        <p:spPr>
          <a:xfrm>
            <a:off x="4919472" y="4261104"/>
            <a:ext cx="1810512" cy="603504"/>
          </a:xfrm>
          <a:prstGeom prst="roundRect">
            <a:avLst>
              <a:gd name="adj" fmla="val 7576"/>
            </a:avLst>
          </a:prstGeom>
          <a:solidFill>
            <a:srgbClr val="16283F"/>
          </a:solidFill>
          <a:ln w="12700">
            <a:solidFill>
              <a:srgbClr val="2C4574"/>
            </a:solidFill>
            <a:prstDash val="solid"/>
          </a:ln>
        </p:spPr>
      </p:sp>
      <p:sp>
        <p:nvSpPr>
          <p:cNvPr id="23" name="Text 21"/>
          <p:cNvSpPr txBox="1"/>
          <p:nvPr/>
        </p:nvSpPr>
        <p:spPr>
          <a:xfrm>
            <a:off x="4974336" y="4379976"/>
            <a:ext cx="1700784" cy="329184"/>
          </a:xfrm>
          <a:prstGeom prst="rect">
            <a:avLst/>
          </a:prstGeom>
          <a:noFill/>
          <a:ln/>
        </p:spPr>
        <p:txBody>
          <a:bodyPr wrap="square" lIns="0" tIns="0" rIns="0" bIns="0" rtlCol="0" anchor="ctr"/>
          <a:lstStyle/>
          <a:p>
            <a:pPr algn="ctr" indent="0" marL="0">
              <a:buNone/>
            </a:pPr>
            <a:r>
              <a:rPr lang="en-US" sz="1600" b="1" dirty="0">
                <a:solidFill>
                  <a:srgbClr val="8095B4"/>
                </a:solidFill>
                <a:latin typeface="Courier New" pitchFamily="34" charset="0"/>
                <a:ea typeface="Courier New" pitchFamily="34" charset="-122"/>
                <a:cs typeface="Courier New" pitchFamily="34" charset="-120"/>
              </a:rPr>
              <a:t>B4XMPD</a:t>
            </a:r>
            <a:endParaRPr lang="en-US" sz="1600" dirty="0"/>
          </a:p>
        </p:txBody>
      </p:sp>
      <p:sp>
        <p:nvSpPr>
          <p:cNvPr id="24" name="Text 22"/>
          <p:cNvSpPr txBox="1"/>
          <p:nvPr/>
        </p:nvSpPr>
        <p:spPr>
          <a:xfrm>
            <a:off x="4974336" y="4901184"/>
            <a:ext cx="1700784" cy="237744"/>
          </a:xfrm>
          <a:prstGeom prst="rect">
            <a:avLst/>
          </a:prstGeom>
          <a:noFill/>
          <a:ln/>
        </p:spPr>
        <p:txBody>
          <a:bodyPr wrap="square" lIns="0" tIns="0" rIns="0" bIns="0" rtlCol="0" anchor="ctr"/>
          <a:lstStyle/>
          <a:p>
            <a:pPr algn="ctr" indent="0" marL="0">
              <a:buNone/>
            </a:pPr>
            <a:r>
              <a:rPr lang="en-US" sz="950" dirty="0">
                <a:solidFill>
                  <a:srgbClr val="5B6B85"/>
                </a:solidFill>
                <a:latin typeface="Calibri" pitchFamily="34" charset="0"/>
                <a:ea typeface="Calibri" pitchFamily="34" charset="-122"/>
                <a:cs typeface="Calibri" pitchFamily="34" charset="-120"/>
              </a:rPr>
              <a:t>expired 45s ago</a:t>
            </a:r>
            <a:endParaRPr lang="en-US" sz="950" dirty="0"/>
          </a:p>
        </p:txBody>
      </p:sp>
      <p:sp>
        <p:nvSpPr>
          <p:cNvPr id="25" name="Shape 23"/>
          <p:cNvSpPr/>
          <p:nvPr/>
        </p:nvSpPr>
        <p:spPr>
          <a:xfrm>
            <a:off x="6729984" y="4562856"/>
            <a:ext cx="329184" cy="0"/>
          </a:xfrm>
          <a:prstGeom prst="line">
            <a:avLst/>
          </a:prstGeom>
          <a:noFill/>
          <a:ln w="15875">
            <a:solidFill>
              <a:srgbClr val="3B537A"/>
            </a:solidFill>
            <a:prstDash val="solid"/>
            <a:tailEnd type="triangle"/>
          </a:ln>
        </p:spPr>
      </p:sp>
      <p:sp>
        <p:nvSpPr>
          <p:cNvPr id="26" name="Shape 24"/>
          <p:cNvSpPr/>
          <p:nvPr/>
        </p:nvSpPr>
        <p:spPr>
          <a:xfrm>
            <a:off x="7059168" y="4261104"/>
            <a:ext cx="1810512" cy="603504"/>
          </a:xfrm>
          <a:prstGeom prst="roundRect">
            <a:avLst>
              <a:gd name="adj" fmla="val 7576"/>
            </a:avLst>
          </a:prstGeom>
          <a:solidFill>
            <a:srgbClr val="1B3157"/>
          </a:solidFill>
          <a:ln w="19050">
            <a:solidFill>
              <a:srgbClr val="C9A227"/>
            </a:solidFill>
            <a:prstDash val="solid"/>
          </a:ln>
        </p:spPr>
      </p:sp>
      <p:sp>
        <p:nvSpPr>
          <p:cNvPr id="27" name="Text 25"/>
          <p:cNvSpPr txBox="1"/>
          <p:nvPr/>
        </p:nvSpPr>
        <p:spPr>
          <a:xfrm>
            <a:off x="7114032" y="4379976"/>
            <a:ext cx="1700784" cy="329184"/>
          </a:xfrm>
          <a:prstGeom prst="rect">
            <a:avLst/>
          </a:prstGeom>
          <a:noFill/>
          <a:ln/>
        </p:spPr>
        <p:txBody>
          <a:bodyPr wrap="square" lIns="0" tIns="0" rIns="0" bIns="0" rtlCol="0" anchor="ctr"/>
          <a:lstStyle/>
          <a:p>
            <a:pPr algn="ctr" indent="0" marL="0">
              <a:buNone/>
            </a:pPr>
            <a:r>
              <a:rPr lang="en-US" sz="1600" b="1" dirty="0">
                <a:solidFill>
                  <a:srgbClr val="C9A227"/>
                </a:solidFill>
                <a:latin typeface="Courier New" pitchFamily="34" charset="0"/>
                <a:ea typeface="Courier New" pitchFamily="34" charset="-122"/>
                <a:cs typeface="Courier New" pitchFamily="34" charset="-120"/>
              </a:rPr>
              <a:t>R7TJW2</a:t>
            </a:r>
            <a:endParaRPr lang="en-US" sz="1600" dirty="0"/>
          </a:p>
        </p:txBody>
      </p:sp>
      <p:sp>
        <p:nvSpPr>
          <p:cNvPr id="28" name="Text 26"/>
          <p:cNvSpPr txBox="1"/>
          <p:nvPr/>
        </p:nvSpPr>
        <p:spPr>
          <a:xfrm>
            <a:off x="7114032" y="4901184"/>
            <a:ext cx="1700784" cy="237744"/>
          </a:xfrm>
          <a:prstGeom prst="rect">
            <a:avLst/>
          </a:prstGeom>
          <a:noFill/>
          <a:ln/>
        </p:spPr>
        <p:txBody>
          <a:bodyPr wrap="square" lIns="0" tIns="0" rIns="0" bIns="0" rtlCol="0" anchor="ctr"/>
          <a:lstStyle/>
          <a:p>
            <a:pPr algn="ctr" indent="0" marL="0">
              <a:buNone/>
            </a:pPr>
            <a:r>
              <a:rPr lang="en-US" sz="950" dirty="0">
                <a:solidFill>
                  <a:srgbClr val="7FD1A0"/>
                </a:solidFill>
                <a:latin typeface="Calibri" pitchFamily="34" charset="0"/>
                <a:ea typeface="Calibri" pitchFamily="34" charset="-122"/>
                <a:cs typeface="Calibri" pitchFamily="34" charset="-120"/>
              </a:rPr>
              <a:t>live now</a:t>
            </a:r>
            <a:endParaRPr lang="en-US" sz="950" dirty="0"/>
          </a:p>
        </p:txBody>
      </p:sp>
      <p:sp>
        <p:nvSpPr>
          <p:cNvPr id="29" name="Text 27"/>
          <p:cNvSpPr txBox="1"/>
          <p:nvPr/>
        </p:nvSpPr>
        <p:spPr>
          <a:xfrm>
            <a:off x="640080" y="5431536"/>
            <a:ext cx="10911535" cy="457200"/>
          </a:xfrm>
          <a:prstGeom prst="rect">
            <a:avLst/>
          </a:prstGeom>
          <a:noFill/>
          <a:ln/>
        </p:spPr>
        <p:txBody>
          <a:bodyPr wrap="square" lIns="0" tIns="0" rIns="0" bIns="0" rtlCol="0" anchor="ctr"/>
          <a:lstStyle/>
          <a:p>
            <a:pPr indent="0" marL="0">
              <a:lnSpc>
                <a:spcPct val="110000"/>
              </a:lnSpc>
              <a:buNone/>
            </a:pPr>
            <a:r>
              <a:rPr lang="en-US" sz="1250" i="1" dirty="0">
                <a:solidFill>
                  <a:srgbClr val="9DAAC2"/>
                </a:solidFill>
                <a:latin typeface="Calibri" pitchFamily="34" charset="0"/>
                <a:ea typeface="Calibri" pitchFamily="34" charset="-122"/>
                <a:cs typeface="Calibri" pitchFamily="34" charset="-120"/>
              </a:rPr>
              <a:t>The trade-off I accepted: a scan landing exactly on a rotation is rejected and has to be repeated. Two seconds lost, versus a guarantee that holds.</a:t>
            </a:r>
            <a:endParaRPr lang="en-US" sz="12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10</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What counts, and what does not</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The whole system turns on one calculation, so it is defined in exactly one method.</a:t>
            </a:r>
            <a:endParaRPr lang="en-US" sz="1400" dirty="0"/>
          </a:p>
        </p:txBody>
      </p:sp>
      <p:sp>
        <p:nvSpPr>
          <p:cNvPr id="5" name="Shape 3"/>
          <p:cNvSpPr/>
          <p:nvPr/>
        </p:nvSpPr>
        <p:spPr>
          <a:xfrm>
            <a:off x="640080" y="1737360"/>
            <a:ext cx="10911535" cy="1133856"/>
          </a:xfrm>
          <a:prstGeom prst="roundRect">
            <a:avLst>
              <a:gd name="adj" fmla="val 4839"/>
            </a:avLst>
          </a:prstGeom>
          <a:solidFill>
            <a:srgbClr val="12233F"/>
          </a:solidFill>
          <a:ln w="12700">
            <a:solidFill>
              <a:srgbClr val="12233F"/>
            </a:solidFill>
            <a:prstDash val="solid"/>
          </a:ln>
        </p:spPr>
      </p:sp>
      <p:sp>
        <p:nvSpPr>
          <p:cNvPr id="6" name="Text 4"/>
          <p:cNvSpPr txBox="1"/>
          <p:nvPr/>
        </p:nvSpPr>
        <p:spPr>
          <a:xfrm>
            <a:off x="1097280" y="1975104"/>
            <a:ext cx="2103120" cy="310896"/>
          </a:xfrm>
          <a:prstGeom prst="rect">
            <a:avLst/>
          </a:prstGeom>
          <a:noFill/>
          <a:ln/>
        </p:spPr>
        <p:txBody>
          <a:bodyPr wrap="square" lIns="0" tIns="0" rIns="0" bIns="0" rtlCol="0" anchor="ctr"/>
          <a:lstStyle/>
          <a:p>
            <a:pPr algn="ctr" indent="0" marL="0">
              <a:buNone/>
            </a:pPr>
            <a:r>
              <a:rPr lang="en-US" sz="1500" b="1" dirty="0">
                <a:solidFill>
                  <a:srgbClr val="7FD1A0"/>
                </a:solidFill>
                <a:latin typeface="Courier New" pitchFamily="34" charset="0"/>
                <a:ea typeface="Courier New" pitchFamily="34" charset="-122"/>
                <a:cs typeface="Courier New" pitchFamily="34" charset="-120"/>
              </a:rPr>
              <a:t>attended</a:t>
            </a:r>
            <a:endParaRPr lang="en-US" sz="1500" dirty="0"/>
          </a:p>
        </p:txBody>
      </p:sp>
      <p:sp>
        <p:nvSpPr>
          <p:cNvPr id="7" name="Shape 5"/>
          <p:cNvSpPr/>
          <p:nvPr/>
        </p:nvSpPr>
        <p:spPr>
          <a:xfrm>
            <a:off x="1097280" y="2340864"/>
            <a:ext cx="2103120" cy="0"/>
          </a:xfrm>
          <a:prstGeom prst="line">
            <a:avLst/>
          </a:prstGeom>
          <a:noFill/>
          <a:ln w="15875">
            <a:solidFill>
              <a:srgbClr val="5B6B85"/>
            </a:solidFill>
            <a:prstDash val="solid"/>
          </a:ln>
        </p:spPr>
      </p:sp>
      <p:sp>
        <p:nvSpPr>
          <p:cNvPr id="8" name="Text 6"/>
          <p:cNvSpPr txBox="1"/>
          <p:nvPr/>
        </p:nvSpPr>
        <p:spPr>
          <a:xfrm>
            <a:off x="1097280" y="2395728"/>
            <a:ext cx="2103120" cy="310896"/>
          </a:xfrm>
          <a:prstGeom prst="rect">
            <a:avLst/>
          </a:prstGeom>
          <a:no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countable</a:t>
            </a:r>
            <a:endParaRPr lang="en-US" sz="1500" dirty="0"/>
          </a:p>
        </p:txBody>
      </p:sp>
      <p:sp>
        <p:nvSpPr>
          <p:cNvPr id="9" name="Text 7"/>
          <p:cNvSpPr txBox="1"/>
          <p:nvPr/>
        </p:nvSpPr>
        <p:spPr>
          <a:xfrm>
            <a:off x="3328416" y="2176272"/>
            <a:ext cx="822960" cy="329184"/>
          </a:xfrm>
          <a:prstGeom prst="rect">
            <a:avLst/>
          </a:prstGeom>
          <a:noFill/>
          <a:ln/>
        </p:spPr>
        <p:txBody>
          <a:bodyPr wrap="square" lIns="0" tIns="0" rIns="0" bIns="0" rtlCol="0" anchor="ctr"/>
          <a:lstStyle/>
          <a:p>
            <a:pPr indent="0" marL="0">
              <a:buNone/>
            </a:pPr>
            <a:r>
              <a:rPr lang="en-US" sz="1500" dirty="0">
                <a:solidFill>
                  <a:srgbClr val="9DAAC2"/>
                </a:solidFill>
                <a:latin typeface="Courier New" pitchFamily="34" charset="0"/>
                <a:ea typeface="Courier New" pitchFamily="34" charset="-122"/>
                <a:cs typeface="Courier New" pitchFamily="34" charset="-120"/>
              </a:rPr>
              <a:t>x 100</a:t>
            </a:r>
            <a:endParaRPr lang="en-US" sz="1500" dirty="0"/>
          </a:p>
        </p:txBody>
      </p:sp>
      <p:sp>
        <p:nvSpPr>
          <p:cNvPr id="10" name="Text 8"/>
          <p:cNvSpPr txBox="1"/>
          <p:nvPr/>
        </p:nvSpPr>
        <p:spPr>
          <a:xfrm>
            <a:off x="4572000" y="1956816"/>
            <a:ext cx="6522415" cy="786384"/>
          </a:xfrm>
          <a:prstGeom prst="rect">
            <a:avLst/>
          </a:prstGeom>
          <a:noFill/>
          <a:ln/>
        </p:spPr>
        <p:txBody>
          <a:bodyPr wrap="square" lIns="0" tIns="0" rIns="0" bIns="0" rtlCol="0" anchor="ctr"/>
          <a:lstStyle/>
          <a:p>
            <a:pPr indent="0" marL="0">
              <a:lnSpc>
                <a:spcPct val="116000"/>
              </a:lnSpc>
              <a:buNone/>
            </a:pPr>
            <a:r>
              <a:rPr lang="en-US" sz="1250" b="1" dirty="0">
                <a:solidFill>
                  <a:srgbClr val="7FD1A0"/>
                </a:solidFill>
                <a:latin typeface="Calibri" pitchFamily="34" charset="0"/>
                <a:ea typeface="Calibri" pitchFamily="34" charset="-122"/>
                <a:cs typeface="Calibri" pitchFamily="34" charset="-120"/>
              </a:rPr>
              <a:t>attended</a:t>
            </a:r>
            <a:endParaRPr lang="en-US" sz="1250" dirty="0"/>
          </a:p>
          <a:p>
            <a:pPr indent="0" marL="0">
              <a:lnSpc>
                <a:spcPct val="116000"/>
              </a:lnSpc>
              <a:buNone/>
            </a:pPr>
            <a:r>
              <a:rPr lang="en-US" sz="1250" dirty="0">
                <a:solidFill>
                  <a:srgbClr val="B9C6DB"/>
                </a:solidFill>
                <a:latin typeface="Calibri" pitchFamily="34" charset="0"/>
                <a:ea typeface="Calibri" pitchFamily="34" charset="-122"/>
                <a:cs typeface="Calibri" pitchFamily="34" charset="-120"/>
              </a:rPr>
              <a:t>present, plus late  (late still means you were in the room)</a:t>
            </a:r>
            <a:endParaRPr lang="en-US" sz="1250" dirty="0"/>
          </a:p>
          <a:p>
            <a:pPr indent="0" marL="0">
              <a:lnSpc>
                <a:spcPct val="116000"/>
              </a:lnSpc>
              <a:buNone/>
            </a:pPr>
            <a:r>
              <a:rPr lang="en-US" sz="1250" b="1" dirty="0">
                <a:solidFill>
                  <a:srgbClr val="FFFFFF"/>
                </a:solidFill>
                <a:latin typeface="Calibri" pitchFamily="34" charset="0"/>
                <a:ea typeface="Calibri" pitchFamily="34" charset="-122"/>
                <a:cs typeface="Calibri" pitchFamily="34" charset="-120"/>
              </a:rPr>
              <a:t>countable</a:t>
            </a:r>
            <a:endParaRPr lang="en-US" sz="1250" dirty="0"/>
          </a:p>
          <a:p>
            <a:pPr indent="0" marL="0">
              <a:lnSpc>
                <a:spcPct val="116000"/>
              </a:lnSpc>
              <a:buNone/>
            </a:pPr>
            <a:r>
              <a:rPr lang="en-US" sz="1250" dirty="0">
                <a:solidFill>
                  <a:srgbClr val="B9C6DB"/>
                </a:solidFill>
                <a:latin typeface="Calibri" pitchFamily="34" charset="0"/>
                <a:ea typeface="Calibri" pitchFamily="34" charset="-122"/>
                <a:cs typeface="Calibri" pitchFamily="34" charset="-120"/>
              </a:rPr>
              <a:t>closed sessions, minus excused absences</a:t>
            </a:r>
            <a:endParaRPr lang="en-US" sz="1250" dirty="0"/>
          </a:p>
        </p:txBody>
      </p:sp>
      <p:sp>
        <p:nvSpPr>
          <p:cNvPr id="11" name="Shape 9"/>
          <p:cNvSpPr/>
          <p:nvPr/>
        </p:nvSpPr>
        <p:spPr>
          <a:xfrm>
            <a:off x="640080" y="3145536"/>
            <a:ext cx="3442106" cy="1901952"/>
          </a:xfrm>
          <a:prstGeom prst="roundRect">
            <a:avLst>
              <a:gd name="adj" fmla="val 2885"/>
            </a:avLst>
          </a:prstGeom>
          <a:solidFill>
            <a:srgbClr val="F4F6FA"/>
          </a:solidFill>
          <a:ln w="12700">
            <a:solidFill>
              <a:srgbClr val="D8DEE8"/>
            </a:solidFill>
            <a:prstDash val="solid"/>
          </a:ln>
        </p:spPr>
      </p:sp>
      <p:sp>
        <p:nvSpPr>
          <p:cNvPr id="12" name="Text 10"/>
          <p:cNvSpPr txBox="1"/>
          <p:nvPr/>
        </p:nvSpPr>
        <p:spPr>
          <a:xfrm>
            <a:off x="877824" y="3346704"/>
            <a:ext cx="2966618" cy="292608"/>
          </a:xfrm>
          <a:prstGeom prst="rect">
            <a:avLst/>
          </a:prstGeom>
          <a:noFill/>
          <a:ln/>
        </p:spPr>
        <p:txBody>
          <a:bodyPr wrap="square" lIns="0" tIns="0" rIns="0" bIns="0"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Open sessions do not count</a:t>
            </a:r>
            <a:endParaRPr lang="en-US" sz="1500" dirty="0"/>
          </a:p>
        </p:txBody>
      </p:sp>
      <p:sp>
        <p:nvSpPr>
          <p:cNvPr id="13" name="Text 11"/>
          <p:cNvSpPr txBox="1"/>
          <p:nvPr/>
        </p:nvSpPr>
        <p:spPr>
          <a:xfrm>
            <a:off x="877824" y="3694176"/>
            <a:ext cx="2966618" cy="1188720"/>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A class that is still running, or has not happened yet, is excluded. A lecturer can open a session without instantly penalising anyone who has not arrived.</a:t>
            </a:r>
            <a:endParaRPr lang="en-US" sz="1200" dirty="0"/>
          </a:p>
        </p:txBody>
      </p:sp>
      <p:sp>
        <p:nvSpPr>
          <p:cNvPr id="14" name="Shape 12"/>
          <p:cNvSpPr/>
          <p:nvPr/>
        </p:nvSpPr>
        <p:spPr>
          <a:xfrm>
            <a:off x="3515258" y="3346704"/>
            <a:ext cx="274320" cy="274320"/>
          </a:xfrm>
          <a:prstGeom prst="ellipse">
            <a:avLst/>
          </a:prstGeom>
          <a:solidFill>
            <a:srgbClr val="2E7D52"/>
          </a:solidFill>
          <a:ln/>
        </p:spPr>
      </p:sp>
      <p:sp>
        <p:nvSpPr>
          <p:cNvPr id="15" name="Shape 13"/>
          <p:cNvSpPr/>
          <p:nvPr/>
        </p:nvSpPr>
        <p:spPr>
          <a:xfrm>
            <a:off x="4374794" y="3145536"/>
            <a:ext cx="3442106" cy="1901952"/>
          </a:xfrm>
          <a:prstGeom prst="roundRect">
            <a:avLst>
              <a:gd name="adj" fmla="val 2885"/>
            </a:avLst>
          </a:prstGeom>
          <a:solidFill>
            <a:srgbClr val="F4F6FA"/>
          </a:solidFill>
          <a:ln w="12700">
            <a:solidFill>
              <a:srgbClr val="D8DEE8"/>
            </a:solidFill>
            <a:prstDash val="solid"/>
          </a:ln>
        </p:spPr>
      </p:sp>
      <p:sp>
        <p:nvSpPr>
          <p:cNvPr id="16" name="Text 14"/>
          <p:cNvSpPr txBox="1"/>
          <p:nvPr/>
        </p:nvSpPr>
        <p:spPr>
          <a:xfrm>
            <a:off x="4612538" y="3346704"/>
            <a:ext cx="2966618" cy="292608"/>
          </a:xfrm>
          <a:prstGeom prst="rect">
            <a:avLst/>
          </a:prstGeom>
          <a:noFill/>
          <a:ln/>
        </p:spPr>
        <p:txBody>
          <a:bodyPr wrap="square" lIns="0" tIns="0" rIns="0" bIns="0"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Excused leaves the denominator</a:t>
            </a:r>
            <a:endParaRPr lang="en-US" sz="1500" dirty="0"/>
          </a:p>
        </p:txBody>
      </p:sp>
      <p:sp>
        <p:nvSpPr>
          <p:cNvPr id="17" name="Text 15"/>
          <p:cNvSpPr txBox="1"/>
          <p:nvPr/>
        </p:nvSpPr>
        <p:spPr>
          <a:xfrm>
            <a:off x="4612538" y="3694176"/>
            <a:ext cx="2966618" cy="1188720"/>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Approved absence is not counted against the student at all - it is removed from the total rather than recorded as a miss.</a:t>
            </a:r>
            <a:endParaRPr lang="en-US" sz="1200" dirty="0"/>
          </a:p>
        </p:txBody>
      </p:sp>
      <p:sp>
        <p:nvSpPr>
          <p:cNvPr id="18" name="Shape 16"/>
          <p:cNvSpPr/>
          <p:nvPr/>
        </p:nvSpPr>
        <p:spPr>
          <a:xfrm>
            <a:off x="7249973" y="3346704"/>
            <a:ext cx="274320" cy="274320"/>
          </a:xfrm>
          <a:prstGeom prst="ellipse">
            <a:avLst/>
          </a:prstGeom>
          <a:solidFill>
            <a:srgbClr val="8C96A5"/>
          </a:solidFill>
          <a:ln/>
        </p:spPr>
      </p:sp>
      <p:sp>
        <p:nvSpPr>
          <p:cNvPr id="19" name="Shape 17"/>
          <p:cNvSpPr/>
          <p:nvPr/>
        </p:nvSpPr>
        <p:spPr>
          <a:xfrm>
            <a:off x="8109509" y="3145536"/>
            <a:ext cx="3442106" cy="1901952"/>
          </a:xfrm>
          <a:prstGeom prst="roundRect">
            <a:avLst>
              <a:gd name="adj" fmla="val 2885"/>
            </a:avLst>
          </a:prstGeom>
          <a:solidFill>
            <a:srgbClr val="F4F6FA"/>
          </a:solidFill>
          <a:ln w="12700">
            <a:solidFill>
              <a:srgbClr val="D8DEE8"/>
            </a:solidFill>
            <a:prstDash val="solid"/>
          </a:ln>
        </p:spPr>
      </p:sp>
      <p:sp>
        <p:nvSpPr>
          <p:cNvPr id="20" name="Text 18"/>
          <p:cNvSpPr txBox="1"/>
          <p:nvPr/>
        </p:nvSpPr>
        <p:spPr>
          <a:xfrm>
            <a:off x="8347253" y="3346704"/>
            <a:ext cx="2966618" cy="292608"/>
          </a:xfrm>
          <a:prstGeom prst="rect">
            <a:avLst/>
          </a:prstGeom>
          <a:noFill/>
          <a:ln/>
        </p:spPr>
        <p:txBody>
          <a:bodyPr wrap="square" lIns="0" tIns="0" rIns="0" bIns="0" rtlCol="0" anchor="ctr"/>
          <a:lstStyle/>
          <a:p>
            <a:pPr indent="0" marL="0">
              <a:buNone/>
            </a:pPr>
            <a:r>
              <a:rPr lang="en-US" sz="1500" b="1" dirty="0">
                <a:solidFill>
                  <a:srgbClr val="12233F"/>
                </a:solidFill>
                <a:latin typeface="Cambria" pitchFamily="34" charset="0"/>
                <a:ea typeface="Cambria" pitchFamily="34" charset="-122"/>
                <a:cs typeface="Cambria" pitchFamily="34" charset="-120"/>
              </a:rPr>
              <a:t>The threshold is configuration</a:t>
            </a:r>
            <a:endParaRPr lang="en-US" sz="1500" dirty="0"/>
          </a:p>
        </p:txBody>
      </p:sp>
      <p:sp>
        <p:nvSpPr>
          <p:cNvPr id="21" name="Text 19"/>
          <p:cNvSpPr txBox="1"/>
          <p:nvPr/>
        </p:nvSpPr>
        <p:spPr>
          <a:xfrm>
            <a:off x="8347253" y="3694176"/>
            <a:ext cx="2966618" cy="1188720"/>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The 75% figure lives in a config file, not in the code. The university can change its own rule without a developer.</a:t>
            </a:r>
            <a:endParaRPr lang="en-US" sz="1200" dirty="0"/>
          </a:p>
        </p:txBody>
      </p:sp>
      <p:sp>
        <p:nvSpPr>
          <p:cNvPr id="22" name="Shape 20"/>
          <p:cNvSpPr/>
          <p:nvPr/>
        </p:nvSpPr>
        <p:spPr>
          <a:xfrm>
            <a:off x="10984687" y="3346704"/>
            <a:ext cx="274320" cy="274320"/>
          </a:xfrm>
          <a:prstGeom prst="ellipse">
            <a:avLst/>
          </a:prstGeom>
          <a:solidFill>
            <a:srgbClr val="C9A227"/>
          </a:solidFill>
          <a:ln/>
        </p:spPr>
      </p:sp>
      <p:sp>
        <p:nvSpPr>
          <p:cNvPr id="23" name="Text 21"/>
          <p:cNvSpPr txBox="1"/>
          <p:nvPr/>
        </p:nvSpPr>
        <p:spPr>
          <a:xfrm>
            <a:off x="640080" y="5285232"/>
            <a:ext cx="10911535" cy="402336"/>
          </a:xfrm>
          <a:prstGeom prst="rect">
            <a:avLst/>
          </a:prstGeom>
          <a:noFill/>
          <a:ln/>
        </p:spPr>
        <p:txBody>
          <a:bodyPr wrap="square" lIns="0" tIns="0" rIns="0" bIns="0" rtlCol="0" anchor="ctr"/>
          <a:lstStyle/>
          <a:p>
            <a:pPr indent="0" marL="0">
              <a:buNone/>
            </a:pPr>
            <a:r>
              <a:rPr lang="en-US" sz="1250" i="1" dirty="0">
                <a:solidFill>
                  <a:srgbClr val="6B7891"/>
                </a:solidFill>
                <a:latin typeface="Calibri" pitchFamily="34" charset="0"/>
                <a:ea typeface="Calibri" pitchFamily="34" charset="-122"/>
                <a:cs typeface="Calibri" pitchFamily="34" charset="-120"/>
              </a:rPr>
              <a:t>A class that has not met yet returns zero rather than dividing by zero, and is not flagged as at risk. That is a test case, not an accident.</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11</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The report that would have collapsed</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The obvious implementation works in a demonstration and fails in a real university.</a:t>
            </a:r>
            <a:endParaRPr lang="en-US" sz="1400" dirty="0"/>
          </a:p>
        </p:txBody>
      </p:sp>
      <p:sp>
        <p:nvSpPr>
          <p:cNvPr id="5" name="Shape 3"/>
          <p:cNvSpPr/>
          <p:nvPr/>
        </p:nvSpPr>
        <p:spPr>
          <a:xfrm>
            <a:off x="640080" y="1773936"/>
            <a:ext cx="5227168" cy="2139696"/>
          </a:xfrm>
          <a:prstGeom prst="roundRect">
            <a:avLst>
              <a:gd name="adj" fmla="val 2564"/>
            </a:avLst>
          </a:prstGeom>
          <a:solidFill>
            <a:srgbClr val="FDF4F3"/>
          </a:solidFill>
          <a:ln w="12700">
            <a:solidFill>
              <a:srgbClr val="EBC7C2"/>
            </a:solidFill>
            <a:prstDash val="solid"/>
          </a:ln>
        </p:spPr>
      </p:sp>
      <p:sp>
        <p:nvSpPr>
          <p:cNvPr id="6" name="Text 4"/>
          <p:cNvSpPr txBox="1"/>
          <p:nvPr/>
        </p:nvSpPr>
        <p:spPr>
          <a:xfrm>
            <a:off x="877824" y="1975104"/>
            <a:ext cx="4751680" cy="219456"/>
          </a:xfrm>
          <a:prstGeom prst="rect">
            <a:avLst/>
          </a:prstGeom>
          <a:noFill/>
          <a:ln/>
        </p:spPr>
        <p:txBody>
          <a:bodyPr wrap="square" lIns="0" tIns="0" rIns="0" bIns="0" rtlCol="0" anchor="ctr"/>
          <a:lstStyle/>
          <a:p>
            <a:pPr indent="0" marL="0">
              <a:buNone/>
            </a:pPr>
            <a:r>
              <a:rPr lang="en-US" sz="1050" b="1" spc="120" kern="0" dirty="0">
                <a:solidFill>
                  <a:srgbClr val="C0392B"/>
                </a:solidFill>
                <a:latin typeface="Calibri" pitchFamily="34" charset="0"/>
                <a:ea typeface="Calibri" pitchFamily="34" charset="-122"/>
                <a:cs typeface="Calibri" pitchFamily="34" charset="-120"/>
              </a:rPr>
              <a:t>THE OBVIOUS WAY</a:t>
            </a:r>
            <a:endParaRPr lang="en-US" sz="1050" dirty="0"/>
          </a:p>
        </p:txBody>
      </p:sp>
      <p:sp>
        <p:nvSpPr>
          <p:cNvPr id="7" name="Text 5"/>
          <p:cNvSpPr txBox="1"/>
          <p:nvPr/>
        </p:nvSpPr>
        <p:spPr>
          <a:xfrm>
            <a:off x="877824" y="2231136"/>
            <a:ext cx="4751680" cy="292608"/>
          </a:xfrm>
          <a:prstGeom prst="rect">
            <a:avLst/>
          </a:prstGeom>
          <a:noFill/>
          <a:ln/>
        </p:spPr>
        <p:txBody>
          <a:bodyPr wrap="square" lIns="0" tIns="0" rIns="0" bIns="0" rtlCol="0" anchor="ctr"/>
          <a:lstStyle/>
          <a:p>
            <a:pPr indent="0" marL="0">
              <a:buNone/>
            </a:pPr>
            <a:r>
              <a:rPr lang="en-US" sz="1550" b="1" dirty="0">
                <a:solidFill>
                  <a:srgbClr val="12233F"/>
                </a:solidFill>
                <a:latin typeface="Cambria" pitchFamily="34" charset="0"/>
                <a:ea typeface="Cambria" pitchFamily="34" charset="-122"/>
                <a:cs typeface="Cambria" pitchFamily="34" charset="-120"/>
              </a:rPr>
              <a:t>Loop the roster, query each student</a:t>
            </a:r>
            <a:endParaRPr lang="en-US" sz="1550" dirty="0"/>
          </a:p>
        </p:txBody>
      </p:sp>
      <p:sp>
        <p:nvSpPr>
          <p:cNvPr id="8" name="Text 6"/>
          <p:cNvSpPr txBox="1"/>
          <p:nvPr/>
        </p:nvSpPr>
        <p:spPr>
          <a:xfrm>
            <a:off x="877824" y="2578608"/>
            <a:ext cx="4751680" cy="117043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Thirty students in a class means thirty queries. A university-wide report across sixty students and ten sections means hundreds. The cost grows with enrollment, so it looks fine with test data and falls over in use.</a:t>
            </a:r>
            <a:endParaRPr lang="en-US" sz="1200" dirty="0"/>
          </a:p>
        </p:txBody>
      </p:sp>
      <p:sp>
        <p:nvSpPr>
          <p:cNvPr id="9" name="Shape 7"/>
          <p:cNvSpPr/>
          <p:nvPr/>
        </p:nvSpPr>
        <p:spPr>
          <a:xfrm>
            <a:off x="6324448" y="1773936"/>
            <a:ext cx="5227168" cy="2139696"/>
          </a:xfrm>
          <a:prstGeom prst="roundRect">
            <a:avLst>
              <a:gd name="adj" fmla="val 2564"/>
            </a:avLst>
          </a:prstGeom>
          <a:solidFill>
            <a:srgbClr val="F2F9F5"/>
          </a:solidFill>
          <a:ln w="12700">
            <a:solidFill>
              <a:srgbClr val="BFDCCB"/>
            </a:solidFill>
            <a:prstDash val="solid"/>
          </a:ln>
        </p:spPr>
      </p:sp>
      <p:sp>
        <p:nvSpPr>
          <p:cNvPr id="10" name="Text 8"/>
          <p:cNvSpPr txBox="1"/>
          <p:nvPr/>
        </p:nvSpPr>
        <p:spPr>
          <a:xfrm>
            <a:off x="6562192" y="1975104"/>
            <a:ext cx="4751680" cy="219456"/>
          </a:xfrm>
          <a:prstGeom prst="rect">
            <a:avLst/>
          </a:prstGeom>
          <a:noFill/>
          <a:ln/>
        </p:spPr>
        <p:txBody>
          <a:bodyPr wrap="square" lIns="0" tIns="0" rIns="0" bIns="0" rtlCol="0" anchor="ctr"/>
          <a:lstStyle/>
          <a:p>
            <a:pPr indent="0" marL="0">
              <a:buNone/>
            </a:pPr>
            <a:r>
              <a:rPr lang="en-US" sz="1050" b="1" spc="120" kern="0" dirty="0">
                <a:solidFill>
                  <a:srgbClr val="2E7D52"/>
                </a:solidFill>
                <a:latin typeface="Calibri" pitchFamily="34" charset="0"/>
                <a:ea typeface="Calibri" pitchFamily="34" charset="-122"/>
                <a:cs typeface="Calibri" pitchFamily="34" charset="-120"/>
              </a:rPr>
              <a:t>WHAT THE SYSTEM DOES</a:t>
            </a:r>
            <a:endParaRPr lang="en-US" sz="1050" dirty="0"/>
          </a:p>
        </p:txBody>
      </p:sp>
      <p:sp>
        <p:nvSpPr>
          <p:cNvPr id="11" name="Text 9"/>
          <p:cNvSpPr txBox="1"/>
          <p:nvPr/>
        </p:nvSpPr>
        <p:spPr>
          <a:xfrm>
            <a:off x="6562192" y="2231136"/>
            <a:ext cx="4751680" cy="292608"/>
          </a:xfrm>
          <a:prstGeom prst="rect">
            <a:avLst/>
          </a:prstGeom>
          <a:noFill/>
          <a:ln/>
        </p:spPr>
        <p:txBody>
          <a:bodyPr wrap="square" lIns="0" tIns="0" rIns="0" bIns="0" rtlCol="0" anchor="ctr"/>
          <a:lstStyle/>
          <a:p>
            <a:pPr indent="0" marL="0">
              <a:buNone/>
            </a:pPr>
            <a:r>
              <a:rPr lang="en-US" sz="1550" b="1" dirty="0">
                <a:solidFill>
                  <a:srgbClr val="12233F"/>
                </a:solidFill>
                <a:latin typeface="Cambria" pitchFamily="34" charset="0"/>
                <a:ea typeface="Cambria" pitchFamily="34" charset="-122"/>
                <a:cs typeface="Cambria" pitchFamily="34" charset="-120"/>
              </a:rPr>
              <a:t>One grouped query, conditional sums</a:t>
            </a:r>
            <a:endParaRPr lang="en-US" sz="1550" dirty="0"/>
          </a:p>
        </p:txBody>
      </p:sp>
      <p:sp>
        <p:nvSpPr>
          <p:cNvPr id="12" name="Text 10"/>
          <p:cNvSpPr txBox="1"/>
          <p:nvPr/>
        </p:nvSpPr>
        <p:spPr>
          <a:xfrm>
            <a:off x="6562192" y="2578608"/>
            <a:ext cx="4751680" cy="1170432"/>
          </a:xfrm>
          <a:prstGeom prst="rect">
            <a:avLst/>
          </a:prstGeom>
          <a:noFill/>
          <a:ln/>
        </p:spPr>
        <p:txBody>
          <a:bodyPr wrap="square" lIns="0" tIns="0" rIns="0" bIns="0" rtlCol="0" anchor="t"/>
          <a:lstStyle/>
          <a:p>
            <a:pPr indent="0" marL="0">
              <a:lnSpc>
                <a:spcPct val="108000"/>
              </a:lnSpc>
              <a:buNone/>
            </a:pPr>
            <a:r>
              <a:rPr lang="en-US" sz="1200" dirty="0">
                <a:solidFill>
                  <a:srgbClr val="1A2333"/>
                </a:solidFill>
                <a:latin typeface="Calibri" pitchFamily="34" charset="0"/>
                <a:ea typeface="Calibri" pitchFamily="34" charset="-122"/>
                <a:cs typeface="Calibri" pitchFamily="34" charset="-120"/>
              </a:rPr>
              <a:t>SQL produces every counter in a single pass using SUM(CASE WHEN ...). Only the final division happens in PHP. The cost is flat no matter how many students are on the roster.</a:t>
            </a:r>
            <a:endParaRPr lang="en-US" sz="1200" dirty="0"/>
          </a:p>
        </p:txBody>
      </p:sp>
      <p:sp>
        <p:nvSpPr>
          <p:cNvPr id="13" name="Shape 11"/>
          <p:cNvSpPr/>
          <p:nvPr/>
        </p:nvSpPr>
        <p:spPr>
          <a:xfrm>
            <a:off x="640080" y="4206240"/>
            <a:ext cx="3442106" cy="1280160"/>
          </a:xfrm>
          <a:prstGeom prst="roundRect">
            <a:avLst>
              <a:gd name="adj" fmla="val 3571"/>
            </a:avLst>
          </a:prstGeom>
          <a:solidFill>
            <a:srgbClr val="F4F6FA"/>
          </a:solidFill>
          <a:ln w="12700">
            <a:solidFill>
              <a:srgbClr val="D8DEE8"/>
            </a:solidFill>
            <a:prstDash val="solid"/>
          </a:ln>
        </p:spPr>
      </p:sp>
      <p:sp>
        <p:nvSpPr>
          <p:cNvPr id="14" name="Text 12"/>
          <p:cNvSpPr txBox="1"/>
          <p:nvPr/>
        </p:nvSpPr>
        <p:spPr>
          <a:xfrm>
            <a:off x="896112" y="4352544"/>
            <a:ext cx="2930042" cy="603504"/>
          </a:xfrm>
          <a:prstGeom prst="rect">
            <a:avLst/>
          </a:prstGeom>
          <a:noFill/>
          <a:ln/>
        </p:spPr>
        <p:txBody>
          <a:bodyPr wrap="square" lIns="0" tIns="0" rIns="0" bIns="0" rtlCol="0" anchor="ctr"/>
          <a:lstStyle/>
          <a:p>
            <a:pPr indent="0" marL="0">
              <a:buNone/>
            </a:pPr>
            <a:r>
              <a:rPr lang="en-US" sz="4000" b="1" dirty="0">
                <a:solidFill>
                  <a:srgbClr val="12233F"/>
                </a:solidFill>
                <a:latin typeface="Cambria" pitchFamily="34" charset="0"/>
                <a:ea typeface="Cambria" pitchFamily="34" charset="-122"/>
                <a:cs typeface="Cambria" pitchFamily="34" charset="-120"/>
              </a:rPr>
              <a:t>30</a:t>
            </a:r>
            <a:endParaRPr lang="en-US" sz="4000" dirty="0"/>
          </a:p>
        </p:txBody>
      </p:sp>
      <p:sp>
        <p:nvSpPr>
          <p:cNvPr id="15" name="Text 13"/>
          <p:cNvSpPr txBox="1"/>
          <p:nvPr/>
        </p:nvSpPr>
        <p:spPr>
          <a:xfrm>
            <a:off x="896112" y="4974336"/>
            <a:ext cx="2930042" cy="402336"/>
          </a:xfrm>
          <a:prstGeom prst="rect">
            <a:avLst/>
          </a:prstGeom>
          <a:noFill/>
          <a:ln/>
        </p:spPr>
        <p:txBody>
          <a:bodyPr wrap="square" lIns="0" tIns="0" rIns="0" bIns="0" rtlCol="0" anchor="ctr"/>
          <a:lstStyle/>
          <a:p>
            <a:pPr indent="0" marL="0">
              <a:lnSpc>
                <a:spcPct val="105000"/>
              </a:lnSpc>
              <a:buNone/>
            </a:pPr>
            <a:r>
              <a:rPr lang="en-US" sz="1150" dirty="0">
                <a:solidFill>
                  <a:srgbClr val="6B7891"/>
                </a:solidFill>
                <a:latin typeface="Calibri" pitchFamily="34" charset="0"/>
                <a:ea typeface="Calibri" pitchFamily="34" charset="-122"/>
                <a:cs typeface="Calibri" pitchFamily="34" charset="-120"/>
              </a:rPr>
              <a:t>students on the roster</a:t>
            </a:r>
            <a:endParaRPr lang="en-US" sz="1150" dirty="0"/>
          </a:p>
        </p:txBody>
      </p:sp>
      <p:sp>
        <p:nvSpPr>
          <p:cNvPr id="16" name="Shape 14"/>
          <p:cNvSpPr/>
          <p:nvPr/>
        </p:nvSpPr>
        <p:spPr>
          <a:xfrm>
            <a:off x="4374794" y="4206240"/>
            <a:ext cx="3442106" cy="1280160"/>
          </a:xfrm>
          <a:prstGeom prst="roundRect">
            <a:avLst>
              <a:gd name="adj" fmla="val 3571"/>
            </a:avLst>
          </a:prstGeom>
          <a:solidFill>
            <a:srgbClr val="F4F6FA"/>
          </a:solidFill>
          <a:ln w="12700">
            <a:solidFill>
              <a:srgbClr val="D8DEE8"/>
            </a:solidFill>
            <a:prstDash val="solid"/>
          </a:ln>
        </p:spPr>
      </p:sp>
      <p:sp>
        <p:nvSpPr>
          <p:cNvPr id="17" name="Text 15"/>
          <p:cNvSpPr txBox="1"/>
          <p:nvPr/>
        </p:nvSpPr>
        <p:spPr>
          <a:xfrm>
            <a:off x="4630826" y="4352544"/>
            <a:ext cx="2930042" cy="603504"/>
          </a:xfrm>
          <a:prstGeom prst="rect">
            <a:avLst/>
          </a:prstGeom>
          <a:noFill/>
          <a:ln/>
        </p:spPr>
        <p:txBody>
          <a:bodyPr wrap="square" lIns="0" tIns="0" rIns="0" bIns="0" rtlCol="0" anchor="ctr"/>
          <a:lstStyle/>
          <a:p>
            <a:pPr indent="0" marL="0">
              <a:buNone/>
            </a:pPr>
            <a:r>
              <a:rPr lang="en-US" sz="4000" b="1" dirty="0">
                <a:solidFill>
                  <a:srgbClr val="2E7D52"/>
                </a:solidFill>
                <a:latin typeface="Cambria" pitchFamily="34" charset="0"/>
                <a:ea typeface="Cambria" pitchFamily="34" charset="-122"/>
                <a:cs typeface="Cambria" pitchFamily="34" charset="-120"/>
              </a:rPr>
              <a:t>1</a:t>
            </a:r>
            <a:endParaRPr lang="en-US" sz="4000" dirty="0"/>
          </a:p>
        </p:txBody>
      </p:sp>
      <p:sp>
        <p:nvSpPr>
          <p:cNvPr id="18" name="Text 16"/>
          <p:cNvSpPr txBox="1"/>
          <p:nvPr/>
        </p:nvSpPr>
        <p:spPr>
          <a:xfrm>
            <a:off x="4630826" y="4974336"/>
            <a:ext cx="2930042" cy="402336"/>
          </a:xfrm>
          <a:prstGeom prst="rect">
            <a:avLst/>
          </a:prstGeom>
          <a:noFill/>
          <a:ln/>
        </p:spPr>
        <p:txBody>
          <a:bodyPr wrap="square" lIns="0" tIns="0" rIns="0" bIns="0" rtlCol="0" anchor="ctr"/>
          <a:lstStyle/>
          <a:p>
            <a:pPr indent="0" marL="0">
              <a:lnSpc>
                <a:spcPct val="105000"/>
              </a:lnSpc>
              <a:buNone/>
            </a:pPr>
            <a:r>
              <a:rPr lang="en-US" sz="1150" dirty="0">
                <a:solidFill>
                  <a:srgbClr val="6B7891"/>
                </a:solidFill>
                <a:latin typeface="Calibri" pitchFamily="34" charset="0"/>
                <a:ea typeface="Calibri" pitchFamily="34" charset="-122"/>
                <a:cs typeface="Calibri" pitchFamily="34" charset="-120"/>
              </a:rPr>
              <a:t>query to summarise all of them</a:t>
            </a:r>
            <a:endParaRPr lang="en-US" sz="1150" dirty="0"/>
          </a:p>
        </p:txBody>
      </p:sp>
      <p:sp>
        <p:nvSpPr>
          <p:cNvPr id="19" name="Shape 17"/>
          <p:cNvSpPr/>
          <p:nvPr/>
        </p:nvSpPr>
        <p:spPr>
          <a:xfrm>
            <a:off x="8109509" y="4206240"/>
            <a:ext cx="3442106" cy="1280160"/>
          </a:xfrm>
          <a:prstGeom prst="roundRect">
            <a:avLst>
              <a:gd name="adj" fmla="val 3571"/>
            </a:avLst>
          </a:prstGeom>
          <a:solidFill>
            <a:srgbClr val="F4F6FA"/>
          </a:solidFill>
          <a:ln w="12700">
            <a:solidFill>
              <a:srgbClr val="D8DEE8"/>
            </a:solidFill>
            <a:prstDash val="solid"/>
          </a:ln>
        </p:spPr>
      </p:sp>
      <p:sp>
        <p:nvSpPr>
          <p:cNvPr id="20" name="Text 18"/>
          <p:cNvSpPr txBox="1"/>
          <p:nvPr/>
        </p:nvSpPr>
        <p:spPr>
          <a:xfrm>
            <a:off x="8365541" y="4352544"/>
            <a:ext cx="2930042" cy="603504"/>
          </a:xfrm>
          <a:prstGeom prst="rect">
            <a:avLst/>
          </a:prstGeom>
          <a:noFill/>
          <a:ln/>
        </p:spPr>
        <p:txBody>
          <a:bodyPr wrap="square" lIns="0" tIns="0" rIns="0" bIns="0" rtlCol="0" anchor="ctr"/>
          <a:lstStyle/>
          <a:p>
            <a:pPr indent="0" marL="0">
              <a:buNone/>
            </a:pPr>
            <a:r>
              <a:rPr lang="en-US" sz="4000" b="1" dirty="0">
                <a:solidFill>
                  <a:srgbClr val="12233F"/>
                </a:solidFill>
                <a:latin typeface="Cambria" pitchFamily="34" charset="0"/>
                <a:ea typeface="Cambria" pitchFamily="34" charset="-122"/>
                <a:cs typeface="Cambria" pitchFamily="34" charset="-120"/>
              </a:rPr>
              <a:t>73</a:t>
            </a:r>
            <a:endParaRPr lang="en-US" sz="4000" dirty="0"/>
          </a:p>
        </p:txBody>
      </p:sp>
      <p:sp>
        <p:nvSpPr>
          <p:cNvPr id="21" name="Text 19"/>
          <p:cNvSpPr txBox="1"/>
          <p:nvPr/>
        </p:nvSpPr>
        <p:spPr>
          <a:xfrm>
            <a:off x="8365541" y="4974336"/>
            <a:ext cx="2930042" cy="402336"/>
          </a:xfrm>
          <a:prstGeom prst="rect">
            <a:avLst/>
          </a:prstGeom>
          <a:noFill/>
          <a:ln/>
        </p:spPr>
        <p:txBody>
          <a:bodyPr wrap="square" lIns="0" tIns="0" rIns="0" bIns="0" rtlCol="0" anchor="ctr"/>
          <a:lstStyle/>
          <a:p>
            <a:pPr indent="0" marL="0">
              <a:lnSpc>
                <a:spcPct val="105000"/>
              </a:lnSpc>
              <a:buNone/>
            </a:pPr>
            <a:r>
              <a:rPr lang="en-US" sz="1150" dirty="0">
                <a:solidFill>
                  <a:srgbClr val="6B7891"/>
                </a:solidFill>
                <a:latin typeface="Calibri" pitchFamily="34" charset="0"/>
                <a:ea typeface="Calibri" pitchFamily="34" charset="-122"/>
                <a:cs typeface="Calibri" pitchFamily="34" charset="-120"/>
              </a:rPr>
              <a:t>tests, one of which asserts exactly that</a:t>
            </a:r>
            <a:endParaRPr lang="en-US" sz="1150" dirty="0"/>
          </a:p>
        </p:txBody>
      </p:sp>
      <p:sp>
        <p:nvSpPr>
          <p:cNvPr id="22" name="Text 20"/>
          <p:cNvSpPr txBox="1"/>
          <p:nvPr/>
        </p:nvSpPr>
        <p:spPr>
          <a:xfrm>
            <a:off x="640080" y="5669280"/>
            <a:ext cx="10911535" cy="365760"/>
          </a:xfrm>
          <a:prstGeom prst="rect">
            <a:avLst/>
          </a:prstGeom>
          <a:noFill/>
          <a:ln/>
        </p:spPr>
        <p:txBody>
          <a:bodyPr wrap="square" lIns="0" tIns="0" rIns="0" bIns="0" rtlCol="0" anchor="ctr"/>
          <a:lstStyle/>
          <a:p>
            <a:pPr indent="0" marL="0">
              <a:buNone/>
            </a:pPr>
            <a:r>
              <a:rPr lang="en-US" sz="1250" i="1" dirty="0">
                <a:solidFill>
                  <a:srgbClr val="12233F"/>
                </a:solidFill>
                <a:latin typeface="Calibri" pitchFamily="34" charset="0"/>
                <a:ea typeface="Calibri" pitchFamily="34" charset="-122"/>
                <a:cs typeface="Calibri" pitchFamily="34" charset="-120"/>
              </a:rPr>
              <a:t>The test counts the queries, so this property cannot regress without the build failing.</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2233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12</a:t>
            </a:r>
            <a:endParaRPr lang="en-US" sz="1000" dirty="0"/>
          </a:p>
        </p:txBody>
      </p:sp>
      <p:sp>
        <p:nvSpPr>
          <p:cNvPr id="3" name="Text 1"/>
          <p:cNvSpPr txBox="1"/>
          <p:nvPr/>
        </p:nvSpPr>
        <p:spPr>
          <a:xfrm>
            <a:off x="640080" y="1371600"/>
            <a:ext cx="10911535" cy="310896"/>
          </a:xfrm>
          <a:prstGeom prst="rect">
            <a:avLst/>
          </a:prstGeom>
          <a:noFill/>
          <a:ln/>
        </p:spPr>
        <p:txBody>
          <a:bodyPr wrap="square" lIns="0" tIns="0" rIns="0" bIns="0" rtlCol="0" anchor="ctr"/>
          <a:lstStyle/>
          <a:p>
            <a:pPr indent="0" marL="0">
              <a:buNone/>
            </a:pPr>
            <a:r>
              <a:rPr lang="en-US" sz="1300" b="1" spc="260" kern="0" dirty="0">
                <a:solidFill>
                  <a:srgbClr val="C9A227"/>
                </a:solidFill>
                <a:latin typeface="Calibri" pitchFamily="34" charset="0"/>
                <a:ea typeface="Calibri" pitchFamily="34" charset="-122"/>
                <a:cs typeface="Calibri" pitchFamily="34" charset="-120"/>
              </a:rPr>
              <a:t>LIVE DEMONSTRATION</a:t>
            </a:r>
            <a:endParaRPr lang="en-US" sz="1300" dirty="0"/>
          </a:p>
        </p:txBody>
      </p:sp>
      <p:sp>
        <p:nvSpPr>
          <p:cNvPr id="4" name="Text 2"/>
          <p:cNvSpPr txBox="1"/>
          <p:nvPr/>
        </p:nvSpPr>
        <p:spPr>
          <a:xfrm>
            <a:off x="640080" y="1783080"/>
            <a:ext cx="6949440" cy="713232"/>
          </a:xfrm>
          <a:prstGeom prst="rect">
            <a:avLst/>
          </a:prstGeom>
          <a:noFill/>
          <a:ln/>
        </p:spPr>
        <p:txBody>
          <a:bodyPr wrap="square" lIns="0" tIns="0" rIns="0" bIns="0" rtlCol="0" anchor="ctr"/>
          <a:lstStyle/>
          <a:p>
            <a:pPr indent="0" marL="0">
              <a:buNone/>
            </a:pPr>
            <a:r>
              <a:rPr lang="en-US" sz="4000" b="1" dirty="0">
                <a:solidFill>
                  <a:srgbClr val="FFFFFF"/>
                </a:solidFill>
                <a:latin typeface="Cambria" pitchFamily="34" charset="0"/>
                <a:ea typeface="Cambria" pitchFamily="34" charset="-122"/>
                <a:cs typeface="Cambria" pitchFamily="34" charset="-120"/>
              </a:rPr>
              <a:t>Let me show you the system</a:t>
            </a:r>
            <a:endParaRPr lang="en-US" sz="4000" dirty="0"/>
          </a:p>
        </p:txBody>
      </p:sp>
      <p:sp>
        <p:nvSpPr>
          <p:cNvPr id="5" name="Text 3"/>
          <p:cNvSpPr txBox="1"/>
          <p:nvPr/>
        </p:nvSpPr>
        <p:spPr>
          <a:xfrm>
            <a:off x="640080" y="2578608"/>
            <a:ext cx="6949440" cy="457200"/>
          </a:xfrm>
          <a:prstGeom prst="rect">
            <a:avLst/>
          </a:prstGeom>
          <a:noFill/>
          <a:ln/>
        </p:spPr>
        <p:txBody>
          <a:bodyPr wrap="square" lIns="0" tIns="0" rIns="0" bIns="0" rtlCol="0" anchor="ctr"/>
          <a:lstStyle/>
          <a:p>
            <a:pPr indent="0" marL="0">
              <a:lnSpc>
                <a:spcPct val="112000"/>
              </a:lnSpc>
              <a:buNone/>
            </a:pPr>
            <a:r>
              <a:rPr lang="en-US" sz="1400" dirty="0">
                <a:solidFill>
                  <a:srgbClr val="B9C6DB"/>
                </a:solidFill>
                <a:latin typeface="Calibri" pitchFamily="34" charset="0"/>
                <a:ea typeface="Calibri" pitchFamily="34" charset="-122"/>
                <a:cs typeface="Calibri" pitchFamily="34" charset="-120"/>
              </a:rPr>
              <a:t>Running against seeded data: 60 students, 10 class sections, a full term of attendance history.</a:t>
            </a:r>
            <a:endParaRPr lang="en-US" sz="1400" dirty="0"/>
          </a:p>
        </p:txBody>
      </p:sp>
      <p:sp>
        <p:nvSpPr>
          <p:cNvPr id="6" name="Shape 4"/>
          <p:cNvSpPr/>
          <p:nvPr/>
        </p:nvSpPr>
        <p:spPr>
          <a:xfrm>
            <a:off x="640080" y="3364992"/>
            <a:ext cx="274320" cy="274320"/>
          </a:xfrm>
          <a:prstGeom prst="ellipse">
            <a:avLst/>
          </a:prstGeom>
          <a:solidFill>
            <a:srgbClr val="C9A227"/>
          </a:solidFill>
          <a:ln/>
        </p:spPr>
      </p:sp>
      <p:sp>
        <p:nvSpPr>
          <p:cNvPr id="7" name="Text 5"/>
          <p:cNvSpPr txBox="1"/>
          <p:nvPr/>
        </p:nvSpPr>
        <p:spPr>
          <a:xfrm>
            <a:off x="640080" y="3396996"/>
            <a:ext cx="274320" cy="237744"/>
          </a:xfrm>
          <a:prstGeom prst="rect">
            <a:avLst/>
          </a:prstGeom>
          <a:noFill/>
          <a:ln/>
        </p:spPr>
        <p:txBody>
          <a:bodyPr wrap="square" lIns="0" tIns="0" rIns="0" bIns="0" rtlCol="0" anchor="ctr"/>
          <a:lstStyle/>
          <a:p>
            <a:pPr algn="ctr" indent="0" marL="0">
              <a:buNone/>
            </a:pPr>
            <a:r>
              <a:rPr lang="en-US" sz="1100" b="1" dirty="0">
                <a:solidFill>
                  <a:srgbClr val="12233F"/>
                </a:solidFill>
                <a:latin typeface="Cambria" pitchFamily="34" charset="0"/>
                <a:ea typeface="Cambria" pitchFamily="34" charset="-122"/>
                <a:cs typeface="Cambria" pitchFamily="34" charset="-120"/>
              </a:rPr>
              <a:t>1</a:t>
            </a:r>
            <a:endParaRPr lang="en-US" sz="1100" dirty="0"/>
          </a:p>
        </p:txBody>
      </p:sp>
      <p:sp>
        <p:nvSpPr>
          <p:cNvPr id="8" name="Text 6"/>
          <p:cNvSpPr txBox="1"/>
          <p:nvPr/>
        </p:nvSpPr>
        <p:spPr>
          <a:xfrm>
            <a:off x="1060704" y="3310128"/>
            <a:ext cx="21031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Administrator</a:t>
            </a:r>
            <a:endParaRPr lang="en-US" sz="1400" dirty="0"/>
          </a:p>
        </p:txBody>
      </p:sp>
      <p:sp>
        <p:nvSpPr>
          <p:cNvPr id="9" name="Text 7"/>
          <p:cNvSpPr txBox="1"/>
          <p:nvPr/>
        </p:nvSpPr>
        <p:spPr>
          <a:xfrm>
            <a:off x="1060704" y="3575304"/>
            <a:ext cx="4888840" cy="365760"/>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Dashboard figures, then the at-risk report</a:t>
            </a:r>
            <a:endParaRPr lang="en-US" sz="1150" dirty="0"/>
          </a:p>
        </p:txBody>
      </p:sp>
      <p:sp>
        <p:nvSpPr>
          <p:cNvPr id="10" name="Shape 8"/>
          <p:cNvSpPr/>
          <p:nvPr/>
        </p:nvSpPr>
        <p:spPr>
          <a:xfrm>
            <a:off x="6242152" y="3364992"/>
            <a:ext cx="274320" cy="274320"/>
          </a:xfrm>
          <a:prstGeom prst="ellipse">
            <a:avLst/>
          </a:prstGeom>
          <a:solidFill>
            <a:srgbClr val="2E7D52"/>
          </a:solidFill>
          <a:ln/>
        </p:spPr>
      </p:sp>
      <p:sp>
        <p:nvSpPr>
          <p:cNvPr id="11" name="Text 9"/>
          <p:cNvSpPr txBox="1"/>
          <p:nvPr/>
        </p:nvSpPr>
        <p:spPr>
          <a:xfrm>
            <a:off x="6242152" y="3396996"/>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2</a:t>
            </a:r>
            <a:endParaRPr lang="en-US" sz="1100" dirty="0"/>
          </a:p>
        </p:txBody>
      </p:sp>
      <p:sp>
        <p:nvSpPr>
          <p:cNvPr id="12" name="Text 10"/>
          <p:cNvSpPr txBox="1"/>
          <p:nvPr/>
        </p:nvSpPr>
        <p:spPr>
          <a:xfrm>
            <a:off x="6662776" y="3310128"/>
            <a:ext cx="21031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Lecturer</a:t>
            </a:r>
            <a:endParaRPr lang="en-US" sz="1400" dirty="0"/>
          </a:p>
        </p:txBody>
      </p:sp>
      <p:sp>
        <p:nvSpPr>
          <p:cNvPr id="13" name="Text 11"/>
          <p:cNvSpPr txBox="1"/>
          <p:nvPr/>
        </p:nvSpPr>
        <p:spPr>
          <a:xfrm>
            <a:off x="6662776" y="3575304"/>
            <a:ext cx="4888840" cy="365760"/>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Open today session, project the QR code</a:t>
            </a:r>
            <a:endParaRPr lang="en-US" sz="1150" dirty="0"/>
          </a:p>
        </p:txBody>
      </p:sp>
      <p:sp>
        <p:nvSpPr>
          <p:cNvPr id="14" name="Shape 12"/>
          <p:cNvSpPr/>
          <p:nvPr/>
        </p:nvSpPr>
        <p:spPr>
          <a:xfrm>
            <a:off x="640080" y="4114800"/>
            <a:ext cx="274320" cy="274320"/>
          </a:xfrm>
          <a:prstGeom prst="ellipse">
            <a:avLst/>
          </a:prstGeom>
          <a:solidFill>
            <a:srgbClr val="C9A227"/>
          </a:solidFill>
          <a:ln/>
        </p:spPr>
      </p:sp>
      <p:sp>
        <p:nvSpPr>
          <p:cNvPr id="15" name="Text 13"/>
          <p:cNvSpPr txBox="1"/>
          <p:nvPr/>
        </p:nvSpPr>
        <p:spPr>
          <a:xfrm>
            <a:off x="640080" y="4146804"/>
            <a:ext cx="274320" cy="237744"/>
          </a:xfrm>
          <a:prstGeom prst="rect">
            <a:avLst/>
          </a:prstGeom>
          <a:noFill/>
          <a:ln/>
        </p:spPr>
        <p:txBody>
          <a:bodyPr wrap="square" lIns="0" tIns="0" rIns="0" bIns="0" rtlCol="0" anchor="ctr"/>
          <a:lstStyle/>
          <a:p>
            <a:pPr algn="ctr" indent="0" marL="0">
              <a:buNone/>
            </a:pPr>
            <a:r>
              <a:rPr lang="en-US" sz="1100" b="1" dirty="0">
                <a:solidFill>
                  <a:srgbClr val="12233F"/>
                </a:solidFill>
                <a:latin typeface="Cambria" pitchFamily="34" charset="0"/>
                <a:ea typeface="Cambria" pitchFamily="34" charset="-122"/>
                <a:cs typeface="Cambria" pitchFamily="34" charset="-120"/>
              </a:rPr>
              <a:t>3</a:t>
            </a:r>
            <a:endParaRPr lang="en-US" sz="1100" dirty="0"/>
          </a:p>
        </p:txBody>
      </p:sp>
      <p:sp>
        <p:nvSpPr>
          <p:cNvPr id="16" name="Text 14"/>
          <p:cNvSpPr txBox="1"/>
          <p:nvPr/>
        </p:nvSpPr>
        <p:spPr>
          <a:xfrm>
            <a:off x="1060704" y="4059936"/>
            <a:ext cx="21031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Student</a:t>
            </a:r>
            <a:endParaRPr lang="en-US" sz="1400" dirty="0"/>
          </a:p>
        </p:txBody>
      </p:sp>
      <p:sp>
        <p:nvSpPr>
          <p:cNvPr id="17" name="Text 15"/>
          <p:cNvSpPr txBox="1"/>
          <p:nvPr/>
        </p:nvSpPr>
        <p:spPr>
          <a:xfrm>
            <a:off x="1060704" y="4325112"/>
            <a:ext cx="4888840" cy="365760"/>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Check in with the 6-character code</a:t>
            </a:r>
            <a:endParaRPr lang="en-US" sz="1150" dirty="0"/>
          </a:p>
        </p:txBody>
      </p:sp>
      <p:sp>
        <p:nvSpPr>
          <p:cNvPr id="18" name="Shape 16"/>
          <p:cNvSpPr/>
          <p:nvPr/>
        </p:nvSpPr>
        <p:spPr>
          <a:xfrm>
            <a:off x="6242152" y="4114800"/>
            <a:ext cx="274320" cy="274320"/>
          </a:xfrm>
          <a:prstGeom prst="ellipse">
            <a:avLst/>
          </a:prstGeom>
          <a:solidFill>
            <a:srgbClr val="2E7D52"/>
          </a:solidFill>
          <a:ln/>
        </p:spPr>
      </p:sp>
      <p:sp>
        <p:nvSpPr>
          <p:cNvPr id="19" name="Text 17"/>
          <p:cNvSpPr txBox="1"/>
          <p:nvPr/>
        </p:nvSpPr>
        <p:spPr>
          <a:xfrm>
            <a:off x="6242152" y="4146804"/>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4</a:t>
            </a:r>
            <a:endParaRPr lang="en-US" sz="1100" dirty="0"/>
          </a:p>
        </p:txBody>
      </p:sp>
      <p:sp>
        <p:nvSpPr>
          <p:cNvPr id="20" name="Text 18"/>
          <p:cNvSpPr txBox="1"/>
          <p:nvPr/>
        </p:nvSpPr>
        <p:spPr>
          <a:xfrm>
            <a:off x="6662776" y="4059936"/>
            <a:ext cx="21031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Lecturer</a:t>
            </a:r>
            <a:endParaRPr lang="en-US" sz="1400" dirty="0"/>
          </a:p>
        </p:txBody>
      </p:sp>
      <p:sp>
        <p:nvSpPr>
          <p:cNvPr id="21" name="Text 19"/>
          <p:cNvSpPr txBox="1"/>
          <p:nvPr/>
        </p:nvSpPr>
        <p:spPr>
          <a:xfrm>
            <a:off x="6662776" y="4325112"/>
            <a:ext cx="4888840" cy="365760"/>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Mark the register, then close it</a:t>
            </a:r>
            <a:endParaRPr lang="en-US" sz="1150" dirty="0"/>
          </a:p>
        </p:txBody>
      </p:sp>
      <p:sp>
        <p:nvSpPr>
          <p:cNvPr id="22" name="Shape 20"/>
          <p:cNvSpPr/>
          <p:nvPr/>
        </p:nvSpPr>
        <p:spPr>
          <a:xfrm>
            <a:off x="640080" y="4864608"/>
            <a:ext cx="274320" cy="274320"/>
          </a:xfrm>
          <a:prstGeom prst="ellipse">
            <a:avLst/>
          </a:prstGeom>
          <a:solidFill>
            <a:srgbClr val="C9A227"/>
          </a:solidFill>
          <a:ln/>
        </p:spPr>
      </p:sp>
      <p:sp>
        <p:nvSpPr>
          <p:cNvPr id="23" name="Text 21"/>
          <p:cNvSpPr txBox="1"/>
          <p:nvPr/>
        </p:nvSpPr>
        <p:spPr>
          <a:xfrm>
            <a:off x="640080" y="4896612"/>
            <a:ext cx="274320" cy="237744"/>
          </a:xfrm>
          <a:prstGeom prst="rect">
            <a:avLst/>
          </a:prstGeom>
          <a:noFill/>
          <a:ln/>
        </p:spPr>
        <p:txBody>
          <a:bodyPr wrap="square" lIns="0" tIns="0" rIns="0" bIns="0" rtlCol="0" anchor="ctr"/>
          <a:lstStyle/>
          <a:p>
            <a:pPr algn="ctr" indent="0" marL="0">
              <a:buNone/>
            </a:pPr>
            <a:r>
              <a:rPr lang="en-US" sz="1100" b="1" dirty="0">
                <a:solidFill>
                  <a:srgbClr val="12233F"/>
                </a:solidFill>
                <a:latin typeface="Cambria" pitchFamily="34" charset="0"/>
                <a:ea typeface="Cambria" pitchFamily="34" charset="-122"/>
                <a:cs typeface="Cambria" pitchFamily="34" charset="-120"/>
              </a:rPr>
              <a:t>5</a:t>
            </a:r>
            <a:endParaRPr lang="en-US" sz="1100" dirty="0"/>
          </a:p>
        </p:txBody>
      </p:sp>
      <p:sp>
        <p:nvSpPr>
          <p:cNvPr id="24" name="Text 22"/>
          <p:cNvSpPr txBox="1"/>
          <p:nvPr/>
        </p:nvSpPr>
        <p:spPr>
          <a:xfrm>
            <a:off x="1060704" y="4809744"/>
            <a:ext cx="21031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Student</a:t>
            </a:r>
            <a:endParaRPr lang="en-US" sz="1400" dirty="0"/>
          </a:p>
        </p:txBody>
      </p:sp>
      <p:sp>
        <p:nvSpPr>
          <p:cNvPr id="25" name="Text 23"/>
          <p:cNvSpPr txBox="1"/>
          <p:nvPr/>
        </p:nvSpPr>
        <p:spPr>
          <a:xfrm>
            <a:off x="1060704" y="5074920"/>
            <a:ext cx="4888840" cy="365760"/>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The updated percentage and the warning</a:t>
            </a:r>
            <a:endParaRPr lang="en-US" sz="1150" dirty="0"/>
          </a:p>
        </p:txBody>
      </p:sp>
      <p:sp>
        <p:nvSpPr>
          <p:cNvPr id="26" name="Shape 24"/>
          <p:cNvSpPr/>
          <p:nvPr/>
        </p:nvSpPr>
        <p:spPr>
          <a:xfrm>
            <a:off x="6242152" y="4864608"/>
            <a:ext cx="274320" cy="274320"/>
          </a:xfrm>
          <a:prstGeom prst="ellipse">
            <a:avLst/>
          </a:prstGeom>
          <a:solidFill>
            <a:srgbClr val="C0392B"/>
          </a:solidFill>
          <a:ln/>
        </p:spPr>
      </p:sp>
      <p:sp>
        <p:nvSpPr>
          <p:cNvPr id="27" name="Text 25"/>
          <p:cNvSpPr txBox="1"/>
          <p:nvPr/>
        </p:nvSpPr>
        <p:spPr>
          <a:xfrm>
            <a:off x="6242152" y="4896612"/>
            <a:ext cx="274320" cy="237744"/>
          </a:xfrm>
          <a:prstGeom prst="rect">
            <a:avLst/>
          </a:prstGeom>
          <a:noFill/>
          <a:ln/>
        </p:spPr>
        <p:txBody>
          <a:bodyPr wrap="square" lIns="0" tIns="0" rIns="0" bIns="0" rtlCol="0" anchor="ctr"/>
          <a:lstStyle/>
          <a:p>
            <a:pPr algn="ctr" indent="0" marL="0">
              <a:buNone/>
            </a:pPr>
            <a:r>
              <a:rPr lang="en-US" sz="1100" b="1" dirty="0">
                <a:solidFill>
                  <a:srgbClr val="FFFFFF"/>
                </a:solidFill>
                <a:latin typeface="Cambria" pitchFamily="34" charset="0"/>
                <a:ea typeface="Cambria" pitchFamily="34" charset="-122"/>
                <a:cs typeface="Cambria" pitchFamily="34" charset="-120"/>
              </a:rPr>
              <a:t>6</a:t>
            </a:r>
            <a:endParaRPr lang="en-US" sz="1100" dirty="0"/>
          </a:p>
        </p:txBody>
      </p:sp>
      <p:sp>
        <p:nvSpPr>
          <p:cNvPr id="28" name="Text 26"/>
          <p:cNvSpPr txBox="1"/>
          <p:nvPr/>
        </p:nvSpPr>
        <p:spPr>
          <a:xfrm>
            <a:off x="6662776" y="4809744"/>
            <a:ext cx="2103120" cy="274320"/>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ea typeface="Cambria" pitchFamily="34" charset="-122"/>
                <a:cs typeface="Cambria" pitchFamily="34" charset="-120"/>
              </a:rPr>
              <a:t>Access control</a:t>
            </a:r>
            <a:endParaRPr lang="en-US" sz="1400" dirty="0"/>
          </a:p>
        </p:txBody>
      </p:sp>
      <p:sp>
        <p:nvSpPr>
          <p:cNvPr id="29" name="Text 27"/>
          <p:cNvSpPr txBox="1"/>
          <p:nvPr/>
        </p:nvSpPr>
        <p:spPr>
          <a:xfrm>
            <a:off x="6662776" y="5074920"/>
            <a:ext cx="4888840" cy="365760"/>
          </a:xfrm>
          <a:prstGeom prst="rect">
            <a:avLst/>
          </a:prstGeom>
          <a:noFill/>
          <a:ln/>
        </p:spPr>
        <p:txBody>
          <a:bodyPr wrap="square" lIns="0" tIns="0" rIns="0" bIns="0" rtlCol="0" anchor="ctr"/>
          <a:lstStyle/>
          <a:p>
            <a:pPr indent="0" marL="0">
              <a:lnSpc>
                <a:spcPct val="105000"/>
              </a:lnSpc>
              <a:buNone/>
            </a:pPr>
            <a:r>
              <a:rPr lang="en-US" sz="1150" dirty="0">
                <a:solidFill>
                  <a:srgbClr val="9DAAC2"/>
                </a:solidFill>
                <a:latin typeface="Calibri" pitchFamily="34" charset="0"/>
                <a:ea typeface="Calibri" pitchFamily="34" charset="-122"/>
                <a:cs typeface="Calibri" pitchFamily="34" charset="-120"/>
              </a:rPr>
              <a:t>A student pasting an admin URL</a:t>
            </a:r>
            <a:endParaRPr lang="en-US" sz="11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13</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Tested, not just demonstrated</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73 automated tests running against real HTTP requests, not method calls.</a:t>
            </a:r>
            <a:endParaRPr lang="en-US" sz="1400" dirty="0"/>
          </a:p>
        </p:txBody>
      </p:sp>
      <p:sp>
        <p:nvSpPr>
          <p:cNvPr id="5" name="Shape 3"/>
          <p:cNvSpPr/>
          <p:nvPr/>
        </p:nvSpPr>
        <p:spPr>
          <a:xfrm>
            <a:off x="640080" y="1737360"/>
            <a:ext cx="2508428" cy="1133856"/>
          </a:xfrm>
          <a:prstGeom prst="roundRect">
            <a:avLst>
              <a:gd name="adj" fmla="val 4032"/>
            </a:avLst>
          </a:prstGeom>
          <a:solidFill>
            <a:srgbClr val="F4F6FA"/>
          </a:solidFill>
          <a:ln w="12700">
            <a:solidFill>
              <a:srgbClr val="D8DEE8"/>
            </a:solidFill>
            <a:prstDash val="solid"/>
          </a:ln>
        </p:spPr>
      </p:sp>
      <p:sp>
        <p:nvSpPr>
          <p:cNvPr id="6" name="Text 4"/>
          <p:cNvSpPr txBox="1"/>
          <p:nvPr/>
        </p:nvSpPr>
        <p:spPr>
          <a:xfrm>
            <a:off x="859536" y="1847088"/>
            <a:ext cx="2069516" cy="566928"/>
          </a:xfrm>
          <a:prstGeom prst="rect">
            <a:avLst/>
          </a:prstGeom>
          <a:noFill/>
          <a:ln/>
        </p:spPr>
        <p:txBody>
          <a:bodyPr wrap="square" lIns="0" tIns="0" rIns="0" bIns="0" rtlCol="0" anchor="ctr"/>
          <a:lstStyle/>
          <a:p>
            <a:pPr indent="0" marL="0">
              <a:buNone/>
            </a:pPr>
            <a:r>
              <a:rPr lang="en-US" sz="3600" b="1" dirty="0">
                <a:solidFill>
                  <a:srgbClr val="12233F"/>
                </a:solidFill>
                <a:latin typeface="Cambria" pitchFamily="34" charset="0"/>
                <a:ea typeface="Cambria" pitchFamily="34" charset="-122"/>
                <a:cs typeface="Cambria" pitchFamily="34" charset="-120"/>
              </a:rPr>
              <a:t>73</a:t>
            </a:r>
            <a:endParaRPr lang="en-US" sz="3600" dirty="0"/>
          </a:p>
        </p:txBody>
      </p:sp>
      <p:sp>
        <p:nvSpPr>
          <p:cNvPr id="7" name="Text 5"/>
          <p:cNvSpPr txBox="1"/>
          <p:nvPr/>
        </p:nvSpPr>
        <p:spPr>
          <a:xfrm>
            <a:off x="859536" y="2432304"/>
            <a:ext cx="2069516"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tests</a:t>
            </a:r>
            <a:endParaRPr lang="en-US" sz="1150" dirty="0"/>
          </a:p>
        </p:txBody>
      </p:sp>
      <p:sp>
        <p:nvSpPr>
          <p:cNvPr id="8" name="Shape 6"/>
          <p:cNvSpPr/>
          <p:nvPr/>
        </p:nvSpPr>
        <p:spPr>
          <a:xfrm>
            <a:off x="3441116" y="1737360"/>
            <a:ext cx="2508428" cy="1133856"/>
          </a:xfrm>
          <a:prstGeom prst="roundRect">
            <a:avLst>
              <a:gd name="adj" fmla="val 4032"/>
            </a:avLst>
          </a:prstGeom>
          <a:solidFill>
            <a:srgbClr val="F4F6FA"/>
          </a:solidFill>
          <a:ln w="12700">
            <a:solidFill>
              <a:srgbClr val="D8DEE8"/>
            </a:solidFill>
            <a:prstDash val="solid"/>
          </a:ln>
        </p:spPr>
      </p:sp>
      <p:sp>
        <p:nvSpPr>
          <p:cNvPr id="9" name="Text 7"/>
          <p:cNvSpPr txBox="1"/>
          <p:nvPr/>
        </p:nvSpPr>
        <p:spPr>
          <a:xfrm>
            <a:off x="3660572" y="1847088"/>
            <a:ext cx="2069516" cy="566928"/>
          </a:xfrm>
          <a:prstGeom prst="rect">
            <a:avLst/>
          </a:prstGeom>
          <a:noFill/>
          <a:ln/>
        </p:spPr>
        <p:txBody>
          <a:bodyPr wrap="square" lIns="0" tIns="0" rIns="0" bIns="0" rtlCol="0" anchor="ctr"/>
          <a:lstStyle/>
          <a:p>
            <a:pPr indent="0" marL="0">
              <a:buNone/>
            </a:pPr>
            <a:r>
              <a:rPr lang="en-US" sz="3600" b="1" dirty="0">
                <a:solidFill>
                  <a:srgbClr val="12233F"/>
                </a:solidFill>
                <a:latin typeface="Cambria" pitchFamily="34" charset="0"/>
                <a:ea typeface="Cambria" pitchFamily="34" charset="-122"/>
                <a:cs typeface="Cambria" pitchFamily="34" charset="-120"/>
              </a:rPr>
              <a:t>249</a:t>
            </a:r>
            <a:endParaRPr lang="en-US" sz="3600" dirty="0"/>
          </a:p>
        </p:txBody>
      </p:sp>
      <p:sp>
        <p:nvSpPr>
          <p:cNvPr id="10" name="Text 8"/>
          <p:cNvSpPr txBox="1"/>
          <p:nvPr/>
        </p:nvSpPr>
        <p:spPr>
          <a:xfrm>
            <a:off x="3660572" y="2432304"/>
            <a:ext cx="2069516"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assertions</a:t>
            </a:r>
            <a:endParaRPr lang="en-US" sz="1150" dirty="0"/>
          </a:p>
        </p:txBody>
      </p:sp>
      <p:sp>
        <p:nvSpPr>
          <p:cNvPr id="11" name="Shape 9"/>
          <p:cNvSpPr/>
          <p:nvPr/>
        </p:nvSpPr>
        <p:spPr>
          <a:xfrm>
            <a:off x="6242152" y="1737360"/>
            <a:ext cx="2508428" cy="1133856"/>
          </a:xfrm>
          <a:prstGeom prst="roundRect">
            <a:avLst>
              <a:gd name="adj" fmla="val 4032"/>
            </a:avLst>
          </a:prstGeom>
          <a:solidFill>
            <a:srgbClr val="F4F6FA"/>
          </a:solidFill>
          <a:ln w="12700">
            <a:solidFill>
              <a:srgbClr val="D8DEE8"/>
            </a:solidFill>
            <a:prstDash val="solid"/>
          </a:ln>
        </p:spPr>
      </p:sp>
      <p:sp>
        <p:nvSpPr>
          <p:cNvPr id="12" name="Text 10"/>
          <p:cNvSpPr txBox="1"/>
          <p:nvPr/>
        </p:nvSpPr>
        <p:spPr>
          <a:xfrm>
            <a:off x="6461608" y="1847088"/>
            <a:ext cx="2069516" cy="566928"/>
          </a:xfrm>
          <a:prstGeom prst="rect">
            <a:avLst/>
          </a:prstGeom>
          <a:noFill/>
          <a:ln/>
        </p:spPr>
        <p:txBody>
          <a:bodyPr wrap="square" lIns="0" tIns="0" rIns="0" bIns="0" rtlCol="0" anchor="ctr"/>
          <a:lstStyle/>
          <a:p>
            <a:pPr indent="0" marL="0">
              <a:buNone/>
            </a:pPr>
            <a:r>
              <a:rPr lang="en-US" sz="3600" b="1" dirty="0">
                <a:solidFill>
                  <a:srgbClr val="2E7D52"/>
                </a:solidFill>
                <a:latin typeface="Cambria" pitchFamily="34" charset="0"/>
                <a:ea typeface="Cambria" pitchFamily="34" charset="-122"/>
                <a:cs typeface="Cambria" pitchFamily="34" charset="-120"/>
              </a:rPr>
              <a:t>2.9s</a:t>
            </a:r>
            <a:endParaRPr lang="en-US" sz="3600" dirty="0"/>
          </a:p>
        </p:txBody>
      </p:sp>
      <p:sp>
        <p:nvSpPr>
          <p:cNvPr id="13" name="Text 11"/>
          <p:cNvSpPr txBox="1"/>
          <p:nvPr/>
        </p:nvSpPr>
        <p:spPr>
          <a:xfrm>
            <a:off x="6461608" y="2432304"/>
            <a:ext cx="2069516"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to run the suite</a:t>
            </a:r>
            <a:endParaRPr lang="en-US" sz="1150" dirty="0"/>
          </a:p>
        </p:txBody>
      </p:sp>
      <p:sp>
        <p:nvSpPr>
          <p:cNvPr id="14" name="Shape 12"/>
          <p:cNvSpPr/>
          <p:nvPr/>
        </p:nvSpPr>
        <p:spPr>
          <a:xfrm>
            <a:off x="9043187" y="1737360"/>
            <a:ext cx="2508428" cy="1133856"/>
          </a:xfrm>
          <a:prstGeom prst="roundRect">
            <a:avLst>
              <a:gd name="adj" fmla="val 4032"/>
            </a:avLst>
          </a:prstGeom>
          <a:solidFill>
            <a:srgbClr val="F4F6FA"/>
          </a:solidFill>
          <a:ln w="12700">
            <a:solidFill>
              <a:srgbClr val="D8DEE8"/>
            </a:solidFill>
            <a:prstDash val="solid"/>
          </a:ln>
        </p:spPr>
      </p:sp>
      <p:sp>
        <p:nvSpPr>
          <p:cNvPr id="15" name="Text 13"/>
          <p:cNvSpPr txBox="1"/>
          <p:nvPr/>
        </p:nvSpPr>
        <p:spPr>
          <a:xfrm>
            <a:off x="9262643" y="1847088"/>
            <a:ext cx="2069516" cy="566928"/>
          </a:xfrm>
          <a:prstGeom prst="rect">
            <a:avLst/>
          </a:prstGeom>
          <a:noFill/>
          <a:ln/>
        </p:spPr>
        <p:txBody>
          <a:bodyPr wrap="square" lIns="0" tIns="0" rIns="0" bIns="0" rtlCol="0" anchor="ctr"/>
          <a:lstStyle/>
          <a:p>
            <a:pPr indent="0" marL="0">
              <a:buNone/>
            </a:pPr>
            <a:r>
              <a:rPr lang="en-US" sz="3600" b="1" dirty="0">
                <a:solidFill>
                  <a:srgbClr val="C9A227"/>
                </a:solidFill>
                <a:latin typeface="Cambria" pitchFamily="34" charset="0"/>
                <a:ea typeface="Cambria" pitchFamily="34" charset="-122"/>
                <a:cs typeface="Cambria" pitchFamily="34" charset="-120"/>
              </a:rPr>
              <a:t>50</a:t>
            </a:r>
            <a:endParaRPr lang="en-US" sz="3600" dirty="0"/>
          </a:p>
        </p:txBody>
      </p:sp>
      <p:sp>
        <p:nvSpPr>
          <p:cNvPr id="16" name="Text 14"/>
          <p:cNvSpPr txBox="1"/>
          <p:nvPr/>
        </p:nvSpPr>
        <p:spPr>
          <a:xfrm>
            <a:off x="9262643" y="2432304"/>
            <a:ext cx="2069516" cy="310896"/>
          </a:xfrm>
          <a:prstGeom prst="rect">
            <a:avLst/>
          </a:prstGeom>
          <a:noFill/>
          <a:ln/>
        </p:spPr>
        <p:txBody>
          <a:bodyPr wrap="square" lIns="0" tIns="0" rIns="0" bIns="0" rtlCol="0" anchor="ctr"/>
          <a:lstStyle/>
          <a:p>
            <a:pPr indent="0" marL="0">
              <a:buNone/>
            </a:pPr>
            <a:r>
              <a:rPr lang="en-US" sz="1150" dirty="0">
                <a:solidFill>
                  <a:srgbClr val="6B7891"/>
                </a:solidFill>
                <a:latin typeface="Calibri" pitchFamily="34" charset="0"/>
                <a:ea typeface="Calibri" pitchFamily="34" charset="-122"/>
                <a:cs typeface="Calibri" pitchFamily="34" charset="-120"/>
              </a:rPr>
              <a:t>documented test cases</a:t>
            </a:r>
            <a:endParaRPr lang="en-US" sz="1150" dirty="0"/>
          </a:p>
        </p:txBody>
      </p:sp>
      <p:sp>
        <p:nvSpPr>
          <p:cNvPr id="17" name="Shape 15"/>
          <p:cNvSpPr/>
          <p:nvPr/>
        </p:nvSpPr>
        <p:spPr>
          <a:xfrm>
            <a:off x="640080" y="3127248"/>
            <a:ext cx="6675120" cy="365760"/>
          </a:xfrm>
          <a:prstGeom prst="rect">
            <a:avLst/>
          </a:prstGeom>
          <a:solidFill>
            <a:srgbClr val="F4F6FA"/>
          </a:solidFill>
          <a:ln w="12700">
            <a:solidFill>
              <a:srgbClr val="F4F6FA"/>
            </a:solidFill>
            <a:prstDash val="solid"/>
          </a:ln>
        </p:spPr>
      </p:sp>
      <p:sp>
        <p:nvSpPr>
          <p:cNvPr id="18" name="Text 16"/>
          <p:cNvSpPr txBox="1"/>
          <p:nvPr/>
        </p:nvSpPr>
        <p:spPr>
          <a:xfrm>
            <a:off x="786384" y="319125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Authentication</a:t>
            </a:r>
            <a:endParaRPr lang="en-US" sz="1150" dirty="0"/>
          </a:p>
        </p:txBody>
      </p:sp>
      <p:sp>
        <p:nvSpPr>
          <p:cNvPr id="19" name="Text 17"/>
          <p:cNvSpPr txBox="1"/>
          <p:nvPr/>
        </p:nvSpPr>
        <p:spPr>
          <a:xfrm>
            <a:off x="2743200" y="319125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9</a:t>
            </a:r>
            <a:endParaRPr lang="en-US" sz="1150" dirty="0"/>
          </a:p>
        </p:txBody>
      </p:sp>
      <p:sp>
        <p:nvSpPr>
          <p:cNvPr id="20" name="Text 18"/>
          <p:cNvSpPr txBox="1"/>
          <p:nvPr/>
        </p:nvSpPr>
        <p:spPr>
          <a:xfrm>
            <a:off x="3328416" y="319125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Sign-in, role landing pages, deactivated accounts</a:t>
            </a:r>
            <a:endParaRPr lang="en-US" sz="1100" dirty="0"/>
          </a:p>
        </p:txBody>
      </p:sp>
      <p:sp>
        <p:nvSpPr>
          <p:cNvPr id="21" name="Text 19"/>
          <p:cNvSpPr txBox="1"/>
          <p:nvPr/>
        </p:nvSpPr>
        <p:spPr>
          <a:xfrm>
            <a:off x="786384" y="355701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Role access</a:t>
            </a:r>
            <a:endParaRPr lang="en-US" sz="1150" dirty="0"/>
          </a:p>
        </p:txBody>
      </p:sp>
      <p:sp>
        <p:nvSpPr>
          <p:cNvPr id="22" name="Text 20"/>
          <p:cNvSpPr txBox="1"/>
          <p:nvPr/>
        </p:nvSpPr>
        <p:spPr>
          <a:xfrm>
            <a:off x="2743200" y="355701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9</a:t>
            </a:r>
            <a:endParaRPr lang="en-US" sz="1150" dirty="0"/>
          </a:p>
        </p:txBody>
      </p:sp>
      <p:sp>
        <p:nvSpPr>
          <p:cNvPr id="23" name="Text 21"/>
          <p:cNvSpPr txBox="1"/>
          <p:nvPr/>
        </p:nvSpPr>
        <p:spPr>
          <a:xfrm>
            <a:off x="3328416" y="355701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Cross-portal refusals and the ownership policies</a:t>
            </a:r>
            <a:endParaRPr lang="en-US" sz="1100" dirty="0"/>
          </a:p>
        </p:txBody>
      </p:sp>
      <p:sp>
        <p:nvSpPr>
          <p:cNvPr id="24" name="Shape 22"/>
          <p:cNvSpPr/>
          <p:nvPr/>
        </p:nvSpPr>
        <p:spPr>
          <a:xfrm>
            <a:off x="640080" y="3858768"/>
            <a:ext cx="6675120" cy="365760"/>
          </a:xfrm>
          <a:prstGeom prst="rect">
            <a:avLst/>
          </a:prstGeom>
          <a:solidFill>
            <a:srgbClr val="F4F6FA"/>
          </a:solidFill>
          <a:ln w="12700">
            <a:solidFill>
              <a:srgbClr val="F4F6FA"/>
            </a:solidFill>
            <a:prstDash val="solid"/>
          </a:ln>
        </p:spPr>
      </p:sp>
      <p:sp>
        <p:nvSpPr>
          <p:cNvPr id="25" name="Text 23"/>
          <p:cNvSpPr txBox="1"/>
          <p:nvPr/>
        </p:nvSpPr>
        <p:spPr>
          <a:xfrm>
            <a:off x="786384" y="392277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Admin management</a:t>
            </a:r>
            <a:endParaRPr lang="en-US" sz="1150" dirty="0"/>
          </a:p>
        </p:txBody>
      </p:sp>
      <p:sp>
        <p:nvSpPr>
          <p:cNvPr id="26" name="Text 24"/>
          <p:cNvSpPr txBox="1"/>
          <p:nvPr/>
        </p:nvSpPr>
        <p:spPr>
          <a:xfrm>
            <a:off x="2743200" y="392277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10</a:t>
            </a:r>
            <a:endParaRPr lang="en-US" sz="1150" dirty="0"/>
          </a:p>
        </p:txBody>
      </p:sp>
      <p:sp>
        <p:nvSpPr>
          <p:cNvPr id="27" name="Text 25"/>
          <p:cNvSpPr txBox="1"/>
          <p:nvPr/>
        </p:nvSpPr>
        <p:spPr>
          <a:xfrm>
            <a:off x="3328416" y="392277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CRUD, validation, bulk enrollment, password reset</a:t>
            </a:r>
            <a:endParaRPr lang="en-US" sz="1100" dirty="0"/>
          </a:p>
        </p:txBody>
      </p:sp>
      <p:sp>
        <p:nvSpPr>
          <p:cNvPr id="28" name="Text 26"/>
          <p:cNvSpPr txBox="1"/>
          <p:nvPr/>
        </p:nvSpPr>
        <p:spPr>
          <a:xfrm>
            <a:off x="786384" y="428853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Attendance marking</a:t>
            </a:r>
            <a:endParaRPr lang="en-US" sz="1150" dirty="0"/>
          </a:p>
        </p:txBody>
      </p:sp>
      <p:sp>
        <p:nvSpPr>
          <p:cNvPr id="29" name="Text 27"/>
          <p:cNvSpPr txBox="1"/>
          <p:nvPr/>
        </p:nvSpPr>
        <p:spPr>
          <a:xfrm>
            <a:off x="2743200" y="428853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7</a:t>
            </a:r>
            <a:endParaRPr lang="en-US" sz="1150" dirty="0"/>
          </a:p>
        </p:txBody>
      </p:sp>
      <p:sp>
        <p:nvSpPr>
          <p:cNvPr id="30" name="Text 28"/>
          <p:cNvSpPr txBox="1"/>
          <p:nvPr/>
        </p:nvSpPr>
        <p:spPr>
          <a:xfrm>
            <a:off x="3328416" y="428853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Register saving, roster tampering, close-marks-absent</a:t>
            </a:r>
            <a:endParaRPr lang="en-US" sz="1100" dirty="0"/>
          </a:p>
        </p:txBody>
      </p:sp>
      <p:sp>
        <p:nvSpPr>
          <p:cNvPr id="31" name="Shape 29"/>
          <p:cNvSpPr/>
          <p:nvPr/>
        </p:nvSpPr>
        <p:spPr>
          <a:xfrm>
            <a:off x="640080" y="4590288"/>
            <a:ext cx="6675120" cy="365760"/>
          </a:xfrm>
          <a:prstGeom prst="rect">
            <a:avLst/>
          </a:prstGeom>
          <a:solidFill>
            <a:srgbClr val="F4F6FA"/>
          </a:solidFill>
          <a:ln w="12700">
            <a:solidFill>
              <a:srgbClr val="F4F6FA"/>
            </a:solidFill>
            <a:prstDash val="solid"/>
          </a:ln>
        </p:spPr>
      </p:sp>
      <p:sp>
        <p:nvSpPr>
          <p:cNvPr id="32" name="Text 30"/>
          <p:cNvSpPr txBox="1"/>
          <p:nvPr/>
        </p:nvSpPr>
        <p:spPr>
          <a:xfrm>
            <a:off x="786384" y="465429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QR check-in</a:t>
            </a:r>
            <a:endParaRPr lang="en-US" sz="1150" dirty="0"/>
          </a:p>
        </p:txBody>
      </p:sp>
      <p:sp>
        <p:nvSpPr>
          <p:cNvPr id="33" name="Text 31"/>
          <p:cNvSpPr txBox="1"/>
          <p:nvPr/>
        </p:nvSpPr>
        <p:spPr>
          <a:xfrm>
            <a:off x="2743200" y="465429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14</a:t>
            </a:r>
            <a:endParaRPr lang="en-US" sz="1150" dirty="0"/>
          </a:p>
        </p:txBody>
      </p:sp>
      <p:sp>
        <p:nvSpPr>
          <p:cNvPr id="34" name="Text 32"/>
          <p:cNvSpPr txBox="1"/>
          <p:nvPr/>
        </p:nvSpPr>
        <p:spPr>
          <a:xfrm>
            <a:off x="3328416" y="465429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Expired, rotated and unknown tokens; late window</a:t>
            </a:r>
            <a:endParaRPr lang="en-US" sz="1100" dirty="0"/>
          </a:p>
        </p:txBody>
      </p:sp>
      <p:sp>
        <p:nvSpPr>
          <p:cNvPr id="35" name="Text 33"/>
          <p:cNvSpPr txBox="1"/>
          <p:nvPr/>
        </p:nvSpPr>
        <p:spPr>
          <a:xfrm>
            <a:off x="786384" y="502005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Reporting</a:t>
            </a:r>
            <a:endParaRPr lang="en-US" sz="1150" dirty="0"/>
          </a:p>
        </p:txBody>
      </p:sp>
      <p:sp>
        <p:nvSpPr>
          <p:cNvPr id="36" name="Text 34"/>
          <p:cNvSpPr txBox="1"/>
          <p:nvPr/>
        </p:nvSpPr>
        <p:spPr>
          <a:xfrm>
            <a:off x="2743200" y="502005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11</a:t>
            </a:r>
            <a:endParaRPr lang="en-US" sz="1150" dirty="0"/>
          </a:p>
        </p:txBody>
      </p:sp>
      <p:sp>
        <p:nvSpPr>
          <p:cNvPr id="37" name="Text 35"/>
          <p:cNvSpPr txBox="1"/>
          <p:nvPr/>
        </p:nvSpPr>
        <p:spPr>
          <a:xfrm>
            <a:off x="3328416" y="502005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Percentage arithmetic, excused handling, query count</a:t>
            </a:r>
            <a:endParaRPr lang="en-US" sz="1100" dirty="0"/>
          </a:p>
        </p:txBody>
      </p:sp>
      <p:sp>
        <p:nvSpPr>
          <p:cNvPr id="38" name="Shape 36"/>
          <p:cNvSpPr/>
          <p:nvPr/>
        </p:nvSpPr>
        <p:spPr>
          <a:xfrm>
            <a:off x="640080" y="5321808"/>
            <a:ext cx="6675120" cy="365760"/>
          </a:xfrm>
          <a:prstGeom prst="rect">
            <a:avLst/>
          </a:prstGeom>
          <a:solidFill>
            <a:srgbClr val="F4F6FA"/>
          </a:solidFill>
          <a:ln w="12700">
            <a:solidFill>
              <a:srgbClr val="F4F6FA"/>
            </a:solidFill>
            <a:prstDash val="solid"/>
          </a:ln>
        </p:spPr>
      </p:sp>
      <p:sp>
        <p:nvSpPr>
          <p:cNvPr id="39" name="Text 37"/>
          <p:cNvSpPr txBox="1"/>
          <p:nvPr/>
        </p:nvSpPr>
        <p:spPr>
          <a:xfrm>
            <a:off x="786384" y="538581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CSV export</a:t>
            </a:r>
            <a:endParaRPr lang="en-US" sz="1150" dirty="0"/>
          </a:p>
        </p:txBody>
      </p:sp>
      <p:sp>
        <p:nvSpPr>
          <p:cNvPr id="40" name="Text 38"/>
          <p:cNvSpPr txBox="1"/>
          <p:nvPr/>
        </p:nvSpPr>
        <p:spPr>
          <a:xfrm>
            <a:off x="2743200" y="538581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6</a:t>
            </a:r>
            <a:endParaRPr lang="en-US" sz="1150" dirty="0"/>
          </a:p>
        </p:txBody>
      </p:sp>
      <p:sp>
        <p:nvSpPr>
          <p:cNvPr id="41" name="Text 39"/>
          <p:cNvSpPr txBox="1"/>
          <p:nvPr/>
        </p:nvSpPr>
        <p:spPr>
          <a:xfrm>
            <a:off x="3328416" y="538581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Headers, encoding, per-role authorisation</a:t>
            </a:r>
            <a:endParaRPr lang="en-US" sz="1100" dirty="0"/>
          </a:p>
        </p:txBody>
      </p:sp>
      <p:sp>
        <p:nvSpPr>
          <p:cNvPr id="42" name="Text 40"/>
          <p:cNvSpPr txBox="1"/>
          <p:nvPr/>
        </p:nvSpPr>
        <p:spPr>
          <a:xfrm>
            <a:off x="786384" y="5751576"/>
            <a:ext cx="1920240" cy="256032"/>
          </a:xfrm>
          <a:prstGeom prst="rect">
            <a:avLst/>
          </a:prstGeom>
          <a:noFill/>
          <a:ln/>
        </p:spPr>
        <p:txBody>
          <a:bodyPr wrap="square" lIns="0" tIns="0" rIns="0" bIns="0" rtlCol="0" anchor="ctr"/>
          <a:lstStyle/>
          <a:p>
            <a:pPr indent="0" marL="0">
              <a:buNone/>
            </a:pPr>
            <a:r>
              <a:rPr lang="en-US" sz="1150" b="1" dirty="0">
                <a:solidFill>
                  <a:srgbClr val="12233F"/>
                </a:solidFill>
                <a:latin typeface="Calibri" pitchFamily="34" charset="0"/>
                <a:ea typeface="Calibri" pitchFamily="34" charset="-122"/>
                <a:cs typeface="Calibri" pitchFamily="34" charset="-120"/>
              </a:rPr>
              <a:t>Page rendering</a:t>
            </a:r>
            <a:endParaRPr lang="en-US" sz="1150" dirty="0"/>
          </a:p>
        </p:txBody>
      </p:sp>
      <p:sp>
        <p:nvSpPr>
          <p:cNvPr id="43" name="Text 41"/>
          <p:cNvSpPr txBox="1"/>
          <p:nvPr/>
        </p:nvSpPr>
        <p:spPr>
          <a:xfrm>
            <a:off x="2743200" y="5751576"/>
            <a:ext cx="384048" cy="256032"/>
          </a:xfrm>
          <a:prstGeom prst="rect">
            <a:avLst/>
          </a:prstGeom>
          <a:noFill/>
          <a:ln/>
        </p:spPr>
        <p:txBody>
          <a:bodyPr wrap="square" lIns="0" tIns="0" rIns="0" bIns="0" rtlCol="0" anchor="ctr"/>
          <a:lstStyle/>
          <a:p>
            <a:pPr algn="r" indent="0" marL="0">
              <a:buNone/>
            </a:pPr>
            <a:r>
              <a:rPr lang="en-US" sz="1150" b="1" dirty="0">
                <a:solidFill>
                  <a:srgbClr val="2E7D52"/>
                </a:solidFill>
                <a:latin typeface="Calibri" pitchFamily="34" charset="0"/>
                <a:ea typeface="Calibri" pitchFamily="34" charset="-122"/>
                <a:cs typeface="Calibri" pitchFamily="34" charset="-120"/>
              </a:rPr>
              <a:t>7</a:t>
            </a:r>
            <a:endParaRPr lang="en-US" sz="1150" dirty="0"/>
          </a:p>
        </p:txBody>
      </p:sp>
      <p:sp>
        <p:nvSpPr>
          <p:cNvPr id="44" name="Text 42"/>
          <p:cNvSpPr txBox="1"/>
          <p:nvPr/>
        </p:nvSpPr>
        <p:spPr>
          <a:xfrm>
            <a:off x="3328416" y="5751576"/>
            <a:ext cx="3840480" cy="256032"/>
          </a:xfrm>
          <a:prstGeom prst="rect">
            <a:avLst/>
          </a:prstGeom>
          <a:noFill/>
          <a:ln/>
        </p:spPr>
        <p:txBody>
          <a:bodyPr wrap="square" lIns="0" tIns="0" rIns="0" bIns="0" rtlCol="0" anchor="ctr"/>
          <a:lstStyle/>
          <a:p>
            <a:pPr indent="0" marL="0">
              <a:buNone/>
            </a:pPr>
            <a:r>
              <a:rPr lang="en-US" sz="1100" dirty="0">
                <a:solidFill>
                  <a:srgbClr val="6B7891"/>
                </a:solidFill>
                <a:latin typeface="Calibri" pitchFamily="34" charset="0"/>
                <a:ea typeface="Calibri" pitchFamily="34" charset="-122"/>
                <a:cs typeface="Calibri" pitchFamily="34" charset="-120"/>
              </a:rPr>
              <a:t>Every screen in all three portals</a:t>
            </a:r>
            <a:endParaRPr lang="en-US" sz="1100" dirty="0"/>
          </a:p>
        </p:txBody>
      </p:sp>
      <p:sp>
        <p:nvSpPr>
          <p:cNvPr id="45" name="Shape 43"/>
          <p:cNvSpPr/>
          <p:nvPr/>
        </p:nvSpPr>
        <p:spPr>
          <a:xfrm>
            <a:off x="7717536" y="3127248"/>
            <a:ext cx="3834079" cy="1572768"/>
          </a:xfrm>
          <a:prstGeom prst="roundRect">
            <a:avLst>
              <a:gd name="adj" fmla="val 3488"/>
            </a:avLst>
          </a:prstGeom>
          <a:solidFill>
            <a:srgbClr val="F4F6FA"/>
          </a:solidFill>
          <a:ln w="12700">
            <a:solidFill>
              <a:srgbClr val="D8DEE8"/>
            </a:solidFill>
            <a:prstDash val="solid"/>
          </a:ln>
        </p:spPr>
      </p:sp>
      <p:sp>
        <p:nvSpPr>
          <p:cNvPr id="46" name="Text 44"/>
          <p:cNvSpPr txBox="1"/>
          <p:nvPr/>
        </p:nvSpPr>
        <p:spPr>
          <a:xfrm>
            <a:off x="7955280" y="3328416"/>
            <a:ext cx="3358591" cy="219456"/>
          </a:xfrm>
          <a:prstGeom prst="rect">
            <a:avLst/>
          </a:prstGeom>
          <a:noFill/>
          <a:ln/>
        </p:spPr>
        <p:txBody>
          <a:bodyPr wrap="square" lIns="0" tIns="0" rIns="0" bIns="0" rtlCol="0" anchor="ctr"/>
          <a:lstStyle/>
          <a:p>
            <a:pPr indent="0" marL="0">
              <a:buNone/>
            </a:pPr>
            <a:r>
              <a:rPr lang="en-US" sz="1050" b="1" spc="120" kern="0" dirty="0">
                <a:solidFill>
                  <a:srgbClr val="C9A227"/>
                </a:solidFill>
                <a:latin typeface="Calibri" pitchFamily="34" charset="0"/>
                <a:ea typeface="Calibri" pitchFamily="34" charset="-122"/>
                <a:cs typeface="Calibri" pitchFamily="34" charset="-120"/>
              </a:rPr>
              <a:t>A USEFUL SETTING</a:t>
            </a:r>
            <a:endParaRPr lang="en-US" sz="1050" dirty="0"/>
          </a:p>
        </p:txBody>
      </p:sp>
      <p:sp>
        <p:nvSpPr>
          <p:cNvPr id="47" name="Text 45"/>
          <p:cNvSpPr txBox="1"/>
          <p:nvPr/>
        </p:nvSpPr>
        <p:spPr>
          <a:xfrm>
            <a:off x="7955280" y="3584448"/>
            <a:ext cx="3358591" cy="292608"/>
          </a:xfrm>
          <a:prstGeom prst="rect">
            <a:avLst/>
          </a:prstGeom>
          <a:noFill/>
          <a:ln/>
        </p:spPr>
        <p:txBody>
          <a:bodyPr wrap="square" lIns="0" tIns="0" rIns="0" bIns="0" rtlCol="0" anchor="ctr"/>
          <a:lstStyle/>
          <a:p>
            <a:pPr indent="0" marL="0">
              <a:buNone/>
            </a:pPr>
            <a:r>
              <a:rPr lang="en-US" sz="1400" b="1" dirty="0">
                <a:solidFill>
                  <a:srgbClr val="12233F"/>
                </a:solidFill>
                <a:latin typeface="Cambria" pitchFamily="34" charset="0"/>
                <a:ea typeface="Cambria" pitchFamily="34" charset="-122"/>
                <a:cs typeface="Cambria" pitchFamily="34" charset="-120"/>
              </a:rPr>
              <a:t>Lazy loading disabled in tests</a:t>
            </a:r>
            <a:endParaRPr lang="en-US" sz="1400" dirty="0"/>
          </a:p>
        </p:txBody>
      </p:sp>
      <p:sp>
        <p:nvSpPr>
          <p:cNvPr id="48" name="Text 46"/>
          <p:cNvSpPr txBox="1"/>
          <p:nvPr/>
        </p:nvSpPr>
        <p:spPr>
          <a:xfrm>
            <a:off x="7955280" y="3931920"/>
            <a:ext cx="3358591" cy="603504"/>
          </a:xfrm>
          <a:prstGeom prst="rect">
            <a:avLst/>
          </a:prstGeom>
          <a:noFill/>
          <a:ln/>
        </p:spPr>
        <p:txBody>
          <a:bodyPr wrap="square" lIns="0" tIns="0" rIns="0" bIns="0" rtlCol="0" anchor="t"/>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Any relationship the code forgot to load in advance throws instead of quietly issuing an extra query per row - so an N+1 fails the build.</a:t>
            </a:r>
            <a:endParaRPr lang="en-US" sz="1150" dirty="0"/>
          </a:p>
        </p:txBody>
      </p:sp>
      <p:sp>
        <p:nvSpPr>
          <p:cNvPr id="49" name="Shape 47"/>
          <p:cNvSpPr/>
          <p:nvPr/>
        </p:nvSpPr>
        <p:spPr>
          <a:xfrm>
            <a:off x="7717536" y="4846320"/>
            <a:ext cx="3834079" cy="1572768"/>
          </a:xfrm>
          <a:prstGeom prst="roundRect">
            <a:avLst>
              <a:gd name="adj" fmla="val 3488"/>
            </a:avLst>
          </a:prstGeom>
          <a:solidFill>
            <a:srgbClr val="F4F6FA"/>
          </a:solidFill>
          <a:ln w="12700">
            <a:solidFill>
              <a:srgbClr val="D8DEE8"/>
            </a:solidFill>
            <a:prstDash val="solid"/>
          </a:ln>
        </p:spPr>
      </p:sp>
      <p:sp>
        <p:nvSpPr>
          <p:cNvPr id="50" name="Text 48"/>
          <p:cNvSpPr txBox="1"/>
          <p:nvPr/>
        </p:nvSpPr>
        <p:spPr>
          <a:xfrm>
            <a:off x="7955280" y="5047488"/>
            <a:ext cx="3358591" cy="219456"/>
          </a:xfrm>
          <a:prstGeom prst="rect">
            <a:avLst/>
          </a:prstGeom>
          <a:noFill/>
          <a:ln/>
        </p:spPr>
        <p:txBody>
          <a:bodyPr wrap="square" lIns="0" tIns="0" rIns="0" bIns="0" rtlCol="0" anchor="ctr"/>
          <a:lstStyle/>
          <a:p>
            <a:pPr indent="0" marL="0">
              <a:buNone/>
            </a:pPr>
            <a:r>
              <a:rPr lang="en-US" sz="1050" b="1" spc="120" kern="0" dirty="0">
                <a:solidFill>
                  <a:srgbClr val="2E7D52"/>
                </a:solidFill>
                <a:latin typeface="Calibri" pitchFamily="34" charset="0"/>
                <a:ea typeface="Calibri" pitchFamily="34" charset="-122"/>
                <a:cs typeface="Calibri" pitchFamily="34" charset="-120"/>
              </a:rPr>
              <a:t>WHY REAL REQUESTS</a:t>
            </a:r>
            <a:endParaRPr lang="en-US" sz="1050" dirty="0"/>
          </a:p>
        </p:txBody>
      </p:sp>
      <p:sp>
        <p:nvSpPr>
          <p:cNvPr id="51" name="Text 49"/>
          <p:cNvSpPr txBox="1"/>
          <p:nvPr/>
        </p:nvSpPr>
        <p:spPr>
          <a:xfrm>
            <a:off x="7955280" y="5303520"/>
            <a:ext cx="3358591" cy="292608"/>
          </a:xfrm>
          <a:prstGeom prst="rect">
            <a:avLst/>
          </a:prstGeom>
          <a:noFill/>
          <a:ln/>
        </p:spPr>
        <p:txBody>
          <a:bodyPr wrap="square" lIns="0" tIns="0" rIns="0" bIns="0" rtlCol="0" anchor="ctr"/>
          <a:lstStyle/>
          <a:p>
            <a:pPr indent="0" marL="0">
              <a:buNone/>
            </a:pPr>
            <a:r>
              <a:rPr lang="en-US" sz="1400" b="1" dirty="0">
                <a:solidFill>
                  <a:srgbClr val="12233F"/>
                </a:solidFill>
                <a:latin typeface="Cambria" pitchFamily="34" charset="0"/>
                <a:ea typeface="Cambria" pitchFamily="34" charset="-122"/>
                <a:cs typeface="Cambria" pitchFamily="34" charset="-120"/>
              </a:rPr>
              <a:t>Routing to database, in one assertion</a:t>
            </a:r>
            <a:endParaRPr lang="en-US" sz="1400" dirty="0"/>
          </a:p>
        </p:txBody>
      </p:sp>
      <p:sp>
        <p:nvSpPr>
          <p:cNvPr id="52" name="Text 50"/>
          <p:cNvSpPr txBox="1"/>
          <p:nvPr/>
        </p:nvSpPr>
        <p:spPr>
          <a:xfrm>
            <a:off x="7955280" y="5650992"/>
            <a:ext cx="3358591" cy="603504"/>
          </a:xfrm>
          <a:prstGeom prst="rect">
            <a:avLst/>
          </a:prstGeom>
          <a:noFill/>
          <a:ln/>
        </p:spPr>
        <p:txBody>
          <a:bodyPr wrap="square" lIns="0" tIns="0" rIns="0" bIns="0" rtlCol="0" anchor="t"/>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Tests go through the routes, so middleware, policies, validation, the service layer and the schema are all exercised together.</a:t>
            </a:r>
            <a:endParaRPr lang="en-US" sz="11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14</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Three defects the tests missed</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All three were silent. None of them raised an error, which is exactly why they are worth reporting.</a:t>
            </a:r>
            <a:endParaRPr lang="en-US" sz="1400" dirty="0"/>
          </a:p>
        </p:txBody>
      </p:sp>
      <p:sp>
        <p:nvSpPr>
          <p:cNvPr id="5" name="Shape 3"/>
          <p:cNvSpPr/>
          <p:nvPr/>
        </p:nvSpPr>
        <p:spPr>
          <a:xfrm>
            <a:off x="640080" y="1737360"/>
            <a:ext cx="3442106" cy="3712464"/>
          </a:xfrm>
          <a:prstGeom prst="roundRect">
            <a:avLst>
              <a:gd name="adj" fmla="val 1328"/>
            </a:avLst>
          </a:prstGeom>
          <a:solidFill>
            <a:srgbClr val="F4F6FA"/>
          </a:solidFill>
          <a:ln w="12700">
            <a:solidFill>
              <a:srgbClr val="D8DEE8"/>
            </a:solidFill>
            <a:prstDash val="solid"/>
          </a:ln>
        </p:spPr>
      </p:sp>
      <p:sp>
        <p:nvSpPr>
          <p:cNvPr id="6" name="Shape 4"/>
          <p:cNvSpPr/>
          <p:nvPr/>
        </p:nvSpPr>
        <p:spPr>
          <a:xfrm>
            <a:off x="896112" y="1956816"/>
            <a:ext cx="384048" cy="384048"/>
          </a:xfrm>
          <a:prstGeom prst="ellipse">
            <a:avLst/>
          </a:prstGeom>
          <a:solidFill>
            <a:srgbClr val="C0392B"/>
          </a:solidFill>
          <a:ln/>
        </p:spPr>
      </p:sp>
      <p:sp>
        <p:nvSpPr>
          <p:cNvPr id="7" name="Text 5"/>
          <p:cNvSpPr txBox="1"/>
          <p:nvPr/>
        </p:nvSpPr>
        <p:spPr>
          <a:xfrm>
            <a:off x="896112" y="199796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1</a:t>
            </a:r>
            <a:endParaRPr lang="en-US" sz="1400" dirty="0"/>
          </a:p>
        </p:txBody>
      </p:sp>
      <p:sp>
        <p:nvSpPr>
          <p:cNvPr id="8" name="Text 6"/>
          <p:cNvSpPr txBox="1"/>
          <p:nvPr/>
        </p:nvSpPr>
        <p:spPr>
          <a:xfrm>
            <a:off x="896112" y="2468880"/>
            <a:ext cx="2930042" cy="548640"/>
          </a:xfrm>
          <a:prstGeom prst="rect">
            <a:avLst/>
          </a:prstGeom>
          <a:noFill/>
          <a:ln/>
        </p:spPr>
        <p:txBody>
          <a:bodyPr wrap="square" lIns="0" tIns="0" rIns="0" bIns="0" rtlCol="0" anchor="ctr"/>
          <a:lstStyle/>
          <a:p>
            <a:pPr indent="0" marL="0">
              <a:lnSpc>
                <a:spcPct val="100000"/>
              </a:lnSpc>
              <a:buNone/>
            </a:pPr>
            <a:r>
              <a:rPr lang="en-US" sz="1550" b="1" dirty="0">
                <a:solidFill>
                  <a:srgbClr val="12233F"/>
                </a:solidFill>
                <a:latin typeface="Cambria" pitchFamily="34" charset="0"/>
                <a:ea typeface="Cambria" pitchFamily="34" charset="-122"/>
                <a:cs typeface="Cambria" pitchFamily="34" charset="-120"/>
              </a:rPr>
              <a:t>Counts rendering blank</a:t>
            </a:r>
            <a:endParaRPr lang="en-US" sz="1550" dirty="0"/>
          </a:p>
        </p:txBody>
      </p:sp>
      <p:sp>
        <p:nvSpPr>
          <p:cNvPr id="9" name="Text 7"/>
          <p:cNvSpPr txBox="1"/>
          <p:nvPr/>
        </p:nvSpPr>
        <p:spPr>
          <a:xfrm>
            <a:off x="896112" y="3054096"/>
            <a:ext cx="2930042" cy="1005840"/>
          </a:xfrm>
          <a:prstGeom prst="rect">
            <a:avLst/>
          </a:prstGeom>
          <a:noFill/>
          <a:ln/>
        </p:spPr>
        <p:txBody>
          <a:bodyPr wrap="square" lIns="0" tIns="0" rIns="0" bIns="0" rtlCol="0" anchor="ctr"/>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A select() call placed after withCount() replaced the counting subquery instead of adding to it, so several columns rendered empty.</a:t>
            </a:r>
            <a:endParaRPr lang="en-US" sz="1150" dirty="0"/>
          </a:p>
        </p:txBody>
      </p:sp>
      <p:sp>
        <p:nvSpPr>
          <p:cNvPr id="10" name="Text 8"/>
          <p:cNvSpPr txBox="1"/>
          <p:nvPr/>
        </p:nvSpPr>
        <p:spPr>
          <a:xfrm>
            <a:off x="896112" y="4151376"/>
            <a:ext cx="2930042" cy="219456"/>
          </a:xfrm>
          <a:prstGeom prst="rect">
            <a:avLst/>
          </a:prstGeom>
          <a:noFill/>
          <a:ln/>
        </p:spPr>
        <p:txBody>
          <a:bodyPr wrap="square" lIns="0" tIns="0" rIns="0" bIns="0" rtlCol="0" anchor="ctr"/>
          <a:lstStyle/>
          <a:p>
            <a:pPr indent="0" marL="0">
              <a:buNone/>
            </a:pPr>
            <a:r>
              <a:rPr lang="en-US" sz="900" b="1" spc="120" kern="0" dirty="0">
                <a:solidFill>
                  <a:srgbClr val="C9820A"/>
                </a:solidFill>
                <a:latin typeface="Calibri" pitchFamily="34" charset="0"/>
                <a:ea typeface="Calibri" pitchFamily="34" charset="-122"/>
                <a:cs typeface="Calibri" pitchFamily="34" charset="-120"/>
              </a:rPr>
              <a:t>WHY THE TESTS MISSED IT</a:t>
            </a:r>
            <a:endParaRPr lang="en-US" sz="900" dirty="0"/>
          </a:p>
        </p:txBody>
      </p:sp>
      <p:sp>
        <p:nvSpPr>
          <p:cNvPr id="11" name="Text 9"/>
          <p:cNvSpPr txBox="1"/>
          <p:nvPr/>
        </p:nvSpPr>
        <p:spPr>
          <a:xfrm>
            <a:off x="896112" y="4407408"/>
            <a:ext cx="2930042" cy="89611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The page returned 200 and the layout was intact. Only a number was missing, so no test that checks the page loads could see it.</a:t>
            </a:r>
            <a:endParaRPr lang="en-US" sz="1100" dirty="0"/>
          </a:p>
        </p:txBody>
      </p:sp>
      <p:sp>
        <p:nvSpPr>
          <p:cNvPr id="12" name="Shape 10"/>
          <p:cNvSpPr/>
          <p:nvPr/>
        </p:nvSpPr>
        <p:spPr>
          <a:xfrm>
            <a:off x="4374794" y="1737360"/>
            <a:ext cx="3442106" cy="3712464"/>
          </a:xfrm>
          <a:prstGeom prst="roundRect">
            <a:avLst>
              <a:gd name="adj" fmla="val 1328"/>
            </a:avLst>
          </a:prstGeom>
          <a:solidFill>
            <a:srgbClr val="F4F6FA"/>
          </a:solidFill>
          <a:ln w="12700">
            <a:solidFill>
              <a:srgbClr val="D8DEE8"/>
            </a:solidFill>
            <a:prstDash val="solid"/>
          </a:ln>
        </p:spPr>
      </p:sp>
      <p:sp>
        <p:nvSpPr>
          <p:cNvPr id="13" name="Shape 11"/>
          <p:cNvSpPr/>
          <p:nvPr/>
        </p:nvSpPr>
        <p:spPr>
          <a:xfrm>
            <a:off x="4630826" y="1956816"/>
            <a:ext cx="384048" cy="384048"/>
          </a:xfrm>
          <a:prstGeom prst="ellipse">
            <a:avLst/>
          </a:prstGeom>
          <a:solidFill>
            <a:srgbClr val="C9820A"/>
          </a:solidFill>
          <a:ln/>
        </p:spPr>
      </p:sp>
      <p:sp>
        <p:nvSpPr>
          <p:cNvPr id="14" name="Text 12"/>
          <p:cNvSpPr txBox="1"/>
          <p:nvPr/>
        </p:nvSpPr>
        <p:spPr>
          <a:xfrm>
            <a:off x="4630826" y="199796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2</a:t>
            </a:r>
            <a:endParaRPr lang="en-US" sz="1400" dirty="0"/>
          </a:p>
        </p:txBody>
      </p:sp>
      <p:sp>
        <p:nvSpPr>
          <p:cNvPr id="15" name="Text 13"/>
          <p:cNvSpPr txBox="1"/>
          <p:nvPr/>
        </p:nvSpPr>
        <p:spPr>
          <a:xfrm>
            <a:off x="4630826" y="2468880"/>
            <a:ext cx="2930042" cy="548640"/>
          </a:xfrm>
          <a:prstGeom prst="rect">
            <a:avLst/>
          </a:prstGeom>
          <a:noFill/>
          <a:ln/>
        </p:spPr>
        <p:txBody>
          <a:bodyPr wrap="square" lIns="0" tIns="0" rIns="0" bIns="0" rtlCol="0" anchor="ctr"/>
          <a:lstStyle/>
          <a:p>
            <a:pPr indent="0" marL="0">
              <a:lnSpc>
                <a:spcPct val="100000"/>
              </a:lnSpc>
              <a:buNone/>
            </a:pPr>
            <a:r>
              <a:rPr lang="en-US" sz="1550" b="1" dirty="0">
                <a:solidFill>
                  <a:srgbClr val="12233F"/>
                </a:solidFill>
                <a:latin typeface="Cambria" pitchFamily="34" charset="0"/>
                <a:ea typeface="Cambria" pitchFamily="34" charset="-122"/>
                <a:cs typeface="Cambria" pitchFamily="34" charset="-120"/>
              </a:rPr>
              <a:t>Ambiguous column</a:t>
            </a:r>
            <a:endParaRPr lang="en-US" sz="1550" dirty="0"/>
          </a:p>
        </p:txBody>
      </p:sp>
      <p:sp>
        <p:nvSpPr>
          <p:cNvPr id="16" name="Text 14"/>
          <p:cNvSpPr txBox="1"/>
          <p:nvPr/>
        </p:nvSpPr>
        <p:spPr>
          <a:xfrm>
            <a:off x="4630826" y="3054096"/>
            <a:ext cx="2930042" cy="1005840"/>
          </a:xfrm>
          <a:prstGeom prst="rect">
            <a:avLst/>
          </a:prstGeom>
          <a:noFill/>
          <a:ln/>
        </p:spPr>
        <p:txBody>
          <a:bodyPr wrap="square" lIns="0" tIns="0" rIns="0" bIns="0" rtlCol="0" anchor="ctr"/>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An unqualified column name became ambiguous once a second table was joined, and the roster screen returned a 500.</a:t>
            </a:r>
            <a:endParaRPr lang="en-US" sz="1150" dirty="0"/>
          </a:p>
        </p:txBody>
      </p:sp>
      <p:sp>
        <p:nvSpPr>
          <p:cNvPr id="17" name="Text 15"/>
          <p:cNvSpPr txBox="1"/>
          <p:nvPr/>
        </p:nvSpPr>
        <p:spPr>
          <a:xfrm>
            <a:off x="4630826" y="4151376"/>
            <a:ext cx="2930042" cy="219456"/>
          </a:xfrm>
          <a:prstGeom prst="rect">
            <a:avLst/>
          </a:prstGeom>
          <a:noFill/>
          <a:ln/>
        </p:spPr>
        <p:txBody>
          <a:bodyPr wrap="square" lIns="0" tIns="0" rIns="0" bIns="0" rtlCol="0" anchor="ctr"/>
          <a:lstStyle/>
          <a:p>
            <a:pPr indent="0" marL="0">
              <a:buNone/>
            </a:pPr>
            <a:r>
              <a:rPr lang="en-US" sz="900" b="1" spc="120" kern="0" dirty="0">
                <a:solidFill>
                  <a:srgbClr val="C9820A"/>
                </a:solidFill>
                <a:latin typeface="Calibri" pitchFamily="34" charset="0"/>
                <a:ea typeface="Calibri" pitchFamily="34" charset="-122"/>
                <a:cs typeface="Calibri" pitchFamily="34" charset="-120"/>
              </a:rPr>
              <a:t>WHY THE TESTS MISSED IT</a:t>
            </a:r>
            <a:endParaRPr lang="en-US" sz="900" dirty="0"/>
          </a:p>
        </p:txBody>
      </p:sp>
      <p:sp>
        <p:nvSpPr>
          <p:cNvPr id="18" name="Text 16"/>
          <p:cNvSpPr txBox="1"/>
          <p:nvPr/>
        </p:nvSpPr>
        <p:spPr>
          <a:xfrm>
            <a:off x="4630826" y="4407408"/>
            <a:ext cx="2930042" cy="89611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That screen had no test at the time. Found by a test that now walks every screen in all three portals.</a:t>
            </a:r>
            <a:endParaRPr lang="en-US" sz="1100" dirty="0"/>
          </a:p>
        </p:txBody>
      </p:sp>
      <p:sp>
        <p:nvSpPr>
          <p:cNvPr id="19" name="Shape 17"/>
          <p:cNvSpPr/>
          <p:nvPr/>
        </p:nvSpPr>
        <p:spPr>
          <a:xfrm>
            <a:off x="8109509" y="1737360"/>
            <a:ext cx="3442106" cy="3712464"/>
          </a:xfrm>
          <a:prstGeom prst="roundRect">
            <a:avLst>
              <a:gd name="adj" fmla="val 1328"/>
            </a:avLst>
          </a:prstGeom>
          <a:solidFill>
            <a:srgbClr val="F4F6FA"/>
          </a:solidFill>
          <a:ln w="12700">
            <a:solidFill>
              <a:srgbClr val="D8DEE8"/>
            </a:solidFill>
            <a:prstDash val="solid"/>
          </a:ln>
        </p:spPr>
      </p:sp>
      <p:sp>
        <p:nvSpPr>
          <p:cNvPr id="20" name="Shape 18"/>
          <p:cNvSpPr/>
          <p:nvPr/>
        </p:nvSpPr>
        <p:spPr>
          <a:xfrm>
            <a:off x="8365541" y="1956816"/>
            <a:ext cx="384048" cy="384048"/>
          </a:xfrm>
          <a:prstGeom prst="ellipse">
            <a:avLst/>
          </a:prstGeom>
          <a:solidFill>
            <a:srgbClr val="C0392B"/>
          </a:solidFill>
          <a:ln/>
        </p:spPr>
      </p:sp>
      <p:sp>
        <p:nvSpPr>
          <p:cNvPr id="21" name="Text 19"/>
          <p:cNvSpPr txBox="1"/>
          <p:nvPr/>
        </p:nvSpPr>
        <p:spPr>
          <a:xfrm>
            <a:off x="8365541" y="1997964"/>
            <a:ext cx="384048" cy="310896"/>
          </a:xfrm>
          <a:prstGeom prst="rect">
            <a:avLst/>
          </a:prstGeom>
          <a:noFill/>
          <a:ln/>
        </p:spPr>
        <p:txBody>
          <a:bodyPr wrap="square" lIns="0" tIns="0" rIns="0" bIns="0" rtlCol="0" anchor="ctr"/>
          <a:lstStyle/>
          <a:p>
            <a:pPr algn="ctr" indent="0" marL="0">
              <a:buNone/>
            </a:pPr>
            <a:r>
              <a:rPr lang="en-US" sz="1400" b="1" dirty="0">
                <a:solidFill>
                  <a:srgbClr val="FFFFFF"/>
                </a:solidFill>
                <a:latin typeface="Cambria" pitchFamily="34" charset="0"/>
                <a:ea typeface="Cambria" pitchFamily="34" charset="-122"/>
                <a:cs typeface="Cambria" pitchFamily="34" charset="-120"/>
              </a:rPr>
              <a:t>3</a:t>
            </a:r>
            <a:endParaRPr lang="en-US" sz="1400" dirty="0"/>
          </a:p>
        </p:txBody>
      </p:sp>
      <p:sp>
        <p:nvSpPr>
          <p:cNvPr id="22" name="Text 20"/>
          <p:cNvSpPr txBox="1"/>
          <p:nvPr/>
        </p:nvSpPr>
        <p:spPr>
          <a:xfrm>
            <a:off x="8365541" y="2468880"/>
            <a:ext cx="2930042" cy="548640"/>
          </a:xfrm>
          <a:prstGeom prst="rect">
            <a:avLst/>
          </a:prstGeom>
          <a:noFill/>
          <a:ln/>
        </p:spPr>
        <p:txBody>
          <a:bodyPr wrap="square" lIns="0" tIns="0" rIns="0" bIns="0" rtlCol="0" anchor="ctr"/>
          <a:lstStyle/>
          <a:p>
            <a:pPr indent="0" marL="0">
              <a:lnSpc>
                <a:spcPct val="100000"/>
              </a:lnSpc>
              <a:buNone/>
            </a:pPr>
            <a:r>
              <a:rPr lang="en-US" sz="1550" b="1" dirty="0">
                <a:solidFill>
                  <a:srgbClr val="12233F"/>
                </a:solidFill>
                <a:latin typeface="Cambria" pitchFamily="34" charset="0"/>
                <a:ea typeface="Cambria" pitchFamily="34" charset="-122"/>
                <a:cs typeface="Cambria" pitchFamily="34" charset="-120"/>
              </a:rPr>
              <a:t>Wrong clock</a:t>
            </a:r>
            <a:endParaRPr lang="en-US" sz="1550" dirty="0"/>
          </a:p>
        </p:txBody>
      </p:sp>
      <p:sp>
        <p:nvSpPr>
          <p:cNvPr id="23" name="Text 21"/>
          <p:cNvSpPr txBox="1"/>
          <p:nvPr/>
        </p:nvSpPr>
        <p:spPr>
          <a:xfrm>
            <a:off x="8365541" y="3054096"/>
            <a:ext cx="2930042" cy="1005840"/>
          </a:xfrm>
          <a:prstGeom prst="rect">
            <a:avLst/>
          </a:prstGeom>
          <a:noFill/>
          <a:ln/>
        </p:spPr>
        <p:txBody>
          <a:bodyPr wrap="square" lIns="0" tIns="0" rIns="0" bIns="0" rtlCol="0" anchor="ctr"/>
          <a:lstStyle/>
          <a:p>
            <a:pPr indent="0" marL="0">
              <a:lnSpc>
                <a:spcPct val="108000"/>
              </a:lnSpc>
              <a:buNone/>
            </a:pPr>
            <a:r>
              <a:rPr lang="en-US" sz="1150" dirty="0">
                <a:solidFill>
                  <a:srgbClr val="1A2333"/>
                </a:solidFill>
                <a:latin typeface="Calibri" pitchFamily="34" charset="0"/>
                <a:ea typeface="Calibri" pitchFamily="34" charset="-122"/>
                <a:cs typeface="Calibri" pitchFamily="34" charset="-120"/>
              </a:rPr>
              <a:t>A check-in at 10:28 for an 08:00 class was recorded as present. The app ran in UTC while the timetable stores local time.</a:t>
            </a:r>
            <a:endParaRPr lang="en-US" sz="1150" dirty="0"/>
          </a:p>
        </p:txBody>
      </p:sp>
      <p:sp>
        <p:nvSpPr>
          <p:cNvPr id="24" name="Text 22"/>
          <p:cNvSpPr txBox="1"/>
          <p:nvPr/>
        </p:nvSpPr>
        <p:spPr>
          <a:xfrm>
            <a:off x="8365541" y="4151376"/>
            <a:ext cx="2930042" cy="219456"/>
          </a:xfrm>
          <a:prstGeom prst="rect">
            <a:avLst/>
          </a:prstGeom>
          <a:noFill/>
          <a:ln/>
        </p:spPr>
        <p:txBody>
          <a:bodyPr wrap="square" lIns="0" tIns="0" rIns="0" bIns="0" rtlCol="0" anchor="ctr"/>
          <a:lstStyle/>
          <a:p>
            <a:pPr indent="0" marL="0">
              <a:buNone/>
            </a:pPr>
            <a:r>
              <a:rPr lang="en-US" sz="900" b="1" spc="120" kern="0" dirty="0">
                <a:solidFill>
                  <a:srgbClr val="C9820A"/>
                </a:solidFill>
                <a:latin typeface="Calibri" pitchFamily="34" charset="0"/>
                <a:ea typeface="Calibri" pitchFamily="34" charset="-122"/>
                <a:cs typeface="Calibri" pitchFamily="34" charset="-120"/>
              </a:rPr>
              <a:t>WHY THE TESTS MISSED IT</a:t>
            </a:r>
            <a:endParaRPr lang="en-US" sz="900" dirty="0"/>
          </a:p>
        </p:txBody>
      </p:sp>
      <p:sp>
        <p:nvSpPr>
          <p:cNvPr id="25" name="Text 23"/>
          <p:cNvSpPr txBox="1"/>
          <p:nvPr/>
        </p:nvSpPr>
        <p:spPr>
          <a:xfrm>
            <a:off x="8365541" y="4407408"/>
            <a:ext cx="2930042" cy="89611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Every test builds times relative to now, so they stay self-consistent in any timezone. The tests could not detect it.</a:t>
            </a:r>
            <a:endParaRPr lang="en-US" sz="1100" dirty="0"/>
          </a:p>
        </p:txBody>
      </p:sp>
      <p:sp>
        <p:nvSpPr>
          <p:cNvPr id="26" name="Text 24"/>
          <p:cNvSpPr txBox="1"/>
          <p:nvPr/>
        </p:nvSpPr>
        <p:spPr>
          <a:xfrm>
            <a:off x="640080" y="5650992"/>
            <a:ext cx="10911535" cy="402336"/>
          </a:xfrm>
          <a:prstGeom prst="rect">
            <a:avLst/>
          </a:prstGeom>
          <a:noFill/>
          <a:ln/>
        </p:spPr>
        <p:txBody>
          <a:bodyPr wrap="square" lIns="0" tIns="0" rIns="0" bIns="0" rtlCol="0" anchor="ctr"/>
          <a:lstStyle/>
          <a:p>
            <a:pPr indent="0" marL="0">
              <a:buNone/>
            </a:pPr>
            <a:r>
              <a:rPr lang="en-US" sz="1350" b="1" i="1" dirty="0">
                <a:solidFill>
                  <a:srgbClr val="12233F"/>
                </a:solidFill>
                <a:latin typeface="Calibri" pitchFamily="34" charset="0"/>
                <a:ea typeface="Calibri" pitchFamily="34" charset="-122"/>
                <a:cs typeface="Calibri" pitchFamily="34" charset="-120"/>
              </a:rPr>
              <a:t>All three were found by using the system rather than by testing it. That is an argument for doing both.</a:t>
            </a:r>
            <a:endParaRPr lang="en-US" sz="13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15</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What the constraints taught me</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The limitations shaped the design more than the requirements did.</a:t>
            </a:r>
            <a:endParaRPr lang="en-US" sz="1400" dirty="0"/>
          </a:p>
        </p:txBody>
      </p:sp>
      <p:sp>
        <p:nvSpPr>
          <p:cNvPr id="5" name="Shape 3"/>
          <p:cNvSpPr/>
          <p:nvPr/>
        </p:nvSpPr>
        <p:spPr>
          <a:xfrm>
            <a:off x="640080" y="1901952"/>
            <a:ext cx="402336" cy="402336"/>
          </a:xfrm>
          <a:prstGeom prst="ellipse">
            <a:avLst/>
          </a:prstGeom>
          <a:solidFill>
            <a:srgbClr val="2E7D52"/>
          </a:solidFill>
          <a:ln/>
        </p:spPr>
      </p:sp>
      <p:sp>
        <p:nvSpPr>
          <p:cNvPr id="6" name="Text 4"/>
          <p:cNvSpPr txBox="1"/>
          <p:nvPr/>
        </p:nvSpPr>
        <p:spPr>
          <a:xfrm>
            <a:off x="640080" y="1943100"/>
            <a:ext cx="402336"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1</a:t>
            </a:r>
            <a:endParaRPr lang="en-US" sz="1500" dirty="0"/>
          </a:p>
        </p:txBody>
      </p:sp>
      <p:sp>
        <p:nvSpPr>
          <p:cNvPr id="7" name="Text 5"/>
          <p:cNvSpPr txBox="1"/>
          <p:nvPr/>
        </p:nvSpPr>
        <p:spPr>
          <a:xfrm>
            <a:off x="1261872" y="1773936"/>
            <a:ext cx="10289743" cy="329184"/>
          </a:xfrm>
          <a:prstGeom prst="rect">
            <a:avLst/>
          </a:prstGeom>
          <a:noFill/>
          <a:ln/>
        </p:spPr>
        <p:txBody>
          <a:bodyPr wrap="square" lIns="0" tIns="0" rIns="0" bIns="0" rtlCol="0" anchor="ctr"/>
          <a:lstStyle/>
          <a:p>
            <a:pPr indent="0" marL="0">
              <a:buNone/>
            </a:pPr>
            <a:r>
              <a:rPr lang="en-US" sz="1700" b="1" dirty="0">
                <a:solidFill>
                  <a:srgbClr val="12233F"/>
                </a:solidFill>
                <a:latin typeface="Cambria" pitchFamily="34" charset="0"/>
                <a:ea typeface="Cambria" pitchFamily="34" charset="-122"/>
                <a:cs typeface="Cambria" pitchFamily="34" charset="-120"/>
              </a:rPr>
              <a:t>No image extension available</a:t>
            </a:r>
            <a:endParaRPr lang="en-US" sz="1700" dirty="0"/>
          </a:p>
        </p:txBody>
      </p:sp>
      <p:sp>
        <p:nvSpPr>
          <p:cNvPr id="8" name="Text 6"/>
          <p:cNvSpPr txBox="1"/>
          <p:nvPr/>
        </p:nvSpPr>
        <p:spPr>
          <a:xfrm>
            <a:off x="1261872" y="2121408"/>
            <a:ext cx="10289743" cy="566928"/>
          </a:xfrm>
          <a:prstGeom prst="rect">
            <a:avLst/>
          </a:prstGeom>
          <a:noFill/>
          <a:ln/>
        </p:spPr>
        <p:txBody>
          <a:bodyPr wrap="square" lIns="0" tIns="0" rIns="0" bIns="0" rtlCol="0" anchor="ctr"/>
          <a:lstStyle/>
          <a:p>
            <a:pPr indent="0" marL="0">
              <a:lnSpc>
                <a:spcPct val="110000"/>
              </a:lnSpc>
              <a:buNone/>
            </a:pPr>
            <a:r>
              <a:rPr lang="en-US" sz="1250" dirty="0">
                <a:solidFill>
                  <a:srgbClr val="6B7891"/>
                </a:solidFill>
                <a:latin typeface="Calibri" pitchFamily="34" charset="0"/>
                <a:ea typeface="Calibri" pitchFamily="34" charset="-122"/>
                <a:cs typeface="Calibri" pitchFamily="34" charset="-120"/>
              </a:rPr>
              <a:t>Ruled out PNG entirely, so I chose a library that emits SVG in pure PHP. Vector output is sharper on a projector and needs no second request. The constraint improved the result.</a:t>
            </a:r>
            <a:endParaRPr lang="en-US" sz="1250" dirty="0"/>
          </a:p>
        </p:txBody>
      </p:sp>
      <p:sp>
        <p:nvSpPr>
          <p:cNvPr id="9" name="Shape 7"/>
          <p:cNvSpPr/>
          <p:nvPr/>
        </p:nvSpPr>
        <p:spPr>
          <a:xfrm>
            <a:off x="640080" y="2944368"/>
            <a:ext cx="402336" cy="402336"/>
          </a:xfrm>
          <a:prstGeom prst="ellipse">
            <a:avLst/>
          </a:prstGeom>
          <a:solidFill>
            <a:srgbClr val="C9A227"/>
          </a:solidFill>
          <a:ln/>
        </p:spPr>
      </p:sp>
      <p:sp>
        <p:nvSpPr>
          <p:cNvPr id="10" name="Text 8"/>
          <p:cNvSpPr txBox="1"/>
          <p:nvPr/>
        </p:nvSpPr>
        <p:spPr>
          <a:xfrm>
            <a:off x="640080" y="2985516"/>
            <a:ext cx="402336" cy="329184"/>
          </a:xfrm>
          <a:prstGeom prst="rect">
            <a:avLst/>
          </a:prstGeom>
          <a:noFill/>
          <a:ln/>
        </p:spPr>
        <p:txBody>
          <a:bodyPr wrap="square" lIns="0" tIns="0" rIns="0" bIns="0" rtlCol="0" anchor="ctr"/>
          <a:lstStyle/>
          <a:p>
            <a:pPr algn="ctr" indent="0" marL="0">
              <a:buNone/>
            </a:pPr>
            <a:r>
              <a:rPr lang="en-US" sz="1500" b="1" dirty="0">
                <a:solidFill>
                  <a:srgbClr val="12233F"/>
                </a:solidFill>
                <a:latin typeface="Cambria" pitchFamily="34" charset="0"/>
                <a:ea typeface="Cambria" pitchFamily="34" charset="-122"/>
                <a:cs typeface="Cambria" pitchFamily="34" charset="-120"/>
              </a:rPr>
              <a:t>2</a:t>
            </a:r>
            <a:endParaRPr lang="en-US" sz="1500" dirty="0"/>
          </a:p>
        </p:txBody>
      </p:sp>
      <p:sp>
        <p:nvSpPr>
          <p:cNvPr id="11" name="Text 9"/>
          <p:cNvSpPr txBox="1"/>
          <p:nvPr/>
        </p:nvSpPr>
        <p:spPr>
          <a:xfrm>
            <a:off x="1261872" y="2816352"/>
            <a:ext cx="10289743" cy="329184"/>
          </a:xfrm>
          <a:prstGeom prst="rect">
            <a:avLst/>
          </a:prstGeom>
          <a:noFill/>
          <a:ln/>
        </p:spPr>
        <p:txBody>
          <a:bodyPr wrap="square" lIns="0" tIns="0" rIns="0" bIns="0" rtlCol="0" anchor="ctr"/>
          <a:lstStyle/>
          <a:p>
            <a:pPr indent="0" marL="0">
              <a:buNone/>
            </a:pPr>
            <a:r>
              <a:rPr lang="en-US" sz="1700" b="1" dirty="0">
                <a:solidFill>
                  <a:srgbClr val="12233F"/>
                </a:solidFill>
                <a:latin typeface="Cambria" pitchFamily="34" charset="0"/>
                <a:ea typeface="Cambria" pitchFamily="34" charset="-122"/>
                <a:cs typeface="Cambria" pitchFamily="34" charset="-120"/>
              </a:rPr>
              <a:t>A photograph defeats a static code</a:t>
            </a:r>
            <a:endParaRPr lang="en-US" sz="1700" dirty="0"/>
          </a:p>
        </p:txBody>
      </p:sp>
      <p:sp>
        <p:nvSpPr>
          <p:cNvPr id="12" name="Text 10"/>
          <p:cNvSpPr txBox="1"/>
          <p:nvPr/>
        </p:nvSpPr>
        <p:spPr>
          <a:xfrm>
            <a:off x="1261872" y="3163824"/>
            <a:ext cx="10289743" cy="566928"/>
          </a:xfrm>
          <a:prstGeom prst="rect">
            <a:avLst/>
          </a:prstGeom>
          <a:noFill/>
          <a:ln/>
        </p:spPr>
        <p:txBody>
          <a:bodyPr wrap="square" lIns="0" tIns="0" rIns="0" bIns="0" rtlCol="0" anchor="ctr"/>
          <a:lstStyle/>
          <a:p>
            <a:pPr indent="0" marL="0">
              <a:lnSpc>
                <a:spcPct val="110000"/>
              </a:lnSpc>
              <a:buNone/>
            </a:pPr>
            <a:r>
              <a:rPr lang="en-US" sz="1250" dirty="0">
                <a:solidFill>
                  <a:srgbClr val="6B7891"/>
                </a:solidFill>
                <a:latin typeface="Calibri" pitchFamily="34" charset="0"/>
                <a:ea typeface="Calibri" pitchFamily="34" charset="-122"/>
                <a:cs typeface="Calibri" pitchFamily="34" charset="-120"/>
              </a:rPr>
              <a:t>Forced the rotating-token design, and forced me to name the trade-off: a rejected scan during rotation, in exchange for a guarantee that actually holds.</a:t>
            </a:r>
            <a:endParaRPr lang="en-US" sz="1250" dirty="0"/>
          </a:p>
        </p:txBody>
      </p:sp>
      <p:sp>
        <p:nvSpPr>
          <p:cNvPr id="13" name="Shape 11"/>
          <p:cNvSpPr/>
          <p:nvPr/>
        </p:nvSpPr>
        <p:spPr>
          <a:xfrm>
            <a:off x="640080" y="3986784"/>
            <a:ext cx="402336" cy="402336"/>
          </a:xfrm>
          <a:prstGeom prst="ellipse">
            <a:avLst/>
          </a:prstGeom>
          <a:solidFill>
            <a:srgbClr val="8C96A5"/>
          </a:solidFill>
          <a:ln/>
        </p:spPr>
      </p:sp>
      <p:sp>
        <p:nvSpPr>
          <p:cNvPr id="14" name="Text 12"/>
          <p:cNvSpPr txBox="1"/>
          <p:nvPr/>
        </p:nvSpPr>
        <p:spPr>
          <a:xfrm>
            <a:off x="640080" y="4027932"/>
            <a:ext cx="402336"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3</a:t>
            </a:r>
            <a:endParaRPr lang="en-US" sz="1500" dirty="0"/>
          </a:p>
        </p:txBody>
      </p:sp>
      <p:sp>
        <p:nvSpPr>
          <p:cNvPr id="15" name="Text 13"/>
          <p:cNvSpPr txBox="1"/>
          <p:nvPr/>
        </p:nvSpPr>
        <p:spPr>
          <a:xfrm>
            <a:off x="1261872" y="3858768"/>
            <a:ext cx="10289743" cy="329184"/>
          </a:xfrm>
          <a:prstGeom prst="rect">
            <a:avLst/>
          </a:prstGeom>
          <a:noFill/>
          <a:ln/>
        </p:spPr>
        <p:txBody>
          <a:bodyPr wrap="square" lIns="0" tIns="0" rIns="0" bIns="0" rtlCol="0" anchor="ctr"/>
          <a:lstStyle/>
          <a:p>
            <a:pPr indent="0" marL="0">
              <a:buNone/>
            </a:pPr>
            <a:r>
              <a:rPr lang="en-US" sz="1700" b="1" dirty="0">
                <a:solidFill>
                  <a:srgbClr val="12233F"/>
                </a:solidFill>
                <a:latin typeface="Cambria" pitchFamily="34" charset="0"/>
                <a:ea typeface="Cambria" pitchFamily="34" charset="-122"/>
                <a:cs typeface="Cambria" pitchFamily="34" charset="-120"/>
              </a:rPr>
              <a:t>MySQL rejected an index name</a:t>
            </a:r>
            <a:endParaRPr lang="en-US" sz="1700" dirty="0"/>
          </a:p>
        </p:txBody>
      </p:sp>
      <p:sp>
        <p:nvSpPr>
          <p:cNvPr id="16" name="Text 14"/>
          <p:cNvSpPr txBox="1"/>
          <p:nvPr/>
        </p:nvSpPr>
        <p:spPr>
          <a:xfrm>
            <a:off x="1261872" y="4206240"/>
            <a:ext cx="10289743" cy="566928"/>
          </a:xfrm>
          <a:prstGeom prst="rect">
            <a:avLst/>
          </a:prstGeom>
          <a:noFill/>
          <a:ln/>
        </p:spPr>
        <p:txBody>
          <a:bodyPr wrap="square" lIns="0" tIns="0" rIns="0" bIns="0" rtlCol="0" anchor="ctr"/>
          <a:lstStyle/>
          <a:p>
            <a:pPr indent="0" marL="0">
              <a:lnSpc>
                <a:spcPct val="110000"/>
              </a:lnSpc>
              <a:buNone/>
            </a:pPr>
            <a:r>
              <a:rPr lang="en-US" sz="1250" dirty="0">
                <a:solidFill>
                  <a:srgbClr val="6B7891"/>
                </a:solidFill>
                <a:latin typeface="Calibri" pitchFamily="34" charset="0"/>
                <a:ea typeface="Calibri" pitchFamily="34" charset="-122"/>
                <a:cs typeface="Calibri" pitchFamily="34" charset="-120"/>
              </a:rPr>
              <a:t>The first migration failed on a 64-character identifier limit. Lesson: run migrations against the real database early, rather than trusting a schema that merely looks correct.</a:t>
            </a:r>
            <a:endParaRPr lang="en-US" sz="1250" dirty="0"/>
          </a:p>
        </p:txBody>
      </p:sp>
      <p:sp>
        <p:nvSpPr>
          <p:cNvPr id="17" name="Shape 15"/>
          <p:cNvSpPr/>
          <p:nvPr/>
        </p:nvSpPr>
        <p:spPr>
          <a:xfrm>
            <a:off x="640080" y="5029200"/>
            <a:ext cx="402336" cy="402336"/>
          </a:xfrm>
          <a:prstGeom prst="ellipse">
            <a:avLst/>
          </a:prstGeom>
          <a:solidFill>
            <a:srgbClr val="2E7D52"/>
          </a:solidFill>
          <a:ln/>
        </p:spPr>
      </p:sp>
      <p:sp>
        <p:nvSpPr>
          <p:cNvPr id="18" name="Text 16"/>
          <p:cNvSpPr txBox="1"/>
          <p:nvPr/>
        </p:nvSpPr>
        <p:spPr>
          <a:xfrm>
            <a:off x="640080" y="5070348"/>
            <a:ext cx="402336" cy="329184"/>
          </a:xfrm>
          <a:prstGeom prst="rect">
            <a:avLst/>
          </a:prstGeom>
          <a:noFill/>
          <a:ln/>
        </p:spPr>
        <p:txBody>
          <a:bodyPr wrap="square" lIns="0" tIns="0" rIns="0" bIns="0" rtlCol="0" anchor="ctr"/>
          <a:lstStyle/>
          <a:p>
            <a:pPr algn="ctr" indent="0" marL="0">
              <a:buNone/>
            </a:pPr>
            <a:r>
              <a:rPr lang="en-US" sz="1500" b="1" dirty="0">
                <a:solidFill>
                  <a:srgbClr val="FFFFFF"/>
                </a:solidFill>
                <a:latin typeface="Cambria" pitchFamily="34" charset="0"/>
                <a:ea typeface="Cambria" pitchFamily="34" charset="-122"/>
                <a:cs typeface="Cambria" pitchFamily="34" charset="-120"/>
              </a:rPr>
              <a:t>4</a:t>
            </a:r>
            <a:endParaRPr lang="en-US" sz="1500" dirty="0"/>
          </a:p>
        </p:txBody>
      </p:sp>
      <p:sp>
        <p:nvSpPr>
          <p:cNvPr id="19" name="Text 17"/>
          <p:cNvSpPr txBox="1"/>
          <p:nvPr/>
        </p:nvSpPr>
        <p:spPr>
          <a:xfrm>
            <a:off x="1261872" y="4901184"/>
            <a:ext cx="10289743" cy="329184"/>
          </a:xfrm>
          <a:prstGeom prst="rect">
            <a:avLst/>
          </a:prstGeom>
          <a:noFill/>
          <a:ln/>
        </p:spPr>
        <p:txBody>
          <a:bodyPr wrap="square" lIns="0" tIns="0" rIns="0" bIns="0" rtlCol="0" anchor="ctr"/>
          <a:lstStyle/>
          <a:p>
            <a:pPr indent="0" marL="0">
              <a:buNone/>
            </a:pPr>
            <a:r>
              <a:rPr lang="en-US" sz="1700" b="1" dirty="0">
                <a:solidFill>
                  <a:srgbClr val="12233F"/>
                </a:solidFill>
                <a:latin typeface="Cambria" pitchFamily="34" charset="0"/>
                <a:ea typeface="Cambria" pitchFamily="34" charset="-122"/>
                <a:cs typeface="Cambria" pitchFamily="34" charset="-120"/>
              </a:rPr>
              <a:t>Three write paths, one set of rules</a:t>
            </a:r>
            <a:endParaRPr lang="en-US" sz="1700" dirty="0"/>
          </a:p>
        </p:txBody>
      </p:sp>
      <p:sp>
        <p:nvSpPr>
          <p:cNvPr id="20" name="Text 18"/>
          <p:cNvSpPr txBox="1"/>
          <p:nvPr/>
        </p:nvSpPr>
        <p:spPr>
          <a:xfrm>
            <a:off x="1261872" y="5248656"/>
            <a:ext cx="10289743" cy="566928"/>
          </a:xfrm>
          <a:prstGeom prst="rect">
            <a:avLst/>
          </a:prstGeom>
          <a:noFill/>
          <a:ln/>
        </p:spPr>
        <p:txBody>
          <a:bodyPr wrap="square" lIns="0" tIns="0" rIns="0" bIns="0" rtlCol="0" anchor="ctr"/>
          <a:lstStyle/>
          <a:p>
            <a:pPr indent="0" marL="0">
              <a:lnSpc>
                <a:spcPct val="110000"/>
              </a:lnSpc>
              <a:buNone/>
            </a:pPr>
            <a:r>
              <a:rPr lang="en-US" sz="1250" dirty="0">
                <a:solidFill>
                  <a:srgbClr val="6B7891"/>
                </a:solidFill>
                <a:latin typeface="Calibri" pitchFamily="34" charset="0"/>
                <a:ea typeface="Calibri" pitchFamily="34" charset="-122"/>
                <a:cs typeface="Calibri" pitchFamily="34" charset="-120"/>
              </a:rPr>
              <a:t>Drove the service layer. When the closing rule changed late in the project, it was one edit instead of three, and none of them could be forgotten.</a:t>
            </a:r>
            <a:endParaRPr lang="en-US" sz="12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A9B2C1"/>
                </a:solidFill>
                <a:latin typeface="Calibri" pitchFamily="34" charset="0"/>
                <a:ea typeface="Calibri" pitchFamily="34" charset="-122"/>
                <a:cs typeface="Calibri" pitchFamily="34" charset="-120"/>
              </a:rPr>
              <a:t>16</a:t>
            </a:r>
            <a:endParaRPr lang="en-US" sz="1000" dirty="0"/>
          </a:p>
        </p:txBody>
      </p:sp>
      <p:sp>
        <p:nvSpPr>
          <p:cNvPr id="3" name="Text 1"/>
          <p:cNvSpPr txBox="1"/>
          <p:nvPr/>
        </p:nvSpPr>
        <p:spPr>
          <a:xfrm>
            <a:off x="640080" y="420624"/>
            <a:ext cx="10911535" cy="566928"/>
          </a:xfrm>
          <a:prstGeom prst="rect">
            <a:avLst/>
          </a:prstGeom>
          <a:noFill/>
          <a:ln/>
        </p:spPr>
        <p:txBody>
          <a:bodyPr wrap="square" lIns="0" tIns="0" rIns="0" bIns="0" rtlCol="0" anchor="ctr"/>
          <a:lstStyle/>
          <a:p>
            <a:pPr indent="0" marL="0">
              <a:buNone/>
            </a:pPr>
            <a:r>
              <a:rPr lang="en-US" sz="3200" b="1" dirty="0">
                <a:solidFill>
                  <a:srgbClr val="12233F"/>
                </a:solidFill>
                <a:latin typeface="Cambria" pitchFamily="34" charset="0"/>
                <a:ea typeface="Cambria" pitchFamily="34" charset="-122"/>
                <a:cs typeface="Cambria" pitchFamily="34" charset="-120"/>
              </a:rPr>
              <a:t>What I would build next</a:t>
            </a:r>
            <a:endParaRPr lang="en-US" sz="3200" dirty="0"/>
          </a:p>
        </p:txBody>
      </p:sp>
      <p:sp>
        <p:nvSpPr>
          <p:cNvPr id="4" name="Text 2"/>
          <p:cNvSpPr txBox="1"/>
          <p:nvPr/>
        </p:nvSpPr>
        <p:spPr>
          <a:xfrm>
            <a:off x="640080" y="1005840"/>
            <a:ext cx="10911535" cy="310896"/>
          </a:xfrm>
          <a:prstGeom prst="rect">
            <a:avLst/>
          </a:prstGeom>
          <a:noFill/>
          <a:ln/>
        </p:spPr>
        <p:txBody>
          <a:bodyPr wrap="square" lIns="0" tIns="0" rIns="0" bIns="0" rtlCol="0" anchor="ctr"/>
          <a:lstStyle/>
          <a:p>
            <a:pPr indent="0" marL="0">
              <a:buNone/>
            </a:pPr>
            <a:r>
              <a:rPr lang="en-US" sz="1400" i="1" dirty="0">
                <a:solidFill>
                  <a:srgbClr val="6B7891"/>
                </a:solidFill>
                <a:latin typeface="Calibri" pitchFamily="34" charset="0"/>
                <a:ea typeface="Calibri" pitchFamily="34" charset="-122"/>
                <a:cs typeface="Calibri" pitchFamily="34" charset="-120"/>
              </a:rPr>
              <a:t>Ordered by value against effort. The first three are close to free.</a:t>
            </a:r>
            <a:endParaRPr lang="en-US" sz="1400" dirty="0"/>
          </a:p>
        </p:txBody>
      </p:sp>
      <p:sp>
        <p:nvSpPr>
          <p:cNvPr id="5" name="Shape 3"/>
          <p:cNvSpPr/>
          <p:nvPr/>
        </p:nvSpPr>
        <p:spPr>
          <a:xfrm>
            <a:off x="640080" y="1737360"/>
            <a:ext cx="3442106" cy="3877056"/>
          </a:xfrm>
          <a:prstGeom prst="roundRect">
            <a:avLst>
              <a:gd name="adj" fmla="val 1328"/>
            </a:avLst>
          </a:prstGeom>
          <a:solidFill>
            <a:srgbClr val="F4F6FA"/>
          </a:solidFill>
          <a:ln w="12700">
            <a:solidFill>
              <a:srgbClr val="D8DEE8"/>
            </a:solidFill>
            <a:prstDash val="solid"/>
          </a:ln>
        </p:spPr>
      </p:sp>
      <p:sp>
        <p:nvSpPr>
          <p:cNvPr id="6" name="Shape 4"/>
          <p:cNvSpPr/>
          <p:nvPr/>
        </p:nvSpPr>
        <p:spPr>
          <a:xfrm>
            <a:off x="896112" y="1975104"/>
            <a:ext cx="237744" cy="237744"/>
          </a:xfrm>
          <a:prstGeom prst="ellipse">
            <a:avLst/>
          </a:prstGeom>
          <a:solidFill>
            <a:srgbClr val="2E7D52"/>
          </a:solidFill>
          <a:ln/>
        </p:spPr>
      </p:sp>
      <p:sp>
        <p:nvSpPr>
          <p:cNvPr id="7" name="Text 5"/>
          <p:cNvSpPr txBox="1"/>
          <p:nvPr/>
        </p:nvSpPr>
        <p:spPr>
          <a:xfrm>
            <a:off x="1243584" y="1975104"/>
            <a:ext cx="2582570" cy="256032"/>
          </a:xfrm>
          <a:prstGeom prst="rect">
            <a:avLst/>
          </a:prstGeom>
          <a:noFill/>
          <a:ln/>
        </p:spPr>
        <p:txBody>
          <a:bodyPr wrap="square" lIns="0" tIns="0" rIns="0" bIns="0" rtlCol="0" anchor="ctr"/>
          <a:lstStyle/>
          <a:p>
            <a:pPr indent="0" marL="0">
              <a:buNone/>
            </a:pPr>
            <a:r>
              <a:rPr lang="en-US" sz="1000" b="1" spc="140" kern="0" dirty="0">
                <a:solidFill>
                  <a:srgbClr val="2E7D52"/>
                </a:solidFill>
                <a:latin typeface="Calibri" pitchFamily="34" charset="0"/>
                <a:ea typeface="Calibri" pitchFamily="34" charset="-122"/>
                <a:cs typeface="Calibri" pitchFamily="34" charset="-120"/>
              </a:rPr>
              <a:t>READY TO BUILD</a:t>
            </a:r>
            <a:endParaRPr lang="en-US" sz="1000" dirty="0"/>
          </a:p>
        </p:txBody>
      </p:sp>
      <p:sp>
        <p:nvSpPr>
          <p:cNvPr id="8" name="Text 6"/>
          <p:cNvSpPr txBox="1"/>
          <p:nvPr/>
        </p:nvSpPr>
        <p:spPr>
          <a:xfrm>
            <a:off x="896112" y="2432304"/>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Automatic notification</a:t>
            </a:r>
            <a:endParaRPr lang="en-US" sz="1350" dirty="0"/>
          </a:p>
        </p:txBody>
      </p:sp>
      <p:sp>
        <p:nvSpPr>
          <p:cNvPr id="9" name="Text 7"/>
          <p:cNvSpPr txBox="1"/>
          <p:nvPr/>
        </p:nvSpPr>
        <p:spPr>
          <a:xfrm>
            <a:off x="896112" y="2706624"/>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Email or SMS when a student crosses below the threshold. The calculation exists; only delivery is missing.</a:t>
            </a:r>
            <a:endParaRPr lang="en-US" sz="1100" dirty="0"/>
          </a:p>
        </p:txBody>
      </p:sp>
      <p:sp>
        <p:nvSpPr>
          <p:cNvPr id="10" name="Text 8"/>
          <p:cNvSpPr txBox="1"/>
          <p:nvPr/>
        </p:nvSpPr>
        <p:spPr>
          <a:xfrm>
            <a:off x="896112" y="3493008"/>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Dashboard charts</a:t>
            </a:r>
            <a:endParaRPr lang="en-US" sz="1350" dirty="0"/>
          </a:p>
        </p:txBody>
      </p:sp>
      <p:sp>
        <p:nvSpPr>
          <p:cNvPr id="11" name="Text 9"/>
          <p:cNvSpPr txBox="1"/>
          <p:nvPr/>
        </p:nvSpPr>
        <p:spPr>
          <a:xfrm>
            <a:off x="896112" y="3767328"/>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Attendance trends over the term, from data the reporting service already returns.</a:t>
            </a:r>
            <a:endParaRPr lang="en-US" sz="1100" dirty="0"/>
          </a:p>
        </p:txBody>
      </p:sp>
      <p:sp>
        <p:nvSpPr>
          <p:cNvPr id="12" name="Text 10"/>
          <p:cNvSpPr txBox="1"/>
          <p:nvPr/>
        </p:nvSpPr>
        <p:spPr>
          <a:xfrm>
            <a:off x="896112" y="4553712"/>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PDF reports</a:t>
            </a:r>
            <a:endParaRPr lang="en-US" sz="1350" dirty="0"/>
          </a:p>
        </p:txBody>
      </p:sp>
      <p:sp>
        <p:nvSpPr>
          <p:cNvPr id="13" name="Text 11"/>
          <p:cNvSpPr txBox="1"/>
          <p:nvPr/>
        </p:nvSpPr>
        <p:spPr>
          <a:xfrm>
            <a:off x="896112" y="4828032"/>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Formal records. Currently covered by print stylesheets through the browser.</a:t>
            </a:r>
            <a:endParaRPr lang="en-US" sz="1100" dirty="0"/>
          </a:p>
        </p:txBody>
      </p:sp>
      <p:sp>
        <p:nvSpPr>
          <p:cNvPr id="14" name="Shape 12"/>
          <p:cNvSpPr/>
          <p:nvPr/>
        </p:nvSpPr>
        <p:spPr>
          <a:xfrm>
            <a:off x="4374794" y="1737360"/>
            <a:ext cx="3442106" cy="3877056"/>
          </a:xfrm>
          <a:prstGeom prst="roundRect">
            <a:avLst>
              <a:gd name="adj" fmla="val 1328"/>
            </a:avLst>
          </a:prstGeom>
          <a:solidFill>
            <a:srgbClr val="F4F6FA"/>
          </a:solidFill>
          <a:ln w="12700">
            <a:solidFill>
              <a:srgbClr val="D8DEE8"/>
            </a:solidFill>
            <a:prstDash val="solid"/>
          </a:ln>
        </p:spPr>
      </p:sp>
      <p:sp>
        <p:nvSpPr>
          <p:cNvPr id="15" name="Shape 13"/>
          <p:cNvSpPr/>
          <p:nvPr/>
        </p:nvSpPr>
        <p:spPr>
          <a:xfrm>
            <a:off x="4630826" y="1975104"/>
            <a:ext cx="237744" cy="237744"/>
          </a:xfrm>
          <a:prstGeom prst="ellipse">
            <a:avLst/>
          </a:prstGeom>
          <a:solidFill>
            <a:srgbClr val="C9820A"/>
          </a:solidFill>
          <a:ln/>
        </p:spPr>
      </p:sp>
      <p:sp>
        <p:nvSpPr>
          <p:cNvPr id="16" name="Text 14"/>
          <p:cNvSpPr txBox="1"/>
          <p:nvPr/>
        </p:nvSpPr>
        <p:spPr>
          <a:xfrm>
            <a:off x="4978298" y="1975104"/>
            <a:ext cx="2582570" cy="256032"/>
          </a:xfrm>
          <a:prstGeom prst="rect">
            <a:avLst/>
          </a:prstGeom>
          <a:noFill/>
          <a:ln/>
        </p:spPr>
        <p:txBody>
          <a:bodyPr wrap="square" lIns="0" tIns="0" rIns="0" bIns="0" rtlCol="0" anchor="ctr"/>
          <a:lstStyle/>
          <a:p>
            <a:pPr indent="0" marL="0">
              <a:buNone/>
            </a:pPr>
            <a:r>
              <a:rPr lang="en-US" sz="1000" b="1" spc="140" kern="0" dirty="0">
                <a:solidFill>
                  <a:srgbClr val="C9820A"/>
                </a:solidFill>
                <a:latin typeface="Calibri" pitchFamily="34" charset="0"/>
                <a:ea typeface="Calibri" pitchFamily="34" charset="-122"/>
                <a:cs typeface="Calibri" pitchFamily="34" charset="-120"/>
              </a:rPr>
              <a:t>MEANINGFUL WORK</a:t>
            </a:r>
            <a:endParaRPr lang="en-US" sz="1000" dirty="0"/>
          </a:p>
        </p:txBody>
      </p:sp>
      <p:sp>
        <p:nvSpPr>
          <p:cNvPr id="17" name="Text 15"/>
          <p:cNvSpPr txBox="1"/>
          <p:nvPr/>
        </p:nvSpPr>
        <p:spPr>
          <a:xfrm>
            <a:off x="4630826" y="2432304"/>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Attendance appeals</a:t>
            </a:r>
            <a:endParaRPr lang="en-US" sz="1350" dirty="0"/>
          </a:p>
        </p:txBody>
      </p:sp>
      <p:sp>
        <p:nvSpPr>
          <p:cNvPr id="18" name="Text 16"/>
          <p:cNvSpPr txBox="1"/>
          <p:nvPr/>
        </p:nvSpPr>
        <p:spPr>
          <a:xfrm>
            <a:off x="4630826" y="2706624"/>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A student requests an absence be reclassified as excused, with lecturer approval.</a:t>
            </a:r>
            <a:endParaRPr lang="en-US" sz="1100" dirty="0"/>
          </a:p>
        </p:txBody>
      </p:sp>
      <p:sp>
        <p:nvSpPr>
          <p:cNvPr id="19" name="Text 17"/>
          <p:cNvSpPr txBox="1"/>
          <p:nvPr/>
        </p:nvSpPr>
        <p:spPr>
          <a:xfrm>
            <a:off x="4630826" y="3493008"/>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Timetable clash detection</a:t>
            </a:r>
            <a:endParaRPr lang="en-US" sz="1350" dirty="0"/>
          </a:p>
        </p:txBody>
      </p:sp>
      <p:sp>
        <p:nvSpPr>
          <p:cNvPr id="20" name="Text 18"/>
          <p:cNvSpPr txBox="1"/>
          <p:nvPr/>
        </p:nvSpPr>
        <p:spPr>
          <a:xfrm>
            <a:off x="4630826" y="3767328"/>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Warn when a lecturer, room or student is double-booked.</a:t>
            </a:r>
            <a:endParaRPr lang="en-US" sz="1100" dirty="0"/>
          </a:p>
        </p:txBody>
      </p:sp>
      <p:sp>
        <p:nvSpPr>
          <p:cNvPr id="21" name="Text 19"/>
          <p:cNvSpPr txBox="1"/>
          <p:nvPr/>
        </p:nvSpPr>
        <p:spPr>
          <a:xfrm>
            <a:off x="4630826" y="4553712"/>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Location-verified check-in</a:t>
            </a:r>
            <a:endParaRPr lang="en-US" sz="1350" dirty="0"/>
          </a:p>
        </p:txBody>
      </p:sp>
      <p:sp>
        <p:nvSpPr>
          <p:cNvPr id="22" name="Text 20"/>
          <p:cNvSpPr txBox="1"/>
          <p:nvPr/>
        </p:nvSpPr>
        <p:spPr>
          <a:xfrm>
            <a:off x="4630826" y="4828032"/>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Require the request to come from campus, closing the last gap where a live code is shared.</a:t>
            </a:r>
            <a:endParaRPr lang="en-US" sz="1100" dirty="0"/>
          </a:p>
        </p:txBody>
      </p:sp>
      <p:sp>
        <p:nvSpPr>
          <p:cNvPr id="23" name="Shape 21"/>
          <p:cNvSpPr/>
          <p:nvPr/>
        </p:nvSpPr>
        <p:spPr>
          <a:xfrm>
            <a:off x="8109509" y="1737360"/>
            <a:ext cx="3442106" cy="3877056"/>
          </a:xfrm>
          <a:prstGeom prst="roundRect">
            <a:avLst>
              <a:gd name="adj" fmla="val 1328"/>
            </a:avLst>
          </a:prstGeom>
          <a:solidFill>
            <a:srgbClr val="F4F6FA"/>
          </a:solidFill>
          <a:ln w="12700">
            <a:solidFill>
              <a:srgbClr val="D8DEE8"/>
            </a:solidFill>
            <a:prstDash val="solid"/>
          </a:ln>
        </p:spPr>
      </p:sp>
      <p:sp>
        <p:nvSpPr>
          <p:cNvPr id="24" name="Shape 22"/>
          <p:cNvSpPr/>
          <p:nvPr/>
        </p:nvSpPr>
        <p:spPr>
          <a:xfrm>
            <a:off x="8365541" y="1975104"/>
            <a:ext cx="237744" cy="237744"/>
          </a:xfrm>
          <a:prstGeom prst="ellipse">
            <a:avLst/>
          </a:prstGeom>
          <a:solidFill>
            <a:srgbClr val="8C96A5"/>
          </a:solidFill>
          <a:ln/>
        </p:spPr>
      </p:sp>
      <p:sp>
        <p:nvSpPr>
          <p:cNvPr id="25" name="Text 23"/>
          <p:cNvSpPr txBox="1"/>
          <p:nvPr/>
        </p:nvSpPr>
        <p:spPr>
          <a:xfrm>
            <a:off x="8713013" y="1975104"/>
            <a:ext cx="2582570" cy="256032"/>
          </a:xfrm>
          <a:prstGeom prst="rect">
            <a:avLst/>
          </a:prstGeom>
          <a:noFill/>
          <a:ln/>
        </p:spPr>
        <p:txBody>
          <a:bodyPr wrap="square" lIns="0" tIns="0" rIns="0" bIns="0" rtlCol="0" anchor="ctr"/>
          <a:lstStyle/>
          <a:p>
            <a:pPr indent="0" marL="0">
              <a:buNone/>
            </a:pPr>
            <a:r>
              <a:rPr lang="en-US" sz="1000" b="1" spc="140" kern="0" dirty="0">
                <a:solidFill>
                  <a:srgbClr val="8C96A5"/>
                </a:solidFill>
                <a:latin typeface="Calibri" pitchFamily="34" charset="0"/>
                <a:ea typeface="Calibri" pitchFamily="34" charset="-122"/>
                <a:cs typeface="Calibri" pitchFamily="34" charset="-120"/>
              </a:rPr>
              <a:t>LARGER PROJECTS</a:t>
            </a:r>
            <a:endParaRPr lang="en-US" sz="1000" dirty="0"/>
          </a:p>
        </p:txBody>
      </p:sp>
      <p:sp>
        <p:nvSpPr>
          <p:cNvPr id="26" name="Text 24"/>
          <p:cNvSpPr txBox="1"/>
          <p:nvPr/>
        </p:nvSpPr>
        <p:spPr>
          <a:xfrm>
            <a:off x="8365541" y="2432304"/>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Native mobile app</a:t>
            </a:r>
            <a:endParaRPr lang="en-US" sz="1350" dirty="0"/>
          </a:p>
        </p:txBody>
      </p:sp>
      <p:sp>
        <p:nvSpPr>
          <p:cNvPr id="27" name="Text 25"/>
          <p:cNvSpPr txBox="1"/>
          <p:nvPr/>
        </p:nvSpPr>
        <p:spPr>
          <a:xfrm>
            <a:off x="8365541" y="2706624"/>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A dedicated scanner. The responsive interface already covers this adequately.</a:t>
            </a:r>
            <a:endParaRPr lang="en-US" sz="1100" dirty="0"/>
          </a:p>
        </p:txBody>
      </p:sp>
      <p:sp>
        <p:nvSpPr>
          <p:cNvPr id="28" name="Text 26"/>
          <p:cNvSpPr txBox="1"/>
          <p:nvPr/>
        </p:nvSpPr>
        <p:spPr>
          <a:xfrm>
            <a:off x="8365541" y="3493008"/>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Biometric attendance</a:t>
            </a:r>
            <a:endParaRPr lang="en-US" sz="1350" dirty="0"/>
          </a:p>
        </p:txBody>
      </p:sp>
      <p:sp>
        <p:nvSpPr>
          <p:cNvPr id="29" name="Text 27"/>
          <p:cNvSpPr txBox="1"/>
          <p:nvPr/>
        </p:nvSpPr>
        <p:spPr>
          <a:xfrm>
            <a:off x="8365541" y="3767328"/>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Eliminates proxy attendance entirely, but needs hardware in every room.</a:t>
            </a:r>
            <a:endParaRPr lang="en-US" sz="1100" dirty="0"/>
          </a:p>
        </p:txBody>
      </p:sp>
      <p:sp>
        <p:nvSpPr>
          <p:cNvPr id="30" name="Text 28"/>
          <p:cNvSpPr txBox="1"/>
          <p:nvPr/>
        </p:nvSpPr>
        <p:spPr>
          <a:xfrm>
            <a:off x="8365541" y="4553712"/>
            <a:ext cx="2930042" cy="274320"/>
          </a:xfrm>
          <a:prstGeom prst="rect">
            <a:avLst/>
          </a:prstGeom>
          <a:noFill/>
          <a:ln/>
        </p:spPr>
        <p:txBody>
          <a:bodyPr wrap="square" lIns="0" tIns="0" rIns="0" bIns="0" rtlCol="0" anchor="ctr"/>
          <a:lstStyle/>
          <a:p>
            <a:pPr indent="0" marL="0">
              <a:buNone/>
            </a:pPr>
            <a:r>
              <a:rPr lang="en-US" sz="1350" b="1" dirty="0">
                <a:solidFill>
                  <a:srgbClr val="12233F"/>
                </a:solidFill>
                <a:latin typeface="Cambria" pitchFamily="34" charset="0"/>
                <a:ea typeface="Cambria" pitchFamily="34" charset="-122"/>
                <a:cs typeface="Cambria" pitchFamily="34" charset="-120"/>
              </a:rPr>
              <a:t>Multi-campus support</a:t>
            </a:r>
            <a:endParaRPr lang="en-US" sz="1350" dirty="0"/>
          </a:p>
        </p:txBody>
      </p:sp>
      <p:sp>
        <p:nvSpPr>
          <p:cNvPr id="31" name="Text 29"/>
          <p:cNvSpPr txBox="1"/>
          <p:nvPr/>
        </p:nvSpPr>
        <p:spPr>
          <a:xfrm>
            <a:off x="8365541" y="4828032"/>
            <a:ext cx="2930042" cy="713232"/>
          </a:xfrm>
          <a:prstGeom prst="rect">
            <a:avLst/>
          </a:prstGeom>
          <a:noFill/>
          <a:ln/>
        </p:spPr>
        <p:txBody>
          <a:bodyPr wrap="square" lIns="0" tIns="0" rIns="0" bIns="0" rtlCol="0" anchor="ctr"/>
          <a:lstStyle/>
          <a:p>
            <a:pPr indent="0" marL="0">
              <a:lnSpc>
                <a:spcPct val="108000"/>
              </a:lnSpc>
              <a:buNone/>
            </a:pPr>
            <a:r>
              <a:rPr lang="en-US" sz="1100" dirty="0">
                <a:solidFill>
                  <a:srgbClr val="6B7891"/>
                </a:solidFill>
                <a:latin typeface="Calibri" pitchFamily="34" charset="0"/>
                <a:ea typeface="Calibri" pitchFamily="34" charset="-122"/>
                <a:cs typeface="Calibri" pitchFamily="34" charset="-120"/>
              </a:rPr>
              <a:t>Several campuses with their own calendars and timezones.</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2233F"/>
        </a:solidFill>
      </p:bgPr>
    </p:bg>
    <p:spTree>
      <p:nvGrpSpPr>
        <p:cNvPr id="1" name=""/>
        <p:cNvGrpSpPr/>
        <p:nvPr/>
      </p:nvGrpSpPr>
      <p:grpSpPr>
        <a:xfrm>
          <a:off x="0" y="0"/>
          <a:ext cx="0" cy="0"/>
          <a:chOff x="0" y="0"/>
          <a:chExt cx="0" cy="0"/>
        </a:xfrm>
      </p:grpSpPr>
      <p:sp>
        <p:nvSpPr>
          <p:cNvPr id="2" name="Text 0"/>
          <p:cNvSpPr txBox="1"/>
          <p:nvPr/>
        </p:nvSpPr>
        <p:spPr>
          <a:xfrm>
            <a:off x="11277295" y="6382512"/>
            <a:ext cx="457200" cy="274320"/>
          </a:xfrm>
          <a:prstGeom prst="rect">
            <a:avLst/>
          </a:prstGeom>
          <a:noFill/>
          <a:ln/>
        </p:spPr>
        <p:txBody>
          <a:bodyPr wrap="square" lIns="0" tIns="0" rIns="0" bIns="0" rtlCol="0" anchor="ctr"/>
          <a:lstStyle/>
          <a:p>
            <a:pPr algn="r" indent="0" marL="0">
              <a:buNone/>
            </a:pPr>
            <a:r>
              <a:rPr lang="en-US" sz="1000" dirty="0">
                <a:solidFill>
                  <a:srgbClr val="5B6B85"/>
                </a:solidFill>
                <a:latin typeface="Calibri" pitchFamily="34" charset="0"/>
                <a:ea typeface="Calibri" pitchFamily="34" charset="-122"/>
                <a:cs typeface="Calibri" pitchFamily="34" charset="-120"/>
              </a:rPr>
              <a:t>17</a:t>
            </a:r>
            <a:endParaRPr lang="en-US" sz="1000" dirty="0"/>
          </a:p>
        </p:txBody>
      </p:sp>
      <p:sp>
        <p:nvSpPr>
          <p:cNvPr id="3" name="Text 1"/>
          <p:cNvSpPr txBox="1"/>
          <p:nvPr/>
        </p:nvSpPr>
        <p:spPr>
          <a:xfrm>
            <a:off x="640080" y="1060704"/>
            <a:ext cx="10911535" cy="292608"/>
          </a:xfrm>
          <a:prstGeom prst="rect">
            <a:avLst/>
          </a:prstGeom>
          <a:noFill/>
          <a:ln/>
        </p:spPr>
        <p:txBody>
          <a:bodyPr wrap="square" lIns="0" tIns="0" rIns="0" bIns="0" rtlCol="0" anchor="ctr"/>
          <a:lstStyle/>
          <a:p>
            <a:pPr indent="0" marL="0">
              <a:buNone/>
            </a:pPr>
            <a:r>
              <a:rPr lang="en-US" sz="1200" b="1" spc="240" kern="0" dirty="0">
                <a:solidFill>
                  <a:srgbClr val="C9A227"/>
                </a:solidFill>
                <a:latin typeface="Calibri" pitchFamily="34" charset="0"/>
                <a:ea typeface="Calibri" pitchFamily="34" charset="-122"/>
                <a:cs typeface="Calibri" pitchFamily="34" charset="-120"/>
              </a:rPr>
              <a:t>IN CLOSING</a:t>
            </a:r>
            <a:endParaRPr lang="en-US" sz="1200" dirty="0"/>
          </a:p>
        </p:txBody>
      </p:sp>
      <p:sp>
        <p:nvSpPr>
          <p:cNvPr id="4" name="Text 2"/>
          <p:cNvSpPr txBox="1"/>
          <p:nvPr/>
        </p:nvSpPr>
        <p:spPr>
          <a:xfrm>
            <a:off x="640080" y="1463040"/>
            <a:ext cx="10424160" cy="548640"/>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Late, untrusted data made a real rule unenforceable.</a:t>
            </a:r>
            <a:endParaRPr lang="en-US" sz="2900" dirty="0"/>
          </a:p>
        </p:txBody>
      </p:sp>
      <p:sp>
        <p:nvSpPr>
          <p:cNvPr id="5" name="Text 3"/>
          <p:cNvSpPr txBox="1"/>
          <p:nvPr/>
        </p:nvSpPr>
        <p:spPr>
          <a:xfrm>
            <a:off x="640080" y="2048256"/>
            <a:ext cx="10424160" cy="475488"/>
          </a:xfrm>
          <a:prstGeom prst="rect">
            <a:avLst/>
          </a:prstGeom>
          <a:noFill/>
          <a:ln/>
        </p:spPr>
        <p:txBody>
          <a:bodyPr wrap="square" lIns="0" tIns="0" rIns="0" bIns="0" rtlCol="0" anchor="ctr"/>
          <a:lstStyle/>
          <a:p>
            <a:pPr indent="0" marL="0">
              <a:lnSpc>
                <a:spcPct val="114000"/>
              </a:lnSpc>
              <a:buNone/>
            </a:pPr>
            <a:r>
              <a:rPr lang="en-US" sz="1450" dirty="0">
                <a:solidFill>
                  <a:srgbClr val="B9C6DB"/>
                </a:solidFill>
                <a:latin typeface="Calibri" pitchFamily="34" charset="0"/>
                <a:ea typeface="Calibri" pitchFamily="34" charset="-122"/>
                <a:cs typeface="Calibri" pitchFamily="34" charset="-120"/>
              </a:rPr>
              <a:t>The system fixes both halves: the percentage is current the moment a register closes, and the record is far harder to falsify.</a:t>
            </a:r>
            <a:endParaRPr lang="en-US" sz="1450" dirty="0"/>
          </a:p>
        </p:txBody>
      </p:sp>
      <p:sp>
        <p:nvSpPr>
          <p:cNvPr id="6" name="Shape 4"/>
          <p:cNvSpPr/>
          <p:nvPr/>
        </p:nvSpPr>
        <p:spPr>
          <a:xfrm>
            <a:off x="640080" y="2798064"/>
            <a:ext cx="3442106" cy="1700784"/>
          </a:xfrm>
          <a:prstGeom prst="roundRect">
            <a:avLst>
              <a:gd name="adj" fmla="val 2688"/>
            </a:avLst>
          </a:prstGeom>
          <a:solidFill>
            <a:srgbClr val="1B3157"/>
          </a:solidFill>
          <a:ln w="12700">
            <a:solidFill>
              <a:srgbClr val="2C4574"/>
            </a:solidFill>
            <a:prstDash val="solid"/>
          </a:ln>
        </p:spPr>
      </p:sp>
      <p:sp>
        <p:nvSpPr>
          <p:cNvPr id="7" name="Text 5"/>
          <p:cNvSpPr txBox="1"/>
          <p:nvPr/>
        </p:nvSpPr>
        <p:spPr>
          <a:xfrm>
            <a:off x="896112" y="3035808"/>
            <a:ext cx="2930042" cy="530352"/>
          </a:xfrm>
          <a:prstGeom prst="rect">
            <a:avLst/>
          </a:prstGeom>
          <a:noFill/>
          <a:ln/>
        </p:spPr>
        <p:txBody>
          <a:bodyPr wrap="square" lIns="0" tIns="0" rIns="0" bIns="0" rtlCol="0" anchor="ctr"/>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Constraints improved the design</a:t>
            </a:r>
            <a:endParaRPr lang="en-US" sz="1500" dirty="0"/>
          </a:p>
        </p:txBody>
      </p:sp>
      <p:sp>
        <p:nvSpPr>
          <p:cNvPr id="8" name="Text 6"/>
          <p:cNvSpPr txBox="1"/>
          <p:nvPr/>
        </p:nvSpPr>
        <p:spPr>
          <a:xfrm>
            <a:off x="896112" y="3602736"/>
            <a:ext cx="2930042" cy="768096"/>
          </a:xfrm>
          <a:prstGeom prst="rect">
            <a:avLst/>
          </a:prstGeom>
          <a:noFill/>
          <a:ln/>
        </p:spPr>
        <p:txBody>
          <a:bodyPr wrap="square" lIns="0" tIns="0" rIns="0" bIns="0" rtlCol="0" anchor="ctr"/>
          <a:lstStyle/>
          <a:p>
            <a:pPr indent="0" marL="0">
              <a:lnSpc>
                <a:spcPct val="110000"/>
              </a:lnSpc>
              <a:buNone/>
            </a:pPr>
            <a:r>
              <a:rPr lang="en-US" sz="1150" dirty="0">
                <a:solidFill>
                  <a:srgbClr val="9DAAC2"/>
                </a:solidFill>
                <a:latin typeface="Calibri" pitchFamily="34" charset="0"/>
                <a:ea typeface="Calibri" pitchFamily="34" charset="-122"/>
                <a:cs typeface="Calibri" pitchFamily="34" charset="-120"/>
              </a:rPr>
              <a:t>No image extension forced SVG, which beat the PNG I had planned. Every limitation made the result better.</a:t>
            </a:r>
            <a:endParaRPr lang="en-US" sz="1150" dirty="0"/>
          </a:p>
        </p:txBody>
      </p:sp>
      <p:sp>
        <p:nvSpPr>
          <p:cNvPr id="9" name="Shape 7"/>
          <p:cNvSpPr/>
          <p:nvPr/>
        </p:nvSpPr>
        <p:spPr>
          <a:xfrm>
            <a:off x="4374794" y="2798064"/>
            <a:ext cx="3442106" cy="1700784"/>
          </a:xfrm>
          <a:prstGeom prst="roundRect">
            <a:avLst>
              <a:gd name="adj" fmla="val 2688"/>
            </a:avLst>
          </a:prstGeom>
          <a:solidFill>
            <a:srgbClr val="1B3157"/>
          </a:solidFill>
          <a:ln w="12700">
            <a:solidFill>
              <a:srgbClr val="2C4574"/>
            </a:solidFill>
            <a:prstDash val="solid"/>
          </a:ln>
        </p:spPr>
      </p:sp>
      <p:sp>
        <p:nvSpPr>
          <p:cNvPr id="10" name="Text 8"/>
          <p:cNvSpPr txBox="1"/>
          <p:nvPr/>
        </p:nvSpPr>
        <p:spPr>
          <a:xfrm>
            <a:off x="4630826" y="3035808"/>
            <a:ext cx="2930042" cy="530352"/>
          </a:xfrm>
          <a:prstGeom prst="rect">
            <a:avLst/>
          </a:prstGeom>
          <a:noFill/>
          <a:ln/>
        </p:spPr>
        <p:txBody>
          <a:bodyPr wrap="square" lIns="0" tIns="0" rIns="0" bIns="0" rtlCol="0" anchor="ctr"/>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One service beat three copies</a:t>
            </a:r>
            <a:endParaRPr lang="en-US" sz="1500" dirty="0"/>
          </a:p>
        </p:txBody>
      </p:sp>
      <p:sp>
        <p:nvSpPr>
          <p:cNvPr id="11" name="Text 9"/>
          <p:cNvSpPr txBox="1"/>
          <p:nvPr/>
        </p:nvSpPr>
        <p:spPr>
          <a:xfrm>
            <a:off x="4630826" y="3602736"/>
            <a:ext cx="2930042" cy="768096"/>
          </a:xfrm>
          <a:prstGeom prst="rect">
            <a:avLst/>
          </a:prstGeom>
          <a:noFill/>
          <a:ln/>
        </p:spPr>
        <p:txBody>
          <a:bodyPr wrap="square" lIns="0" tIns="0" rIns="0" bIns="0" rtlCol="0" anchor="ctr"/>
          <a:lstStyle/>
          <a:p>
            <a:pPr indent="0" marL="0">
              <a:lnSpc>
                <a:spcPct val="110000"/>
              </a:lnSpc>
              <a:buNone/>
            </a:pPr>
            <a:r>
              <a:rPr lang="en-US" sz="1150" dirty="0">
                <a:solidFill>
                  <a:srgbClr val="9DAAC2"/>
                </a:solidFill>
                <a:latin typeface="Calibri" pitchFamily="34" charset="0"/>
                <a:ea typeface="Calibri" pitchFamily="34" charset="-122"/>
                <a:cs typeface="Calibri" pitchFamily="34" charset="-120"/>
              </a:rPr>
              <a:t>A late change to the closing rule was one edit, not three - and none could be forgotten.</a:t>
            </a:r>
            <a:endParaRPr lang="en-US" sz="1150" dirty="0"/>
          </a:p>
        </p:txBody>
      </p:sp>
      <p:sp>
        <p:nvSpPr>
          <p:cNvPr id="12" name="Shape 10"/>
          <p:cNvSpPr/>
          <p:nvPr/>
        </p:nvSpPr>
        <p:spPr>
          <a:xfrm>
            <a:off x="8109509" y="2798064"/>
            <a:ext cx="3442106" cy="1700784"/>
          </a:xfrm>
          <a:prstGeom prst="roundRect">
            <a:avLst>
              <a:gd name="adj" fmla="val 2688"/>
            </a:avLst>
          </a:prstGeom>
          <a:solidFill>
            <a:srgbClr val="1B3157"/>
          </a:solidFill>
          <a:ln w="12700">
            <a:solidFill>
              <a:srgbClr val="2C4574"/>
            </a:solidFill>
            <a:prstDash val="solid"/>
          </a:ln>
        </p:spPr>
      </p:sp>
      <p:sp>
        <p:nvSpPr>
          <p:cNvPr id="13" name="Text 11"/>
          <p:cNvSpPr txBox="1"/>
          <p:nvPr/>
        </p:nvSpPr>
        <p:spPr>
          <a:xfrm>
            <a:off x="8365541" y="3035808"/>
            <a:ext cx="2930042" cy="530352"/>
          </a:xfrm>
          <a:prstGeom prst="rect">
            <a:avLst/>
          </a:prstGeom>
          <a:noFill/>
          <a:ln/>
        </p:spPr>
        <p:txBody>
          <a:bodyPr wrap="square" lIns="0" tIns="0" rIns="0" bIns="0" rtlCol="0" anchor="ctr"/>
          <a:lstStyle/>
          <a:p>
            <a:pPr indent="0" marL="0">
              <a:lnSpc>
                <a:spcPct val="100000"/>
              </a:lnSpc>
              <a:buNone/>
            </a:pPr>
            <a:r>
              <a:rPr lang="en-US" sz="1500" b="1" dirty="0">
                <a:solidFill>
                  <a:srgbClr val="FFFFFF"/>
                </a:solidFill>
                <a:latin typeface="Cambria" pitchFamily="34" charset="0"/>
                <a:ea typeface="Cambria" pitchFamily="34" charset="-122"/>
                <a:cs typeface="Cambria" pitchFamily="34" charset="-120"/>
              </a:rPr>
              <a:t>The silent bugs mattered most</a:t>
            </a:r>
            <a:endParaRPr lang="en-US" sz="1500" dirty="0"/>
          </a:p>
        </p:txBody>
      </p:sp>
      <p:sp>
        <p:nvSpPr>
          <p:cNvPr id="14" name="Text 12"/>
          <p:cNvSpPr txBox="1"/>
          <p:nvPr/>
        </p:nvSpPr>
        <p:spPr>
          <a:xfrm>
            <a:off x="8365541" y="3602736"/>
            <a:ext cx="2930042" cy="768096"/>
          </a:xfrm>
          <a:prstGeom prst="rect">
            <a:avLst/>
          </a:prstGeom>
          <a:noFill/>
          <a:ln/>
        </p:spPr>
        <p:txBody>
          <a:bodyPr wrap="square" lIns="0" tIns="0" rIns="0" bIns="0" rtlCol="0" anchor="ctr"/>
          <a:lstStyle/>
          <a:p>
            <a:pPr indent="0" marL="0">
              <a:lnSpc>
                <a:spcPct val="110000"/>
              </a:lnSpc>
              <a:buNone/>
            </a:pPr>
            <a:r>
              <a:rPr lang="en-US" sz="1150" dirty="0">
                <a:solidFill>
                  <a:srgbClr val="9DAAC2"/>
                </a:solidFill>
                <a:latin typeface="Calibri" pitchFamily="34" charset="0"/>
                <a:ea typeface="Calibri" pitchFamily="34" charset="-122"/>
                <a:cs typeface="Calibri" pitchFamily="34" charset="-120"/>
              </a:rPr>
              <a:t>All three defects returned no error. They were found by using the system, not by testing it.</a:t>
            </a:r>
            <a:endParaRPr lang="en-US" sz="1150" dirty="0"/>
          </a:p>
        </p:txBody>
      </p:sp>
      <p:sp>
        <p:nvSpPr>
          <p:cNvPr id="15" name="Text 13"/>
          <p:cNvSpPr txBox="1"/>
          <p:nvPr/>
        </p:nvSpPr>
        <p:spPr>
          <a:xfrm>
            <a:off x="640080" y="4718304"/>
            <a:ext cx="2508428" cy="530352"/>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39</a:t>
            </a:r>
            <a:endParaRPr lang="en-US" sz="3400" dirty="0"/>
          </a:p>
        </p:txBody>
      </p:sp>
      <p:sp>
        <p:nvSpPr>
          <p:cNvPr id="16" name="Text 14"/>
          <p:cNvSpPr txBox="1"/>
          <p:nvPr/>
        </p:nvSpPr>
        <p:spPr>
          <a:xfrm>
            <a:off x="640080" y="5266944"/>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requirements delivered</a:t>
            </a:r>
            <a:endParaRPr lang="en-US" sz="1100" dirty="0"/>
          </a:p>
        </p:txBody>
      </p:sp>
      <p:sp>
        <p:nvSpPr>
          <p:cNvPr id="17" name="Text 15"/>
          <p:cNvSpPr txBox="1"/>
          <p:nvPr/>
        </p:nvSpPr>
        <p:spPr>
          <a:xfrm>
            <a:off x="3441116" y="4718304"/>
            <a:ext cx="2508428" cy="530352"/>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73</a:t>
            </a:r>
            <a:endParaRPr lang="en-US" sz="3400" dirty="0"/>
          </a:p>
        </p:txBody>
      </p:sp>
      <p:sp>
        <p:nvSpPr>
          <p:cNvPr id="18" name="Text 16"/>
          <p:cNvSpPr txBox="1"/>
          <p:nvPr/>
        </p:nvSpPr>
        <p:spPr>
          <a:xfrm>
            <a:off x="3441116" y="5266944"/>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tests passing</a:t>
            </a:r>
            <a:endParaRPr lang="en-US" sz="1100" dirty="0"/>
          </a:p>
        </p:txBody>
      </p:sp>
      <p:sp>
        <p:nvSpPr>
          <p:cNvPr id="19" name="Text 17"/>
          <p:cNvSpPr txBox="1"/>
          <p:nvPr/>
        </p:nvSpPr>
        <p:spPr>
          <a:xfrm>
            <a:off x="6242152" y="4718304"/>
            <a:ext cx="2508428" cy="530352"/>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3</a:t>
            </a:r>
            <a:endParaRPr lang="en-US" sz="3400" dirty="0"/>
          </a:p>
        </p:txBody>
      </p:sp>
      <p:sp>
        <p:nvSpPr>
          <p:cNvPr id="20" name="Text 18"/>
          <p:cNvSpPr txBox="1"/>
          <p:nvPr/>
        </p:nvSpPr>
        <p:spPr>
          <a:xfrm>
            <a:off x="6242152" y="5266944"/>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defects found and fixed</a:t>
            </a:r>
            <a:endParaRPr lang="en-US" sz="1100" dirty="0"/>
          </a:p>
        </p:txBody>
      </p:sp>
      <p:sp>
        <p:nvSpPr>
          <p:cNvPr id="21" name="Text 19"/>
          <p:cNvSpPr txBox="1"/>
          <p:nvPr/>
        </p:nvSpPr>
        <p:spPr>
          <a:xfrm>
            <a:off x="9043187" y="4718304"/>
            <a:ext cx="2508428" cy="530352"/>
          </a:xfrm>
          <a:prstGeom prst="rect">
            <a:avLst/>
          </a:prstGeom>
          <a:noFill/>
          <a:ln/>
        </p:spPr>
        <p:txBody>
          <a:bodyPr wrap="square" lIns="0" tIns="0" rIns="0" bIns="0" rtlCol="0" anchor="ctr"/>
          <a:lstStyle/>
          <a:p>
            <a:pPr indent="0" marL="0">
              <a:buNone/>
            </a:pPr>
            <a:r>
              <a:rPr lang="en-US" sz="3400" b="1" dirty="0">
                <a:solidFill>
                  <a:srgbClr val="C9A227"/>
                </a:solidFill>
                <a:latin typeface="Cambria" pitchFamily="34" charset="0"/>
                <a:ea typeface="Cambria" pitchFamily="34" charset="-122"/>
                <a:cs typeface="Cambria" pitchFamily="34" charset="-120"/>
              </a:rPr>
              <a:t>0</a:t>
            </a:r>
            <a:endParaRPr lang="en-US" sz="3400" dirty="0"/>
          </a:p>
        </p:txBody>
      </p:sp>
      <p:sp>
        <p:nvSpPr>
          <p:cNvPr id="22" name="Text 20"/>
          <p:cNvSpPr txBox="1"/>
          <p:nvPr/>
        </p:nvSpPr>
        <p:spPr>
          <a:xfrm>
            <a:off x="9043187" y="5266944"/>
            <a:ext cx="2508428" cy="329184"/>
          </a:xfrm>
          <a:prstGeom prst="rect">
            <a:avLst/>
          </a:prstGeom>
          <a:noFill/>
          <a:ln/>
        </p:spPr>
        <p:txBody>
          <a:bodyPr wrap="square" lIns="0" tIns="0" rIns="0" bIns="0" rtlCol="0" anchor="ctr"/>
          <a:lstStyle/>
          <a:p>
            <a:pPr indent="0" marL="0">
              <a:buNone/>
            </a:pPr>
            <a:r>
              <a:rPr lang="en-US" sz="1100" dirty="0">
                <a:solidFill>
                  <a:srgbClr val="8E9EB8"/>
                </a:solidFill>
                <a:latin typeface="Calibri" pitchFamily="34" charset="0"/>
                <a:ea typeface="Calibri" pitchFamily="34" charset="-122"/>
                <a:cs typeface="Calibri" pitchFamily="34" charset="-120"/>
              </a:rPr>
              <a:t>build steps required</a:t>
            </a:r>
            <a:endParaRPr lang="en-US" sz="1100" dirty="0"/>
          </a:p>
        </p:txBody>
      </p:sp>
      <p:sp>
        <p:nvSpPr>
          <p:cNvPr id="23" name="Shape 21"/>
          <p:cNvSpPr/>
          <p:nvPr/>
        </p:nvSpPr>
        <p:spPr>
          <a:xfrm>
            <a:off x="640080" y="5870448"/>
            <a:ext cx="146304" cy="146304"/>
          </a:xfrm>
          <a:prstGeom prst="ellipse">
            <a:avLst/>
          </a:prstGeom>
          <a:solidFill>
            <a:srgbClr val="2E7D52"/>
          </a:solidFill>
          <a:ln w="12700">
            <a:solidFill>
              <a:srgbClr val="12233F"/>
            </a:solidFill>
            <a:prstDash val="solid"/>
          </a:ln>
        </p:spPr>
      </p:sp>
      <p:sp>
        <p:nvSpPr>
          <p:cNvPr id="24" name="Shape 22"/>
          <p:cNvSpPr/>
          <p:nvPr/>
        </p:nvSpPr>
        <p:spPr>
          <a:xfrm>
            <a:off x="896112" y="5870448"/>
            <a:ext cx="146304" cy="146304"/>
          </a:xfrm>
          <a:prstGeom prst="ellipse">
            <a:avLst/>
          </a:prstGeom>
          <a:solidFill>
            <a:srgbClr val="C9820A"/>
          </a:solidFill>
          <a:ln w="12700">
            <a:solidFill>
              <a:srgbClr val="12233F"/>
            </a:solidFill>
            <a:prstDash val="solid"/>
          </a:ln>
        </p:spPr>
      </p:sp>
      <p:sp>
        <p:nvSpPr>
          <p:cNvPr id="25" name="Shape 23"/>
          <p:cNvSpPr/>
          <p:nvPr/>
        </p:nvSpPr>
        <p:spPr>
          <a:xfrm>
            <a:off x="1152144" y="5870448"/>
            <a:ext cx="146304" cy="146304"/>
          </a:xfrm>
          <a:prstGeom prst="ellipse">
            <a:avLst/>
          </a:prstGeom>
          <a:solidFill>
            <a:srgbClr val="C0392B"/>
          </a:solidFill>
          <a:ln w="12700">
            <a:solidFill>
              <a:srgbClr val="12233F"/>
            </a:solidFill>
            <a:prstDash val="solid"/>
          </a:ln>
        </p:spPr>
      </p:sp>
      <p:sp>
        <p:nvSpPr>
          <p:cNvPr id="26" name="Shape 24"/>
          <p:cNvSpPr/>
          <p:nvPr/>
        </p:nvSpPr>
        <p:spPr>
          <a:xfrm>
            <a:off x="1408176" y="5870448"/>
            <a:ext cx="146304" cy="146304"/>
          </a:xfrm>
          <a:prstGeom prst="ellipse">
            <a:avLst/>
          </a:prstGeom>
          <a:solidFill>
            <a:srgbClr val="8C96A5"/>
          </a:solidFill>
          <a:ln w="12700">
            <a:solidFill>
              <a:srgbClr val="12233F"/>
            </a:solidFill>
            <a:prstDash val="solid"/>
          </a:ln>
        </p:spPr>
      </p:sp>
      <p:sp>
        <p:nvSpPr>
          <p:cNvPr id="27" name="Text 25"/>
          <p:cNvSpPr txBox="1"/>
          <p:nvPr/>
        </p:nvSpPr>
        <p:spPr>
          <a:xfrm>
            <a:off x="1792224" y="5797296"/>
            <a:ext cx="5486400" cy="310896"/>
          </a:xfrm>
          <a:prstGeom prst="rect">
            <a:avLst/>
          </a:prstGeom>
          <a:noFill/>
          <a:ln/>
        </p:spPr>
        <p:txBody>
          <a:bodyPr wrap="square" lIns="0" tIns="0" rIns="0" bIns="0" rtlCol="0" anchor="ctr"/>
          <a:lstStyle/>
          <a:p>
            <a:pPr indent="0" marL="0">
              <a:buNone/>
            </a:pPr>
            <a:r>
              <a:rPr lang="en-US" sz="1500" b="1" dirty="0">
                <a:solidFill>
                  <a:srgbClr val="FFFFFF"/>
                </a:solidFill>
                <a:latin typeface="Cambria" pitchFamily="34" charset="0"/>
                <a:ea typeface="Cambria" pitchFamily="34" charset="-122"/>
                <a:cs typeface="Cambria" pitchFamily="34" charset="-120"/>
              </a:rPr>
              <a:t>Thank you  -  questions welcome</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Student Attendance Management System</dc:title>
  <dc:subject>PptxGenJS Presentation</dc:subject>
  <dc:creator>EAMU Student Attendance Management System</dc:creator>
  <cp:lastModifiedBy>EAMU Student Attendance Management System</cp:lastModifiedBy>
  <cp:revision>1</cp:revision>
  <dcterms:created xsi:type="dcterms:W3CDTF">2026-08-31T19:23:57Z</dcterms:created>
  <dcterms:modified xsi:type="dcterms:W3CDTF">2026-08-31T19:23:57Z</dcterms:modified>
</cp:coreProperties>
</file>